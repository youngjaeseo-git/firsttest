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007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4864"/>
            <a:ext cx="12191695" cy="27432"/>
          </a:xfrm>
          <a:prstGeom prst="rect">
            <a:avLst/>
          </a:prstGeom>
          <a:solidFill>
            <a:srgbClr val="00A5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371600" y="1280160"/>
            <a:ext cx="96012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4800" b="1">
                <a:solidFill>
                  <a:srgbClr val="0070C0"/>
                </a:solidFill>
                <a:latin typeface="맑은 고딕"/>
              </a:defRPr>
            </a:pPr>
            <a:r>
              <a:t>DC Express 완료보고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71600" y="2194560"/>
            <a:ext cx="96012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0">
                <a:solidFill>
                  <a:srgbClr val="5A5A6E"/>
                </a:solidFill>
                <a:latin typeface="맑은 고딕"/>
              </a:defRPr>
            </a:pPr>
            <a:r>
              <a:t>AI를 활용한 대표 개발 사례와 업무 혁신 방향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71600" y="4206240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8C8C9A"/>
                </a:solidFill>
                <a:latin typeface="맑은 고딕"/>
              </a:defRPr>
            </a:pPr>
            <a:r>
              <a:t>데이터센터 통합관리 시스템(DCIM) 구축 · 공청회 발표자료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4663440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8C8C9A"/>
                </a:solidFill>
                <a:latin typeface="맑은 고딕"/>
              </a:defRPr>
            </a:pPr>
            <a:r>
              <a:t>2026. 07  |  서영재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748272"/>
            <a:ext cx="12191695" cy="54864"/>
          </a:xfrm>
          <a:prstGeom prst="rect">
            <a:avLst/>
          </a:prstGeom>
          <a:solidFill>
            <a:srgbClr val="007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5720"/>
          </a:xfrm>
          <a:prstGeom prst="rect">
            <a:avLst/>
          </a:prstGeom>
          <a:solidFill>
            <a:srgbClr val="007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1F1F1F"/>
                </a:solidFill>
                <a:latin typeface="맑은 고딕"/>
              </a:defRPr>
            </a:pPr>
            <a:r>
              <a:t>한 장 요약 (Executive Summary)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914400"/>
            <a:ext cx="1828800" cy="32004"/>
          </a:xfrm>
          <a:prstGeom prst="rect">
            <a:avLst/>
          </a:prstGeom>
          <a:solidFill>
            <a:srgbClr val="007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457200" y="1188720"/>
            <a:ext cx="11247120" cy="5212080"/>
          </a:xfrm>
          <a:prstGeom prst="roundRect">
            <a:avLst/>
          </a:prstGeom>
          <a:solidFill>
            <a:srgbClr val="F8F9FB"/>
          </a:solidFill>
          <a:ln w="12700">
            <a:solidFill>
              <a:srgbClr val="E0E0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1371600"/>
            <a:ext cx="1051560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40000"/>
              </a:lnSpc>
              <a:spcBef>
                <a:spcPts val="600"/>
              </a:spcBef>
              <a:spcAft>
                <a:spcPts val="200"/>
              </a:spcAft>
              <a:defRPr sz="1600">
                <a:solidFill>
                  <a:srgbClr val="1F1F1F"/>
                </a:solidFill>
                <a:latin typeface="맑은 고딕"/>
              </a:defRPr>
            </a:pPr>
            <a:r>
              <a:t>무엇을: Grafana 10개+ 대시보드·엑셀·수기 배치도로 흩어진 데이터센터 운영을 통합 DCIM 웹 시스템으로 구축</a:t>
            </a:r>
          </a:p>
          <a:p>
            <a:pPr lvl="1">
              <a:lnSpc>
                <a:spcPct val="140000"/>
              </a:lnSpc>
              <a:spcBef>
                <a:spcPts val="200"/>
              </a:spcBef>
              <a:spcAft>
                <a:spcPts val="200"/>
              </a:spcAft>
              <a:defRPr sz="1500">
                <a:solidFill>
                  <a:srgbClr val="8C8C9A"/>
                </a:solidFill>
                <a:latin typeface="맑은 고딕"/>
              </a:defRPr>
            </a:pPr>
            <a:r>
              <a:t>39개 화면 · 74개 API · 135개 기능 · 44,211줄 — 인프라 엔지니어 1명 + AI, 4.5개월 (커밋의 99%+를 AI가 작성)</a:t>
            </a:r>
          </a:p>
          <a:p>
            <a:pPr>
              <a:lnSpc>
                <a:spcPct val="140000"/>
              </a:lnSpc>
              <a:spcBef>
                <a:spcPts val="600"/>
              </a:spcBef>
              <a:spcAft>
                <a:spcPts val="200"/>
              </a:spcAft>
              <a:defRPr sz="1600">
                <a:solidFill>
                  <a:srgbClr val="1F1F1F"/>
                </a:solidFill>
                <a:latin typeface="맑은 고딕"/>
              </a:defRPr>
            </a:pPr>
            <a:r>
              <a:t>어떻게: AI를 '코드 생성기'가 아니라 구현·감사·문서화·운영을 함께 하는 협업 체계로 운용</a:t>
            </a:r>
          </a:p>
          <a:p>
            <a:pPr lvl="1">
              <a:lnSpc>
                <a:spcPct val="140000"/>
              </a:lnSpc>
              <a:spcBef>
                <a:spcPts val="200"/>
              </a:spcBef>
              <a:spcAft>
                <a:spcPts val="200"/>
              </a:spcAft>
              <a:defRPr sz="1500">
                <a:solidFill>
                  <a:srgbClr val="8C8C9A"/>
                </a:solidFill>
                <a:latin typeface="맑은 고딕"/>
              </a:defRPr>
            </a:pPr>
            <a:r>
              <a:t>프롬프트 → 규칙(CLAUDE.md) → 도구(에이전트·스킬·훅) 3단계 진화</a:t>
            </a:r>
          </a:p>
          <a:p>
            <a:pPr>
              <a:lnSpc>
                <a:spcPct val="140000"/>
              </a:lnSpc>
              <a:spcBef>
                <a:spcPts val="600"/>
              </a:spcBef>
              <a:spcAft>
                <a:spcPts val="200"/>
              </a:spcAft>
              <a:defRPr sz="1600">
                <a:solidFill>
                  <a:srgbClr val="1F1F1F"/>
                </a:solidFill>
                <a:latin typeface="맑은 고딕"/>
              </a:defRPr>
            </a:pPr>
            <a:r>
              <a:t>효과 ①비용: 외주 환산 3.5~5.5억 원 → 약 4,500만 원 (~8~11배 절감, 추정)</a:t>
            </a:r>
          </a:p>
          <a:p>
            <a:pPr>
              <a:lnSpc>
                <a:spcPct val="140000"/>
              </a:lnSpc>
              <a:spcBef>
                <a:spcPts val="600"/>
              </a:spcBef>
              <a:spcAft>
                <a:spcPts val="200"/>
              </a:spcAft>
              <a:defRPr sz="1600">
                <a:solidFill>
                  <a:srgbClr val="1F1F1F"/>
                </a:solidFill>
                <a:latin typeface="맑은 고딕"/>
              </a:defRPr>
            </a:pPr>
            <a:r>
              <a:t>효과 ②자동화: 반복 운영업무 주 8~10시간 절감 추정 (연 400시간+) + 24×7 무인 감시</a:t>
            </a:r>
          </a:p>
          <a:p>
            <a:pPr>
              <a:lnSpc>
                <a:spcPct val="140000"/>
              </a:lnSpc>
              <a:spcBef>
                <a:spcPts val="600"/>
              </a:spcBef>
              <a:spcAft>
                <a:spcPts val="200"/>
              </a:spcAft>
              <a:defRPr sz="1600">
                <a:solidFill>
                  <a:srgbClr val="1F1F1F"/>
                </a:solidFill>
                <a:latin typeface="맑은 고딕"/>
              </a:defRPr>
            </a:pPr>
            <a:r>
              <a:t>효과 ③품질: 릴리즈 전 AI 다중 감사로 이슈 65건+ 선제 발견 (보안·권한 우회 7건 수정)</a:t>
            </a:r>
          </a:p>
          <a:p>
            <a:pPr>
              <a:lnSpc>
                <a:spcPct val="140000"/>
              </a:lnSpc>
              <a:spcBef>
                <a:spcPts val="600"/>
              </a:spcBef>
              <a:spcAft>
                <a:spcPts val="200"/>
              </a:spcAft>
              <a:defRPr sz="1600">
                <a:solidFill>
                  <a:srgbClr val="1F1F1F"/>
                </a:solidFill>
                <a:latin typeface="맑은 고딕"/>
              </a:defRPr>
            </a:pPr>
            <a:r>
              <a:t>방향성: 이 사례의 규칙·도구를 템플릿화하여 타 업무로 확산 — '프롬프트 엔지니어링'에서 '워크플로 엔지니어링'으로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0" y="649224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8C8C9A"/>
                </a:solidFill>
                <a:latin typeface="맑은 고딕"/>
              </a:defRPr>
            </a:pPr>
            <a: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5720"/>
          </a:xfrm>
          <a:prstGeom prst="rect">
            <a:avLst/>
          </a:prstGeom>
          <a:solidFill>
            <a:srgbClr val="007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1F1F1F"/>
                </a:solidFill>
                <a:latin typeface="맑은 고딕"/>
              </a:defRPr>
            </a:pPr>
            <a:r>
              <a:t>목차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914400"/>
            <a:ext cx="1828800" cy="32004"/>
          </a:xfrm>
          <a:prstGeom prst="rect">
            <a:avLst/>
          </a:prstGeom>
          <a:solidFill>
            <a:srgbClr val="007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457200" y="1188720"/>
            <a:ext cx="11247120" cy="5212080"/>
          </a:xfrm>
          <a:prstGeom prst="roundRect">
            <a:avLst/>
          </a:prstGeom>
          <a:solidFill>
            <a:srgbClr val="F8F9FB"/>
          </a:solidFill>
          <a:ln w="12700">
            <a:solidFill>
              <a:srgbClr val="E0E0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1371600"/>
            <a:ext cx="1051560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40000"/>
              </a:lnSpc>
              <a:spcBef>
                <a:spcPts val="600"/>
              </a:spcBef>
              <a:spcAft>
                <a:spcPts val="200"/>
              </a:spcAft>
              <a:defRPr sz="1600">
                <a:solidFill>
                  <a:srgbClr val="1F1F1F"/>
                </a:solidFill>
                <a:latin typeface="맑은 고딕"/>
              </a:defRPr>
            </a:pPr>
            <a:r>
              <a:t>1. 프로젝트 개요 — 배경·시스템 소개·핵심 수치</a:t>
            </a:r>
          </a:p>
          <a:p>
            <a:pPr>
              <a:lnSpc>
                <a:spcPct val="140000"/>
              </a:lnSpc>
              <a:spcBef>
                <a:spcPts val="600"/>
              </a:spcBef>
              <a:spcAft>
                <a:spcPts val="200"/>
              </a:spcAft>
              <a:defRPr sz="1600">
                <a:solidFill>
                  <a:srgbClr val="1F1F1F"/>
                </a:solidFill>
                <a:latin typeface="맑은 고딕"/>
              </a:defRPr>
            </a:pPr>
            <a:r>
              <a:t>2. AI 활용 방법 — 구현·병렬 감사·문서 생성·운영 지원 (상세 사례)</a:t>
            </a:r>
          </a:p>
          <a:p>
            <a:pPr>
              <a:lnSpc>
                <a:spcPct val="140000"/>
              </a:lnSpc>
              <a:spcBef>
                <a:spcPts val="600"/>
              </a:spcBef>
              <a:spcAft>
                <a:spcPts val="200"/>
              </a:spcAft>
              <a:defRPr sz="1600">
                <a:solidFill>
                  <a:srgbClr val="1F1F1F"/>
                </a:solidFill>
                <a:latin typeface="맑은 고딕"/>
              </a:defRPr>
            </a:pPr>
            <a:r>
              <a:t>3. 개발 비용·기간 단축 효과 — 기능점수(FP)·맨먼스 기준</a:t>
            </a:r>
          </a:p>
          <a:p>
            <a:pPr>
              <a:lnSpc>
                <a:spcPct val="140000"/>
              </a:lnSpc>
              <a:spcBef>
                <a:spcPts val="600"/>
              </a:spcBef>
              <a:spcAft>
                <a:spcPts val="200"/>
              </a:spcAft>
              <a:defRPr sz="1600">
                <a:solidFill>
                  <a:srgbClr val="1F1F1F"/>
                </a:solidFill>
                <a:latin typeface="맑은 고딕"/>
              </a:defRPr>
            </a:pPr>
            <a:r>
              <a:t>4. 업무 자동화·생산성 향상 — Before/After와 절감 추정</a:t>
            </a:r>
          </a:p>
          <a:p>
            <a:pPr>
              <a:lnSpc>
                <a:spcPct val="140000"/>
              </a:lnSpc>
              <a:spcBef>
                <a:spcPts val="600"/>
              </a:spcBef>
              <a:spcAft>
                <a:spcPts val="200"/>
              </a:spcAft>
              <a:defRPr sz="1600">
                <a:solidFill>
                  <a:srgbClr val="1F1F1F"/>
                </a:solidFill>
                <a:latin typeface="맑은 고딕"/>
              </a:defRPr>
            </a:pPr>
            <a:r>
              <a:t>5. 에러 감소·품질 개선 — 3층 방어 체계와 실증 데이터</a:t>
            </a:r>
          </a:p>
          <a:p>
            <a:pPr>
              <a:lnSpc>
                <a:spcPct val="140000"/>
              </a:lnSpc>
              <a:spcBef>
                <a:spcPts val="600"/>
              </a:spcBef>
              <a:spcAft>
                <a:spcPts val="200"/>
              </a:spcAft>
              <a:defRPr sz="1600">
                <a:solidFill>
                  <a:srgbClr val="1F1F1F"/>
                </a:solidFill>
                <a:latin typeface="맑은 고딕"/>
              </a:defRPr>
            </a:pPr>
            <a:r>
              <a:t>6. 향후 운영 계획 — 점검·장애 대응·백업·릴리즈</a:t>
            </a:r>
          </a:p>
          <a:p>
            <a:pPr>
              <a:lnSpc>
                <a:spcPct val="140000"/>
              </a:lnSpc>
              <a:spcBef>
                <a:spcPts val="600"/>
              </a:spcBef>
              <a:spcAft>
                <a:spcPts val="200"/>
              </a:spcAft>
              <a:defRPr sz="1600">
                <a:solidFill>
                  <a:srgbClr val="1F1F1F"/>
                </a:solidFill>
                <a:latin typeface="맑은 고딕"/>
              </a:defRPr>
            </a:pPr>
            <a:r>
              <a:t>7. AI 기반 업무 혁신 방향성 — 조직 확산 제안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0" y="649224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8C8C9A"/>
                </a:solidFill>
                <a:latin typeface="맑은 고딕"/>
              </a:defRPr>
            </a:pPr>
            <a: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007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371600" y="2011680"/>
            <a:ext cx="1097280" cy="1097280"/>
          </a:xfrm>
          <a:prstGeom prst="ellipse">
            <a:avLst/>
          </a:prstGeom>
          <a:solidFill>
            <a:srgbClr val="007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spcBef>
                <a:spcPts val="1200"/>
              </a:spcBef>
              <a:defRPr sz="3600" b="1">
                <a:solidFill>
                  <a:srgbClr val="FFFFFF"/>
                </a:solidFill>
                <a:latin typeface="맑은 고딕"/>
              </a:defRPr>
            </a:pPr>
            <a:r>
              <a:t>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926080" y="1828800"/>
            <a:ext cx="8229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4000" b="1">
                <a:solidFill>
                  <a:srgbClr val="1F1F1F"/>
                </a:solidFill>
                <a:latin typeface="맑은 고딕"/>
              </a:defRPr>
            </a:pPr>
            <a:r>
              <a:t>프로젝트 개요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26080" y="2926080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5A5A6E"/>
                </a:solidFill>
                <a:latin typeface="맑은 고딕"/>
              </a:defRPr>
            </a:pPr>
            <a:r>
              <a:t>왜 만들었고, 무엇이 만들어졌나</a:t>
            </a:r>
          </a:p>
        </p:txBody>
      </p:sp>
      <p:sp>
        <p:nvSpPr>
          <p:cNvPr id="6" name="Rectangle 5"/>
          <p:cNvSpPr/>
          <p:nvPr/>
        </p:nvSpPr>
        <p:spPr>
          <a:xfrm>
            <a:off x="2926080" y="3657600"/>
            <a:ext cx="3657600" cy="36576"/>
          </a:xfrm>
          <a:prstGeom prst="rect">
            <a:avLst/>
          </a:prstGeom>
          <a:solidFill>
            <a:srgbClr val="007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748272"/>
            <a:ext cx="12191695" cy="54864"/>
          </a:xfrm>
          <a:prstGeom prst="rect">
            <a:avLst/>
          </a:prstGeom>
          <a:solidFill>
            <a:srgbClr val="007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5720"/>
          </a:xfrm>
          <a:prstGeom prst="rect">
            <a:avLst/>
          </a:prstGeom>
          <a:solidFill>
            <a:srgbClr val="007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1F1F1F"/>
                </a:solidFill>
                <a:latin typeface="맑은 고딕"/>
              </a:defRPr>
            </a:pPr>
            <a:r>
              <a:t>추진 배경 — 흩어진 운영 도구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914400"/>
            <a:ext cx="1828800" cy="32004"/>
          </a:xfrm>
          <a:prstGeom prst="rect">
            <a:avLst/>
          </a:prstGeom>
          <a:solidFill>
            <a:srgbClr val="007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457200" y="1188720"/>
            <a:ext cx="5394960" cy="5212080"/>
          </a:xfrm>
          <a:prstGeom prst="roundRect">
            <a:avLst/>
          </a:prstGeom>
          <a:solidFill>
            <a:srgbClr val="F8F9FB"/>
          </a:solidFill>
          <a:ln w="12700">
            <a:solidFill>
              <a:srgbClr val="E0E0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1280160"/>
            <a:ext cx="4846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0070C0"/>
                </a:solidFill>
                <a:latin typeface="맑은 고딕"/>
              </a:defRPr>
            </a:pPr>
            <a:r>
              <a:t>Before: 도구 파편화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737360"/>
            <a:ext cx="484632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35000"/>
              </a:lnSpc>
              <a:spcBef>
                <a:spcPts val="600"/>
              </a:spcBef>
              <a:spcAft>
                <a:spcPts val="200"/>
              </a:spcAft>
              <a:defRPr sz="1400">
                <a:solidFill>
                  <a:srgbClr val="1F1F1F"/>
                </a:solidFill>
                <a:latin typeface="맑은 고딕"/>
              </a:defRPr>
            </a:pPr>
            <a:r>
              <a:t>모니터링: Grafana 대시보드 10개+ 산재</a:t>
            </a:r>
          </a:p>
          <a:p>
            <a:pPr lvl="1">
              <a:lnSpc>
                <a:spcPct val="135000"/>
              </a:lnSpc>
              <a:spcBef>
                <a:spcPts val="200"/>
              </a:spcBef>
              <a:spcAft>
                <a:spcPts val="200"/>
              </a:spcAft>
              <a:defRPr sz="1300">
                <a:solidFill>
                  <a:srgbClr val="8C8C9A"/>
                </a:solidFill>
                <a:latin typeface="맑은 고딕"/>
              </a:defRPr>
            </a:pPr>
            <a:r>
              <a:t>서버 1대 확인에 3~4개 대시보드 이동</a:t>
            </a:r>
          </a:p>
          <a:p>
            <a:pPr>
              <a:lnSpc>
                <a:spcPct val="135000"/>
              </a:lnSpc>
              <a:spcBef>
                <a:spcPts val="600"/>
              </a:spcBef>
              <a:spcAft>
                <a:spcPts val="200"/>
              </a:spcAft>
              <a:defRPr sz="1400">
                <a:solidFill>
                  <a:srgbClr val="1F1F1F"/>
                </a:solidFill>
                <a:latin typeface="맑은 고딕"/>
              </a:defRPr>
            </a:pPr>
            <a:r>
              <a:t>자산 관리: 엑셀 수기 — 최신본·버전 혼란, 이력 없음</a:t>
            </a:r>
          </a:p>
          <a:p>
            <a:pPr>
              <a:lnSpc>
                <a:spcPct val="135000"/>
              </a:lnSpc>
              <a:spcBef>
                <a:spcPts val="600"/>
              </a:spcBef>
              <a:spcAft>
                <a:spcPts val="200"/>
              </a:spcAft>
              <a:defRPr sz="1400">
                <a:solidFill>
                  <a:srgbClr val="1F1F1F"/>
                </a:solidFill>
                <a:latin typeface="맑은 고딕"/>
              </a:defRPr>
            </a:pPr>
            <a:r>
              <a:t>물리 배치: 담당자 기억 + 종이 도면</a:t>
            </a:r>
          </a:p>
          <a:p>
            <a:pPr>
              <a:lnSpc>
                <a:spcPct val="135000"/>
              </a:lnSpc>
              <a:spcBef>
                <a:spcPts val="600"/>
              </a:spcBef>
              <a:spcAft>
                <a:spcPts val="200"/>
              </a:spcAft>
              <a:defRPr sz="1400">
                <a:solidFill>
                  <a:srgbClr val="1F1F1F"/>
                </a:solidFill>
                <a:latin typeface="맑은 고딕"/>
              </a:defRPr>
            </a:pPr>
            <a:r>
              <a:t>전원 제어: 서버별 IPMI 개별 접속</a:t>
            </a:r>
          </a:p>
          <a:p>
            <a:pPr>
              <a:lnSpc>
                <a:spcPct val="135000"/>
              </a:lnSpc>
              <a:spcBef>
                <a:spcPts val="600"/>
              </a:spcBef>
              <a:spcAft>
                <a:spcPts val="200"/>
              </a:spcAft>
              <a:defRPr sz="1400">
                <a:solidFill>
                  <a:srgbClr val="1F1F1F"/>
                </a:solidFill>
                <a:latin typeface="맑은 고딕"/>
              </a:defRPr>
            </a:pPr>
            <a:r>
              <a:t>용량 계획: 감(느낌) 의존, 보고서 수작업</a:t>
            </a:r>
          </a:p>
          <a:p>
            <a:pPr>
              <a:lnSpc>
                <a:spcPct val="135000"/>
              </a:lnSpc>
              <a:spcBef>
                <a:spcPts val="600"/>
              </a:spcBef>
              <a:spcAft>
                <a:spcPts val="200"/>
              </a:spcAft>
              <a:defRPr sz="1400">
                <a:solidFill>
                  <a:srgbClr val="1F1F1F"/>
                </a:solidFill>
                <a:latin typeface="맑은 고딕"/>
              </a:defRPr>
            </a:pPr>
            <a:r>
              <a:t>만료 관리(보증·인증서): 체계적 추적 부재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309360" y="1188720"/>
            <a:ext cx="5394960" cy="5212080"/>
          </a:xfrm>
          <a:prstGeom prst="roundRect">
            <a:avLst/>
          </a:prstGeom>
          <a:solidFill>
            <a:srgbClr val="F8F9FB"/>
          </a:solidFill>
          <a:ln w="12700">
            <a:solidFill>
              <a:srgbClr val="E0E0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83680" y="1280160"/>
            <a:ext cx="4846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0070C0"/>
                </a:solidFill>
                <a:latin typeface="맑은 고딕"/>
              </a:defRPr>
            </a:pPr>
            <a:r>
              <a:t>After: 통합 DCIM 한 화면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0" y="1737360"/>
            <a:ext cx="484632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35000"/>
              </a:lnSpc>
              <a:spcBef>
                <a:spcPts val="600"/>
              </a:spcBef>
              <a:spcAft>
                <a:spcPts val="200"/>
              </a:spcAft>
              <a:defRPr sz="1400">
                <a:solidFill>
                  <a:srgbClr val="1F1F1F"/>
                </a:solidFill>
                <a:latin typeface="맑은 고딕"/>
              </a:defRPr>
            </a:pPr>
            <a:r>
              <a:t>서버 클릭 1번 → CPU·메모리·디스크·온도·전력·PCIe·BMC 센서 통합</a:t>
            </a:r>
          </a:p>
          <a:p>
            <a:pPr>
              <a:lnSpc>
                <a:spcPct val="135000"/>
              </a:lnSpc>
              <a:spcBef>
                <a:spcPts val="600"/>
              </a:spcBef>
              <a:spcAft>
                <a:spcPts val="200"/>
              </a:spcAft>
              <a:defRPr sz="1400">
                <a:solidFill>
                  <a:srgbClr val="1F1F1F"/>
                </a:solidFill>
                <a:latin typeface="맑은 고딕"/>
              </a:defRPr>
            </a:pPr>
            <a:r>
              <a:t>DB 기반 자산 CRUD + 라이프사이클 9단계 + 변경 이력</a:t>
            </a:r>
          </a:p>
          <a:p>
            <a:pPr>
              <a:lnSpc>
                <a:spcPct val="135000"/>
              </a:lnSpc>
              <a:spcBef>
                <a:spcPts val="600"/>
              </a:spcBef>
              <a:spcAft>
                <a:spcPts val="200"/>
              </a:spcAft>
              <a:defRPr sz="1400">
                <a:solidFill>
                  <a:srgbClr val="1F1F1F"/>
                </a:solidFill>
                <a:latin typeface="맑은 고딕"/>
              </a:defRPr>
            </a:pPr>
            <a:r>
              <a:t>Digital Twin(룸·랙 시각화) + 히트맵 + 드래그 배치</a:t>
            </a:r>
          </a:p>
          <a:p>
            <a:pPr>
              <a:lnSpc>
                <a:spcPct val="135000"/>
              </a:lnSpc>
              <a:spcBef>
                <a:spcPts val="600"/>
              </a:spcBef>
              <a:spcAft>
                <a:spcPts val="200"/>
              </a:spcAft>
              <a:defRPr sz="1400">
                <a:solidFill>
                  <a:srgbClr val="1F1F1F"/>
                </a:solidFill>
                <a:latin typeface="맑은 고딕"/>
              </a:defRPr>
            </a:pPr>
            <a:r>
              <a:t>웹에서 원격 전원 제어 (BMC/Redfish)</a:t>
            </a:r>
          </a:p>
          <a:p>
            <a:pPr>
              <a:lnSpc>
                <a:spcPct val="135000"/>
              </a:lnSpc>
              <a:spcBef>
                <a:spcPts val="600"/>
              </a:spcBef>
              <a:spcAft>
                <a:spcPts val="200"/>
              </a:spcAft>
              <a:defRPr sz="1400">
                <a:solidFill>
                  <a:srgbClr val="1F1F1F"/>
                </a:solidFill>
                <a:latin typeface="맑은 고딕"/>
              </a:defRPr>
            </a:pPr>
            <a:r>
              <a:t>용량 12개월 예측 + PDF 리포트 자동 생성</a:t>
            </a:r>
          </a:p>
          <a:p>
            <a:pPr>
              <a:lnSpc>
                <a:spcPct val="135000"/>
              </a:lnSpc>
              <a:spcBef>
                <a:spcPts val="600"/>
              </a:spcBef>
              <a:spcAft>
                <a:spcPts val="200"/>
              </a:spcAft>
              <a:defRPr sz="1400">
                <a:solidFill>
                  <a:srgbClr val="1F1F1F"/>
                </a:solidFill>
                <a:latin typeface="맑은 고딕"/>
              </a:defRPr>
            </a:pPr>
            <a:r>
              <a:t>알림 엔진 5분 주기 자동 평가 + 만료 D-day 추적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72800" y="649224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8C8C9A"/>
                </a:solidFill>
                <a:latin typeface="맑은 고딕"/>
              </a:defRPr>
            </a:pPr>
            <a: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5720"/>
          </a:xfrm>
          <a:prstGeom prst="rect">
            <a:avLst/>
          </a:prstGeom>
          <a:solidFill>
            <a:srgbClr val="007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1F1F1F"/>
                </a:solidFill>
                <a:latin typeface="맑은 고딕"/>
              </a:defRPr>
            </a:pPr>
            <a:r>
              <a:t>핵심 수치 (2026-07-02 감사 시점 기준)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914400"/>
            <a:ext cx="1828800" cy="32004"/>
          </a:xfrm>
          <a:prstGeom prst="rect">
            <a:avLst/>
          </a:prstGeom>
          <a:solidFill>
            <a:srgbClr val="007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94360" y="1234440"/>
          <a:ext cx="10972800" cy="3017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77440"/>
                <a:gridCol w="3108960"/>
                <a:gridCol w="2377440"/>
                <a:gridCol w="3108960"/>
              </a:tblGrid>
              <a:tr h="502920"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맑은 고딕"/>
                        </a:defRPr>
                      </a:pPr>
                      <a:r>
                        <a:t>항목</a:t>
                      </a:r>
                    </a:p>
                  </a:txBody>
                  <a:tcPr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맑은 고딕"/>
                        </a:defRPr>
                      </a:pPr>
                      <a:r>
                        <a:t>수치</a:t>
                      </a:r>
                    </a:p>
                  </a:txBody>
                  <a:tcPr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맑은 고딕"/>
                        </a:defRPr>
                      </a:pPr>
                      <a:r>
                        <a:t>항목</a:t>
                      </a:r>
                    </a:p>
                  </a:txBody>
                  <a:tcPr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맑은 고딕"/>
                        </a:defRPr>
                      </a:pPr>
                      <a:r>
                        <a:t>수치</a:t>
                      </a:r>
                    </a:p>
                  </a:txBody>
                  <a:tcPr>
                    <a:solidFill>
                      <a:srgbClr val="0070C0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F1F1F"/>
                          </a:solidFill>
                          <a:latin typeface="맑은 고딕"/>
                        </a:defRPr>
                      </a:pPr>
                      <a:r>
                        <a:t>개발 기간</a:t>
                      </a:r>
                    </a:p>
                  </a:txBody>
                  <a:tcPr>
                    <a:solidFill>
                      <a:srgbClr val="F8F9FB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200">
                          <a:solidFill>
                            <a:srgbClr val="1F1F1F"/>
                          </a:solidFill>
                          <a:latin typeface="맑은 고딕"/>
                        </a:defRPr>
                      </a:pPr>
                      <a:r>
                        <a:t>4.5개월 (실질 2.5개월)</a:t>
                      </a:r>
                    </a:p>
                  </a:txBody>
                  <a:tcPr>
                    <a:solidFill>
                      <a:srgbClr val="F8F9FB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200">
                          <a:solidFill>
                            <a:srgbClr val="1F1F1F"/>
                          </a:solidFill>
                          <a:latin typeface="맑은 고딕"/>
                        </a:defRPr>
                      </a:pPr>
                      <a:r>
                        <a:t>총 커밋</a:t>
                      </a:r>
                    </a:p>
                  </a:txBody>
                  <a:tcPr>
                    <a:solidFill>
                      <a:srgbClr val="F8F9FB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200">
                          <a:solidFill>
                            <a:srgbClr val="1F1F1F"/>
                          </a:solidFill>
                          <a:latin typeface="맑은 고딕"/>
                        </a:defRPr>
                      </a:pPr>
                      <a:r>
                        <a:t>576개 (AI 작성 99%+)</a:t>
                      </a:r>
                    </a:p>
                  </a:txBody>
                  <a:tcPr>
                    <a:solidFill>
                      <a:srgbClr val="F8F9FB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F1F1F"/>
                          </a:solidFill>
                          <a:latin typeface="맑은 고딕"/>
                        </a:defRPr>
                      </a:pPr>
                      <a:r>
                        <a:t>개발 인력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200">
                          <a:solidFill>
                            <a:srgbClr val="1F1F1F"/>
                          </a:solidFill>
                          <a:latin typeface="맑은 고딕"/>
                        </a:defRPr>
                      </a:pPr>
                      <a:r>
                        <a:t>1명 (인프라 엔지니어) + AI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200">
                          <a:solidFill>
                            <a:srgbClr val="1F1F1F"/>
                          </a:solidFill>
                          <a:latin typeface="맑은 고딕"/>
                        </a:defRPr>
                      </a:pPr>
                      <a:r>
                        <a:t>소스 코드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200">
                          <a:solidFill>
                            <a:srgbClr val="1F1F1F"/>
                          </a:solidFill>
                          <a:latin typeface="맑은 고딕"/>
                        </a:defRPr>
                      </a:pPr>
                      <a:r>
                        <a:t>44,211줄 / 218개 파일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F1F1F"/>
                          </a:solidFill>
                          <a:latin typeface="맑은 고딕"/>
                        </a:defRPr>
                      </a:pPr>
                      <a:r>
                        <a:t>페이지/화면</a:t>
                      </a:r>
                    </a:p>
                  </a:txBody>
                  <a:tcPr>
                    <a:solidFill>
                      <a:srgbClr val="F8F9FB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200">
                          <a:solidFill>
                            <a:srgbClr val="1F1F1F"/>
                          </a:solidFill>
                          <a:latin typeface="맑은 고딕"/>
                        </a:defRPr>
                      </a:pPr>
                      <a:r>
                        <a:t>39개</a:t>
                      </a:r>
                    </a:p>
                  </a:txBody>
                  <a:tcPr>
                    <a:solidFill>
                      <a:srgbClr val="F8F9FB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200">
                          <a:solidFill>
                            <a:srgbClr val="1F1F1F"/>
                          </a:solidFill>
                          <a:latin typeface="맑은 고딕"/>
                        </a:defRPr>
                      </a:pPr>
                      <a:r>
                        <a:t>API 엔드포인트</a:t>
                      </a:r>
                    </a:p>
                  </a:txBody>
                  <a:tcPr>
                    <a:solidFill>
                      <a:srgbClr val="F8F9FB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200">
                          <a:solidFill>
                            <a:srgbClr val="1F1F1F"/>
                          </a:solidFill>
                          <a:latin typeface="맑은 고딕"/>
                        </a:defRPr>
                      </a:pPr>
                      <a:r>
                        <a:t>74개</a:t>
                      </a:r>
                    </a:p>
                  </a:txBody>
                  <a:tcPr>
                    <a:solidFill>
                      <a:srgbClr val="F8F9FB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F1F1F"/>
                          </a:solidFill>
                          <a:latin typeface="맑은 고딕"/>
                        </a:defRPr>
                      </a:pPr>
                      <a:r>
                        <a:t>구현 기능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200">
                          <a:solidFill>
                            <a:srgbClr val="1F1F1F"/>
                          </a:solidFill>
                          <a:latin typeface="맑은 고딕"/>
                        </a:defRPr>
                      </a:pPr>
                      <a:r>
                        <a:t>135개 (12개 카테고리)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200">
                          <a:solidFill>
                            <a:srgbClr val="1F1F1F"/>
                          </a:solidFill>
                          <a:latin typeface="맑은 고딕"/>
                        </a:defRPr>
                      </a:pPr>
                      <a:r>
                        <a:t>DB 모델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200">
                          <a:solidFill>
                            <a:srgbClr val="1F1F1F"/>
                          </a:solidFill>
                          <a:latin typeface="맑은 고딕"/>
                        </a:defRPr>
                      </a:pPr>
                      <a:r>
                        <a:t>29개 (Prisma)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F1F1F"/>
                          </a:solidFill>
                          <a:latin typeface="맑은 고딕"/>
                        </a:defRPr>
                      </a:pPr>
                      <a:r>
                        <a:t>다국어</a:t>
                      </a:r>
                    </a:p>
                  </a:txBody>
                  <a:tcPr>
                    <a:solidFill>
                      <a:srgbClr val="F8F9FB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200">
                          <a:solidFill>
                            <a:srgbClr val="1F1F1F"/>
                          </a:solidFill>
                          <a:latin typeface="맑은 고딕"/>
                        </a:defRPr>
                      </a:pPr>
                      <a:r>
                        <a:t>한/영 511개 번역 키</a:t>
                      </a:r>
                    </a:p>
                  </a:txBody>
                  <a:tcPr>
                    <a:solidFill>
                      <a:srgbClr val="F8F9FB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200">
                          <a:solidFill>
                            <a:srgbClr val="1F1F1F"/>
                          </a:solidFill>
                          <a:latin typeface="맑은 고딕"/>
                        </a:defRPr>
                      </a:pPr>
                      <a:r>
                        <a:t>산출물 문서</a:t>
                      </a:r>
                    </a:p>
                  </a:txBody>
                  <a:tcPr>
                    <a:solidFill>
                      <a:srgbClr val="F8F9FB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200">
                          <a:solidFill>
                            <a:srgbClr val="1F1F1F"/>
                          </a:solidFill>
                          <a:latin typeface="맑은 고딕"/>
                        </a:defRPr>
                      </a:pPr>
                      <a:r>
                        <a:t>40여 개 (매뉴얼·UML·ERD 포함)</a:t>
                      </a:r>
                    </a:p>
                  </a:txBody>
                  <a:tcPr>
                    <a:solidFill>
                      <a:srgbClr val="F8F9FB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94360" y="4361688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8C8C9A"/>
                </a:solidFill>
                <a:latin typeface="맑은 고딕"/>
              </a:defRPr>
            </a:pPr>
            <a:r>
              <a:t>기술 스택: Next.js 14 + TypeScript + Prisma + PostgreSQL + Prometheus 연동, SSE 실시간, Docker/systemd 하이브리드 운영 (폐쇄망)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0" y="649224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8C8C9A"/>
                </a:solidFill>
                <a:latin typeface="맑은 고딕"/>
              </a:defRPr>
            </a:pPr>
            <a: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00A5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371600" y="2011680"/>
            <a:ext cx="1097280" cy="1097280"/>
          </a:xfrm>
          <a:prstGeom prst="ellipse">
            <a:avLst/>
          </a:prstGeom>
          <a:solidFill>
            <a:srgbClr val="00A5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spcBef>
                <a:spcPts val="1200"/>
              </a:spcBef>
              <a:defRPr sz="3600" b="1">
                <a:solidFill>
                  <a:srgbClr val="FFFFFF"/>
                </a:solidFill>
                <a:latin typeface="맑은 고딕"/>
              </a:defRPr>
            </a:pPr>
            <a:r>
              <a:t>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926080" y="1828800"/>
            <a:ext cx="8229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4000" b="1">
                <a:solidFill>
                  <a:srgbClr val="1F1F1F"/>
                </a:solidFill>
                <a:latin typeface="맑은 고딕"/>
              </a:defRPr>
            </a:pPr>
            <a:r>
              <a:t>AI 활용 방법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26080" y="2926080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5A5A6E"/>
                </a:solidFill>
                <a:latin typeface="맑은 고딕"/>
              </a:defRPr>
            </a:pPr>
            <a:r>
              <a:t>구현 · 병렬 감사 · 문서 생성 · 운영 지원</a:t>
            </a:r>
          </a:p>
        </p:txBody>
      </p:sp>
      <p:sp>
        <p:nvSpPr>
          <p:cNvPr id="6" name="Rectangle 5"/>
          <p:cNvSpPr/>
          <p:nvPr/>
        </p:nvSpPr>
        <p:spPr>
          <a:xfrm>
            <a:off x="2926080" y="3657600"/>
            <a:ext cx="3657600" cy="36576"/>
          </a:xfrm>
          <a:prstGeom prst="rect">
            <a:avLst/>
          </a:prstGeom>
          <a:solidFill>
            <a:srgbClr val="00A5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748272"/>
            <a:ext cx="12191695" cy="54864"/>
          </a:xfrm>
          <a:prstGeom prst="rect">
            <a:avLst/>
          </a:prstGeom>
          <a:solidFill>
            <a:srgbClr val="00A5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5720"/>
          </a:xfrm>
          <a:prstGeom prst="rect">
            <a:avLst/>
          </a:prstGeom>
          <a:solidFill>
            <a:srgbClr val="00A5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1F1F1F"/>
                </a:solidFill>
                <a:latin typeface="맑은 고딕"/>
              </a:defRPr>
            </a:pPr>
            <a:r>
              <a:t>AI 활용 유형 4가지 — 전 과정에 걸친 협업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914400"/>
            <a:ext cx="1828800" cy="32004"/>
          </a:xfrm>
          <a:prstGeom prst="rect">
            <a:avLst/>
          </a:prstGeom>
          <a:solidFill>
            <a:srgbClr val="00A5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94360" y="1234440"/>
          <a:ext cx="10972800" cy="3657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4937760"/>
                <a:gridCol w="4023360"/>
              </a:tblGrid>
              <a:tr h="731520"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맑은 고딕"/>
                        </a:defRPr>
                      </a:pPr>
                      <a:r>
                        <a:t>유형</a:t>
                      </a:r>
                    </a:p>
                  </a:txBody>
                  <a:tcPr>
                    <a:solidFill>
                      <a:srgbClr val="00A58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맑은 고딕"/>
                        </a:defRPr>
                      </a:pPr>
                      <a:r>
                        <a:t>실제 활용</a:t>
                      </a:r>
                    </a:p>
                  </a:txBody>
                  <a:tcPr>
                    <a:solidFill>
                      <a:srgbClr val="00A58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맑은 고딕"/>
                        </a:defRPr>
                      </a:pPr>
                      <a:r>
                        <a:t>규모·성과</a:t>
                      </a:r>
                    </a:p>
                  </a:txBody>
                  <a:tcPr>
                    <a:solidFill>
                      <a:srgbClr val="00A585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F1F1F"/>
                          </a:solidFill>
                          <a:latin typeface="맑은 고딕"/>
                        </a:defRPr>
                      </a:pPr>
                      <a:r>
                        <a:t>① 코드 구현</a:t>
                      </a:r>
                    </a:p>
                  </a:txBody>
                  <a:tcPr>
                    <a:solidFill>
                      <a:srgbClr val="F8F9FB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200">
                          <a:solidFill>
                            <a:srgbClr val="1F1F1F"/>
                          </a:solidFill>
                          <a:latin typeface="맑은 고딕"/>
                        </a:defRPr>
                      </a:pPr>
                      <a:r>
                        <a:t>기능 구현·수정·디버깅 전담. 스캐폴딩(구조+스키마+핵심 화면)은 하루 만에</a:t>
                      </a:r>
                    </a:p>
                  </a:txBody>
                  <a:tcPr>
                    <a:solidFill>
                      <a:srgbClr val="F8F9FB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200">
                          <a:solidFill>
                            <a:srgbClr val="1F1F1F"/>
                          </a:solidFill>
                          <a:latin typeface="맑은 고딕"/>
                        </a:defRPr>
                      </a:pPr>
                      <a:r>
                        <a:t>커밋 99%+ AI 작성 · 하루 9~13개 항목 완료 사례 (work-log 실기록)</a:t>
                      </a:r>
                    </a:p>
                  </a:txBody>
                  <a:tcPr>
                    <a:solidFill>
                      <a:srgbClr val="F8F9FB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F1F1F"/>
                          </a:solidFill>
                          <a:latin typeface="맑은 고딕"/>
                        </a:defRPr>
                      </a:pPr>
                      <a:r>
                        <a:t>② 병렬 에이전트 감사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200">
                          <a:solidFill>
                            <a:srgbClr val="1F1F1F"/>
                          </a:solidFill>
                          <a:latin typeface="맑은 고딕"/>
                        </a:defRPr>
                      </a:pPr>
                      <a:r>
                        <a:t>AI 8명이 레이어(API·인증·보안·동시성 등)를 나눠 동시 조사 → 교차 검증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200">
                          <a:solidFill>
                            <a:srgbClr val="1F1F1F"/>
                          </a:solidFill>
                          <a:latin typeface="맑은 고딕"/>
                        </a:defRPr>
                      </a:pPr>
                      <a:r>
                        <a:t>릴리즈 전 이슈 65건+ 발견 (§5 상세)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F1F1F"/>
                          </a:solidFill>
                          <a:latin typeface="맑은 고딕"/>
                        </a:defRPr>
                      </a:pPr>
                      <a:r>
                        <a:t>③ 문서·발표자료 생성</a:t>
                      </a:r>
                    </a:p>
                  </a:txBody>
                  <a:tcPr>
                    <a:solidFill>
                      <a:srgbClr val="F8F9FB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200">
                          <a:solidFill>
                            <a:srgbClr val="1F1F1F"/>
                          </a:solidFill>
                          <a:latin typeface="맑은 고딕"/>
                        </a:defRPr>
                      </a:pPr>
                      <a:r>
                        <a:t>코드를 직접 읽고 매뉴얼·UML·ERD·보고서·PPT 생성</a:t>
                      </a:r>
                    </a:p>
                  </a:txBody>
                  <a:tcPr>
                    <a:solidFill>
                      <a:srgbClr val="F8F9FB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200">
                          <a:solidFill>
                            <a:srgbClr val="1F1F1F"/>
                          </a:solidFill>
                          <a:latin typeface="맑은 고딕"/>
                        </a:defRPr>
                      </a:pPr>
                      <a:r>
                        <a:t>매뉴얼 805줄 · PPT 56슬라이드 · 주간보고 자동화 스킬</a:t>
                      </a:r>
                    </a:p>
                  </a:txBody>
                  <a:tcPr>
                    <a:solidFill>
                      <a:srgbClr val="F8F9FB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F1F1F"/>
                          </a:solidFill>
                          <a:latin typeface="맑은 고딕"/>
                        </a:defRPr>
                      </a:pPr>
                      <a:r>
                        <a:t>④ 운영 지원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200">
                          <a:solidFill>
                            <a:srgbClr val="1F1F1F"/>
                          </a:solidFill>
                          <a:latin typeface="맑은 고딕"/>
                        </a:defRPr>
                      </a:pPr>
                      <a:r>
                        <a:t>백업·복구·로그로테이션 스크립트, 장애 진단, DB 장애 복구 주도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200">
                          <a:solidFill>
                            <a:srgbClr val="1F1F1F"/>
                          </a:solidFill>
                          <a:latin typeface="맑은 고딕"/>
                        </a:defRPr>
                      </a:pPr>
                      <a:r>
                        <a:t>진단 스크립트 116+개 · DB 장애 데이터 손실 0 복구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10972800" y="649224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8C8C9A"/>
                </a:solidFill>
                <a:latin typeface="맑은 고딕"/>
              </a:defRPr>
            </a:pPr>
            <a: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5720"/>
          </a:xfrm>
          <a:prstGeom prst="rect">
            <a:avLst/>
          </a:prstGeom>
          <a:solidFill>
            <a:srgbClr val="00A5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1F1F1F"/>
                </a:solidFill>
                <a:latin typeface="맑은 고딕"/>
              </a:defRPr>
            </a:pPr>
            <a:r>
              <a:t>병렬 에이전트 감사 — “AI가 AI를 검증한다” (실사례)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914400"/>
            <a:ext cx="1828800" cy="32004"/>
          </a:xfrm>
          <a:prstGeom prst="rect">
            <a:avLst/>
          </a:prstGeom>
          <a:solidFill>
            <a:srgbClr val="00A5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94360" y="1234440"/>
          <a:ext cx="10972800" cy="460857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80160"/>
                <a:gridCol w="4206240"/>
                <a:gridCol w="5486400"/>
              </a:tblGrid>
              <a:tr h="658368"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맑은 고딕"/>
                        </a:defRPr>
                      </a:pPr>
                      <a:r>
                        <a:t>시점</a:t>
                      </a:r>
                    </a:p>
                  </a:txBody>
                  <a:tcPr>
                    <a:solidFill>
                      <a:srgbClr val="00A58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맑은 고딕"/>
                        </a:defRPr>
                      </a:pPr>
                      <a:r>
                        <a:t>감사</a:t>
                      </a:r>
                    </a:p>
                  </a:txBody>
                  <a:tcPr>
                    <a:solidFill>
                      <a:srgbClr val="00A58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맑은 고딕"/>
                        </a:defRPr>
                      </a:pPr>
                      <a:r>
                        <a:t>결과</a:t>
                      </a:r>
                    </a:p>
                  </a:txBody>
                  <a:tcPr>
                    <a:solidFill>
                      <a:srgbClr val="00A585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F1F1F"/>
                          </a:solidFill>
                          <a:latin typeface="맑은 고딕"/>
                        </a:defRPr>
                      </a:pPr>
                      <a:r>
                        <a:t>06-25</a:t>
                      </a:r>
                    </a:p>
                  </a:txBody>
                  <a:tcPr>
                    <a:solidFill>
                      <a:srgbClr val="F8F9FB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100">
                          <a:solidFill>
                            <a:srgbClr val="1F1F1F"/>
                          </a:solidFill>
                          <a:latin typeface="맑은 고딕"/>
                        </a:defRPr>
                      </a:pPr>
                      <a:r>
                        <a:t>8-에이전트 사전 코드리뷰 (Bulk HW Refresh)</a:t>
                      </a:r>
                    </a:p>
                  </a:txBody>
                  <a:tcPr>
                    <a:solidFill>
                      <a:srgbClr val="F8F9FB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100">
                          <a:solidFill>
                            <a:srgbClr val="1F1F1F"/>
                          </a:solidFill>
                          <a:latin typeface="맑은 고딕"/>
                        </a:defRPr>
                      </a:pPr>
                      <a:r>
                        <a:t>서버 실행 전 버그 6건 일괄 발견 (트랜잭션 누락 등) — 단독 리뷰면 1~2건 수준</a:t>
                      </a:r>
                    </a:p>
                  </a:txBody>
                  <a:tcPr>
                    <a:solidFill>
                      <a:srgbClr val="F8F9FB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F1F1F"/>
                          </a:solidFill>
                          <a:latin typeface="맑은 고딕"/>
                        </a:defRPr>
                      </a:pPr>
                      <a:r>
                        <a:t>06-29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100">
                          <a:solidFill>
                            <a:srgbClr val="1F1F1F"/>
                          </a:solidFill>
                          <a:latin typeface="맑은 고딕"/>
                        </a:defRPr>
                      </a:pPr>
                      <a:r>
                        <a:t>8-에이전트 종합 소스 감사 (8영역 전수)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100">
                          <a:solidFill>
                            <a:srgbClr val="1F1F1F"/>
                          </a:solidFill>
                          <a:latin typeface="맑은 고딕"/>
                        </a:defRPr>
                      </a:pPr>
                      <a:r>
                        <a:t>40여 이슈 발견 — 권한 우회(비소속 운영자가 전원 리셋 가능) 등 즉시 수정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F1F1F"/>
                          </a:solidFill>
                          <a:latin typeface="맑은 고딕"/>
                        </a:defRPr>
                      </a:pPr>
                      <a:r>
                        <a:t>06-29</a:t>
                      </a:r>
                    </a:p>
                  </a:txBody>
                  <a:tcPr>
                    <a:solidFill>
                      <a:srgbClr val="F8F9FB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100">
                          <a:solidFill>
                            <a:srgbClr val="1F1F1F"/>
                          </a:solidFill>
                          <a:latin typeface="맑은 고딕"/>
                        </a:defRPr>
                      </a:pPr>
                      <a:r>
                        <a:t>8-에이전트 장애 진단 (운영 DB 중단)</a:t>
                      </a:r>
                    </a:p>
                  </a:txBody>
                  <a:tcPr>
                    <a:solidFill>
                      <a:srgbClr val="F8F9FB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100">
                          <a:solidFill>
                            <a:srgbClr val="1F1F1F"/>
                          </a:solidFill>
                          <a:latin typeface="맑은 고딕"/>
                        </a:defRPr>
                      </a:pPr>
                      <a:r>
                        <a:t>배포 구조 규명 → 볼륨 보존 확인 → 데이터 손실 0 복구</a:t>
                      </a:r>
                    </a:p>
                  </a:txBody>
                  <a:tcPr>
                    <a:solidFill>
                      <a:srgbClr val="F8F9FB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F1F1F"/>
                          </a:solidFill>
                          <a:latin typeface="맑은 고딕"/>
                        </a:defRPr>
                      </a:pPr>
                      <a:r>
                        <a:t>06-30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100">
                          <a:solidFill>
                            <a:srgbClr val="1F1F1F"/>
                          </a:solidFill>
                          <a:latin typeface="맑은 고딕"/>
                        </a:defRPr>
                      </a:pPr>
                      <a:r>
                        <a:t>v0.9 적대적 검증 (2차 감사)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100">
                          <a:solidFill>
                            <a:srgbClr val="1F1F1F"/>
                          </a:solidFill>
                          <a:latin typeface="맑은 고딕"/>
                        </a:defRPr>
                      </a:pPr>
                      <a:r>
                        <a:t>확정 버그 수정 + 미해결 건은 '알려진 이슈'로 정직하게 문서화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F1F1F"/>
                          </a:solidFill>
                          <a:latin typeface="맑은 고딕"/>
                        </a:defRPr>
                      </a:pPr>
                      <a:r>
                        <a:t>07-02</a:t>
                      </a:r>
                    </a:p>
                  </a:txBody>
                  <a:tcPr>
                    <a:solidFill>
                      <a:srgbClr val="F8F9FB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100">
                          <a:solidFill>
                            <a:srgbClr val="1F1F1F"/>
                          </a:solidFill>
                          <a:latin typeface="맑은 고딕"/>
                        </a:defRPr>
                      </a:pPr>
                      <a:r>
                        <a:t>4-에이전트 산출물 감사 + UML 설계 추적</a:t>
                      </a:r>
                    </a:p>
                  </a:txBody>
                  <a:tcPr>
                    <a:solidFill>
                      <a:srgbClr val="F8F9FB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100">
                          <a:solidFill>
                            <a:srgbClr val="1F1F1F"/>
                          </a:solidFill>
                          <a:latin typeface="맑은 고딕"/>
                        </a:defRPr>
                      </a:pPr>
                      <a:r>
                        <a:t>설계 허점 19건 발견, 보안 5건 당일 수정</a:t>
                      </a:r>
                    </a:p>
                  </a:txBody>
                  <a:tcPr>
                    <a:solidFill>
                      <a:srgbClr val="F8F9FB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F1F1F"/>
                          </a:solidFill>
                          <a:latin typeface="맑은 고딕"/>
                        </a:defRPr>
                      </a:pPr>
                      <a:r>
                        <a:t>상시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100">
                          <a:solidFill>
                            <a:srgbClr val="1F1F1F"/>
                          </a:solidFill>
                          <a:latin typeface="맑은 고딕"/>
                        </a:defRPr>
                      </a:pPr>
                      <a:r>
                        <a:t>팀A/팀B 설계 토론 (찬성 vs 리스크 2관점)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100">
                          <a:solidFill>
                            <a:srgbClr val="1F1F1F"/>
                          </a:solidFill>
                          <a:latin typeface="맑은 고딕"/>
                        </a:defRPr>
                      </a:pPr>
                      <a:r>
                        <a:t>설계 판단마다 코드 근거 기반 토론 후 결정 — 에이전트 파일로 도구화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10972800" y="649224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8C8C9A"/>
                </a:solidFill>
                <a:latin typeface="맑은 고딕"/>
              </a:defRPr>
            </a:pPr>
            <a: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5720"/>
          </a:xfrm>
          <a:prstGeom prst="rect">
            <a:avLst/>
          </a:prstGeom>
          <a:solidFill>
            <a:srgbClr val="00A5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1F1F1F"/>
                </a:solidFill>
                <a:latin typeface="맑은 고딕"/>
              </a:defRPr>
            </a:pPr>
            <a:r>
              <a:t>협업 방법론 — 프롬프트 → 규칙 → 도구, 3단계 진화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914400"/>
            <a:ext cx="1828800" cy="32004"/>
          </a:xfrm>
          <a:prstGeom prst="rect">
            <a:avLst/>
          </a:prstGeom>
          <a:solidFill>
            <a:srgbClr val="00A5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457200" y="1188720"/>
            <a:ext cx="11247120" cy="5212080"/>
          </a:xfrm>
          <a:prstGeom prst="roundRect">
            <a:avLst/>
          </a:prstGeom>
          <a:solidFill>
            <a:srgbClr val="F8F9FB"/>
          </a:solidFill>
          <a:ln w="12700">
            <a:solidFill>
              <a:srgbClr val="E0E0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1371600"/>
            <a:ext cx="1051560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40000"/>
              </a:lnSpc>
              <a:spcBef>
                <a:spcPts val="600"/>
              </a:spcBef>
              <a:spcAft>
                <a:spcPts val="200"/>
              </a:spcAft>
              <a:defRPr sz="1600">
                <a:solidFill>
                  <a:srgbClr val="1F1F1F"/>
                </a:solidFill>
                <a:latin typeface="맑은 고딕"/>
              </a:defRPr>
            </a:pPr>
            <a:r>
              <a:t>1단계 프롬프트 (4~5월): 매번 말로 지시 → 실데이터와 충돌, Prometheus/BMC 연동에만 78+회 수정</a:t>
            </a:r>
          </a:p>
          <a:p>
            <a:pPr>
              <a:lnSpc>
                <a:spcPct val="140000"/>
              </a:lnSpc>
              <a:spcBef>
                <a:spcPts val="600"/>
              </a:spcBef>
              <a:spcAft>
                <a:spcPts val="200"/>
              </a:spcAft>
              <a:defRPr sz="1600">
                <a:solidFill>
                  <a:srgbClr val="1F1F1F"/>
                </a:solidFill>
                <a:latin typeface="맑은 고딕"/>
              </a:defRPr>
            </a:pPr>
            <a:r>
              <a:t>2단계 규칙 (5월~): 실패할 때마다 CLAUDE.md에 재발 방지 규칙 축적 — “규칙 = 실패의 압축”</a:t>
            </a:r>
          </a:p>
          <a:p>
            <a:pPr lvl="1">
              <a:lnSpc>
                <a:spcPct val="140000"/>
              </a:lnSpc>
              <a:spcBef>
                <a:spcPts val="200"/>
              </a:spcBef>
              <a:spcAft>
                <a:spcPts val="200"/>
              </a:spcAft>
              <a:defRPr sz="1500">
                <a:solidFill>
                  <a:srgbClr val="8C8C9A"/>
                </a:solidFill>
                <a:latin typeface="맑은 고딕"/>
              </a:defRPr>
            </a:pPr>
            <a:r>
              <a:t>Data-First(추측 코딩 금지) · 변경영향분석 · 중복구현 방지 · 검증 루틴 · 팀A/B 토론 · 폐쇄망 제약 — 6대 규칙 전부 실제 사고에서 탄생</a:t>
            </a:r>
          </a:p>
          <a:p>
            <a:pPr>
              <a:lnSpc>
                <a:spcPct val="140000"/>
              </a:lnSpc>
              <a:spcBef>
                <a:spcPts val="600"/>
              </a:spcBef>
              <a:spcAft>
                <a:spcPts val="200"/>
              </a:spcAft>
              <a:defRPr sz="1600">
                <a:solidFill>
                  <a:srgbClr val="1F1F1F"/>
                </a:solidFill>
                <a:latin typeface="맑은 고딕"/>
              </a:defRPr>
            </a:pPr>
            <a:r>
              <a:t>3단계 도구화 (6월~): “세 번 반복한 프롬프트는 자산화 신호”</a:t>
            </a:r>
          </a:p>
          <a:p>
            <a:pPr lvl="1">
              <a:lnSpc>
                <a:spcPct val="140000"/>
              </a:lnSpc>
              <a:spcBef>
                <a:spcPts val="200"/>
              </a:spcBef>
              <a:spcAft>
                <a:spcPts val="200"/>
              </a:spcAft>
              <a:defRPr sz="1500">
                <a:solidFill>
                  <a:srgbClr val="8C8C9A"/>
                </a:solidFill>
                <a:latin typeface="맑은 고딕"/>
              </a:defRPr>
            </a:pPr>
            <a:r>
              <a:t>서브에이전트 3종(팀A·팀B·영향분석) + 스킬(데이터 확인·문서 동기화·주간보고) + 훅(세션 시작 자동 준비, 스키마 수정 즉시 자동 검증)</a:t>
            </a:r>
          </a:p>
          <a:p>
            <a:pPr>
              <a:lnSpc>
                <a:spcPct val="140000"/>
              </a:lnSpc>
              <a:spcBef>
                <a:spcPts val="600"/>
              </a:spcBef>
              <a:spcAft>
                <a:spcPts val="200"/>
              </a:spcAft>
              <a:defRPr sz="1600">
                <a:solidFill>
                  <a:srgbClr val="1F1F1F"/>
                </a:solidFill>
                <a:latin typeface="맑은 고딕"/>
              </a:defRPr>
            </a:pPr>
            <a:r>
              <a:t>역할 분담: 사람 = 기획·방향·실환경 테스트·“막다른 길” 판단  /  AI = 코드·디버깅·문서·병렬 감사</a:t>
            </a:r>
          </a:p>
          <a:p>
            <a:pPr lvl="1">
              <a:lnSpc>
                <a:spcPct val="140000"/>
              </a:lnSpc>
              <a:spcBef>
                <a:spcPts val="200"/>
              </a:spcBef>
              <a:spcAft>
                <a:spcPts val="200"/>
              </a:spcAft>
              <a:defRPr sz="1500">
                <a:solidFill>
                  <a:srgbClr val="8C8C9A"/>
                </a:solidFill>
                <a:latin typeface="맑은 고딕"/>
              </a:defRPr>
            </a:pPr>
            <a:r>
              <a:t>핵심: “에러 고쳐줘”(증상)가 아니라 “실패 가능한 모든 경로를 조사해줘”(구조)라고 묻는 것 — 질문의 범위가 결과를 바꾼다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0" y="649224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8C8C9A"/>
                </a:solidFill>
                <a:latin typeface="맑은 고딕"/>
              </a:defRPr>
            </a:pPr>
            <a: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5720"/>
          </a:xfrm>
          <a:prstGeom prst="rect">
            <a:avLst/>
          </a:prstGeom>
          <a:solidFill>
            <a:srgbClr val="00A5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1F1F1F"/>
                </a:solidFill>
                <a:latin typeface="맑은 고딕"/>
              </a:defRPr>
            </a:pPr>
            <a:r>
              <a:t>폐쇄망 제약 극복 — Data-First 방법론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914400"/>
            <a:ext cx="1828800" cy="32004"/>
          </a:xfrm>
          <a:prstGeom prst="rect">
            <a:avLst/>
          </a:prstGeom>
          <a:solidFill>
            <a:srgbClr val="00A5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457200" y="1188720"/>
            <a:ext cx="5394960" cy="5212080"/>
          </a:xfrm>
          <a:prstGeom prst="roundRect">
            <a:avLst/>
          </a:prstGeom>
          <a:solidFill>
            <a:srgbClr val="F8F9FB"/>
          </a:solidFill>
          <a:ln w="12700">
            <a:solidFill>
              <a:srgbClr val="E0E0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1280160"/>
            <a:ext cx="4846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00A585"/>
                </a:solidFill>
                <a:latin typeface="맑은 고딕"/>
              </a:defRPr>
            </a:pPr>
            <a:r>
              <a:t>제약: 실데이터를 AI가 볼 수 없다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737360"/>
            <a:ext cx="484632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35000"/>
              </a:lnSpc>
              <a:spcBef>
                <a:spcPts val="600"/>
              </a:spcBef>
              <a:spcAft>
                <a:spcPts val="200"/>
              </a:spcAft>
              <a:defRPr sz="1400">
                <a:solidFill>
                  <a:srgbClr val="1F1F1F"/>
                </a:solidFill>
                <a:latin typeface="맑은 고딕"/>
              </a:defRPr>
            </a:pPr>
            <a:r>
              <a:t>폐쇄망 — 파일 반출·클립보드 복사 불가</a:t>
            </a:r>
          </a:p>
          <a:p>
            <a:pPr>
              <a:lnSpc>
                <a:spcPct val="135000"/>
              </a:lnSpc>
              <a:spcBef>
                <a:spcPts val="600"/>
              </a:spcBef>
              <a:spcAft>
                <a:spcPts val="200"/>
              </a:spcAft>
              <a:defRPr sz="1400">
                <a:solidFill>
                  <a:srgbClr val="1F1F1F"/>
                </a:solidFill>
                <a:latin typeface="맑은 고딕"/>
              </a:defRPr>
            </a:pPr>
            <a:r>
              <a:t>사용자가 화면을 보고 손으로 타이핑해 전달</a:t>
            </a:r>
          </a:p>
          <a:p>
            <a:pPr>
              <a:lnSpc>
                <a:spcPct val="135000"/>
              </a:lnSpc>
              <a:spcBef>
                <a:spcPts val="600"/>
              </a:spcBef>
              <a:spcAft>
                <a:spcPts val="200"/>
              </a:spcAft>
              <a:defRPr sz="1400">
                <a:solidFill>
                  <a:srgbClr val="1F1F1F"/>
                </a:solidFill>
                <a:latin typeface="맑은 고딕"/>
              </a:defRPr>
            </a:pPr>
            <a:r>
              <a:t>디버깅 1사이클 30분~1시간 (일반 환경 5분)</a:t>
            </a:r>
          </a:p>
          <a:p>
            <a:pPr>
              <a:lnSpc>
                <a:spcPct val="135000"/>
              </a:lnSpc>
              <a:spcBef>
                <a:spcPts val="600"/>
              </a:spcBef>
              <a:spcAft>
                <a:spcPts val="200"/>
              </a:spcAft>
              <a:defRPr sz="1400">
                <a:solidFill>
                  <a:srgbClr val="1F1F1F"/>
                </a:solidFill>
                <a:latin typeface="맑은 고딕"/>
              </a:defRPr>
            </a:pPr>
            <a:r>
              <a:t>초기: 추측 코딩 → 실데이터에서 전부 실패</a:t>
            </a:r>
          </a:p>
          <a:p>
            <a:pPr lvl="1">
              <a:lnSpc>
                <a:spcPct val="135000"/>
              </a:lnSpc>
              <a:spcBef>
                <a:spcPts val="200"/>
              </a:spcBef>
              <a:spcAft>
                <a:spcPts val="200"/>
              </a:spcAft>
              <a:defRPr sz="1300">
                <a:solidFill>
                  <a:srgbClr val="8C8C9A"/>
                </a:solidFill>
                <a:latin typeface="맑은 고딕"/>
              </a:defRPr>
            </a:pPr>
            <a:r>
              <a:t>Prometheus 쿼리 재작업만 78+회 (4~5월)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309360" y="1188720"/>
            <a:ext cx="5394960" cy="5212080"/>
          </a:xfrm>
          <a:prstGeom prst="roundRect">
            <a:avLst/>
          </a:prstGeom>
          <a:solidFill>
            <a:srgbClr val="F8F9FB"/>
          </a:solidFill>
          <a:ln w="12700">
            <a:solidFill>
              <a:srgbClr val="E0E0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83680" y="1280160"/>
            <a:ext cx="4846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00A585"/>
                </a:solidFill>
                <a:latin typeface="맑은 고딕"/>
              </a:defRPr>
            </a:pPr>
            <a:r>
              <a:t>해법: 확인 → 기록 → 구현 3단 원칙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0" y="1737360"/>
            <a:ext cx="484632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35000"/>
              </a:lnSpc>
              <a:spcBef>
                <a:spcPts val="600"/>
              </a:spcBef>
              <a:spcAft>
                <a:spcPts val="200"/>
              </a:spcAft>
              <a:defRPr sz="1400">
                <a:solidFill>
                  <a:srgbClr val="1F1F1F"/>
                </a:solidFill>
                <a:latin typeface="맑은 고딕"/>
              </a:defRPr>
            </a:pPr>
            <a:r>
              <a:t>① AI가 확인 스크립트 작성 (116+개) — 출력 극단 최소화 (한 줄 요약, 샘플 1개)</a:t>
            </a:r>
          </a:p>
          <a:p>
            <a:pPr>
              <a:lnSpc>
                <a:spcPct val="135000"/>
              </a:lnSpc>
              <a:spcBef>
                <a:spcPts val="600"/>
              </a:spcBef>
              <a:spcAft>
                <a:spcPts val="200"/>
              </a:spcAft>
              <a:defRPr sz="1400">
                <a:solidFill>
                  <a:srgbClr val="1F1F1F"/>
                </a:solidFill>
                <a:latin typeface="맑은 고딕"/>
              </a:defRPr>
            </a:pPr>
            <a:r>
              <a:t>② 받은 데이터는 파일로 영구 기록 (31건) — 같은 데이터 재요청 금지</a:t>
            </a:r>
          </a:p>
          <a:p>
            <a:pPr>
              <a:lnSpc>
                <a:spcPct val="135000"/>
              </a:lnSpc>
              <a:spcBef>
                <a:spcPts val="600"/>
              </a:spcBef>
              <a:spcAft>
                <a:spcPts val="200"/>
              </a:spcAft>
              <a:defRPr sz="1400">
                <a:solidFill>
                  <a:srgbClr val="1F1F1F"/>
                </a:solidFill>
                <a:latin typeface="맑은 고딕"/>
              </a:defRPr>
            </a:pPr>
            <a:r>
              <a:t>③ 실데이터 확인 후에만 코드 작성</a:t>
            </a:r>
          </a:p>
          <a:p>
            <a:pPr>
              <a:lnSpc>
                <a:spcPct val="135000"/>
              </a:lnSpc>
              <a:spcBef>
                <a:spcPts val="600"/>
              </a:spcBef>
              <a:spcAft>
                <a:spcPts val="200"/>
              </a:spcAft>
              <a:defRPr sz="1400">
                <a:solidFill>
                  <a:srgbClr val="1F1F1F"/>
                </a:solidFill>
                <a:latin typeface="맑은 고딕"/>
              </a:defRPr>
            </a:pPr>
            <a:r>
              <a:t>효과: 규칙 정착 후 수정 커밋 비율 절반으로 감소 (§5)</a:t>
            </a:r>
          </a:p>
          <a:p>
            <a:pPr>
              <a:lnSpc>
                <a:spcPct val="135000"/>
              </a:lnSpc>
              <a:spcBef>
                <a:spcPts val="600"/>
              </a:spcBef>
              <a:spcAft>
                <a:spcPts val="200"/>
              </a:spcAft>
              <a:defRPr sz="1400">
                <a:solidFill>
                  <a:srgbClr val="1F1F1F"/>
                </a:solidFill>
                <a:latin typeface="맑은 고딕"/>
              </a:defRPr>
            </a:pPr>
            <a:r>
              <a:t>이 원칙 자체를 스킬로 도구화 — 규칙이 잊히지 않음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72800" y="649224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8C8C9A"/>
                </a:solidFill>
                <a:latin typeface="맑은 고딕"/>
              </a:defRPr>
            </a:pPr>
            <a: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6C2E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371600" y="2011680"/>
            <a:ext cx="1097280" cy="1097280"/>
          </a:xfrm>
          <a:prstGeom prst="ellipse">
            <a:avLst/>
          </a:prstGeom>
          <a:solidFill>
            <a:srgbClr val="6C2E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spcBef>
                <a:spcPts val="1200"/>
              </a:spcBef>
              <a:defRPr sz="3600" b="1">
                <a:solidFill>
                  <a:srgbClr val="FFFFFF"/>
                </a:solidFill>
                <a:latin typeface="맑은 고딕"/>
              </a:defRPr>
            </a:pPr>
            <a:r>
              <a:t>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926080" y="1828800"/>
            <a:ext cx="8229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4000" b="1">
                <a:solidFill>
                  <a:srgbClr val="1F1F1F"/>
                </a:solidFill>
                <a:latin typeface="맑은 고딕"/>
              </a:defRPr>
            </a:pPr>
            <a:r>
              <a:t>개발 비용·기간 단축 효과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26080" y="2926080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5A5A6E"/>
                </a:solidFill>
                <a:latin typeface="맑은 고딕"/>
              </a:defRPr>
            </a:pPr>
            <a:r>
              <a:t>기능점수(FP) · 맨먼스 기준 산정</a:t>
            </a:r>
          </a:p>
        </p:txBody>
      </p:sp>
      <p:sp>
        <p:nvSpPr>
          <p:cNvPr id="6" name="Rectangle 5"/>
          <p:cNvSpPr/>
          <p:nvPr/>
        </p:nvSpPr>
        <p:spPr>
          <a:xfrm>
            <a:off x="2926080" y="3657600"/>
            <a:ext cx="3657600" cy="36576"/>
          </a:xfrm>
          <a:prstGeom prst="rect">
            <a:avLst/>
          </a:prstGeom>
          <a:solidFill>
            <a:srgbClr val="6C2E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748272"/>
            <a:ext cx="12191695" cy="54864"/>
          </a:xfrm>
          <a:prstGeom prst="rect">
            <a:avLst/>
          </a:prstGeom>
          <a:solidFill>
            <a:srgbClr val="6C2E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5720"/>
          </a:xfrm>
          <a:prstGeom prst="rect">
            <a:avLst/>
          </a:prstGeom>
          <a:solidFill>
            <a:srgbClr val="6C2E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1F1F1F"/>
                </a:solidFill>
                <a:latin typeface="맑은 고딕"/>
              </a:defRPr>
            </a:pPr>
            <a:r>
              <a:t>1인+AI vs 외주 개발 — 정량 비교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914400"/>
            <a:ext cx="1828800" cy="32004"/>
          </a:xfrm>
          <a:prstGeom prst="rect">
            <a:avLst/>
          </a:prstGeom>
          <a:solidFill>
            <a:srgbClr val="6C2E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94360" y="1234440"/>
          <a:ext cx="10972800" cy="3520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3566160"/>
                <a:gridCol w="3566160"/>
                <a:gridCol w="1828800"/>
              </a:tblGrid>
              <a:tr h="502920"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맑은 고딕"/>
                        </a:defRPr>
                      </a:pPr>
                      <a:r>
                        <a:t>지표</a:t>
                      </a:r>
                    </a:p>
                  </a:txBody>
                  <a:tcPr>
                    <a:solidFill>
                      <a:srgbClr val="6C2ED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맑은 고딕"/>
                        </a:defRPr>
                      </a:pPr>
                      <a:r>
                        <a:t>외주 개발 (추정)</a:t>
                      </a:r>
                    </a:p>
                  </a:txBody>
                  <a:tcPr>
                    <a:solidFill>
                      <a:srgbClr val="6C2ED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맑은 고딕"/>
                        </a:defRPr>
                      </a:pPr>
                      <a:r>
                        <a:t>1인 + AI (실제)</a:t>
                      </a:r>
                    </a:p>
                  </a:txBody>
                  <a:tcPr>
                    <a:solidFill>
                      <a:srgbClr val="6C2ED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맑은 고딕"/>
                        </a:defRPr>
                      </a:pPr>
                      <a:r>
                        <a:t>차이</a:t>
                      </a:r>
                    </a:p>
                  </a:txBody>
                  <a:tcPr>
                    <a:solidFill>
                      <a:srgbClr val="6C2ED6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F1F1F"/>
                          </a:solidFill>
                          <a:latin typeface="맑은 고딕"/>
                        </a:defRPr>
                      </a:pPr>
                      <a:r>
                        <a:t>규모 산정</a:t>
                      </a:r>
                    </a:p>
                  </a:txBody>
                  <a:tcPr>
                    <a:solidFill>
                      <a:srgbClr val="F8F9FB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200">
                          <a:solidFill>
                            <a:srgbClr val="1F1F1F"/>
                          </a:solidFill>
                          <a:latin typeface="맑은 고딕"/>
                        </a:defRPr>
                      </a:pPr>
                      <a:r>
                        <a:t>기능점수 약 700 FP</a:t>
                      </a:r>
                    </a:p>
                  </a:txBody>
                  <a:tcPr>
                    <a:solidFill>
                      <a:srgbClr val="F8F9FB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200">
                          <a:solidFill>
                            <a:srgbClr val="1F1F1F"/>
                          </a:solidFill>
                          <a:latin typeface="맑은 고딕"/>
                        </a:defRPr>
                      </a:pPr>
                      <a:r>
                        <a:t>동일 산출물 기준</a:t>
                      </a:r>
                    </a:p>
                  </a:txBody>
                  <a:tcPr>
                    <a:solidFill>
                      <a:srgbClr val="F8F9FB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200">
                          <a:solidFill>
                            <a:srgbClr val="1F1F1F"/>
                          </a:solidFill>
                          <a:latin typeface="맑은 고딕"/>
                        </a:defRPr>
                      </a:pPr>
                      <a:r>
                        <a:t>—</a:t>
                      </a:r>
                    </a:p>
                  </a:txBody>
                  <a:tcPr>
                    <a:solidFill>
                      <a:srgbClr val="F8F9FB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F1F1F"/>
                          </a:solidFill>
                          <a:latin typeface="맑은 고딕"/>
                        </a:defRPr>
                      </a:pPr>
                      <a:r>
                        <a:t>투입 인력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200">
                          <a:solidFill>
                            <a:srgbClr val="1F1F1F"/>
                          </a:solidFill>
                          <a:latin typeface="맑은 고딕"/>
                        </a:defRPr>
                      </a:pPr>
                      <a:r>
                        <a:t>3~4명 팀 (PL·백엔드·프론트·QA)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200">
                          <a:solidFill>
                            <a:srgbClr val="1F1F1F"/>
                          </a:solidFill>
                          <a:latin typeface="맑은 고딕"/>
                        </a:defRPr>
                      </a:pPr>
                      <a:r>
                        <a:t>1명 (인프라 엔지니어, 웹 비전공)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200">
                          <a:solidFill>
                            <a:srgbClr val="1F1F1F"/>
                          </a:solidFill>
                          <a:latin typeface="맑은 고딕"/>
                        </a:defRPr>
                      </a:pPr>
                      <a:r>
                        <a:t>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F1F1F"/>
                          </a:solidFill>
                          <a:latin typeface="맑은 고딕"/>
                        </a:defRPr>
                      </a:pPr>
                      <a:r>
                        <a:t>투입 공수</a:t>
                      </a:r>
                    </a:p>
                  </a:txBody>
                  <a:tcPr>
                    <a:solidFill>
                      <a:srgbClr val="F8F9FB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200">
                          <a:solidFill>
                            <a:srgbClr val="1F1F1F"/>
                          </a:solidFill>
                          <a:latin typeface="맑은 고딕"/>
                        </a:defRPr>
                      </a:pPr>
                      <a:r>
                        <a:t>25~35 맨먼스</a:t>
                      </a:r>
                    </a:p>
                  </a:txBody>
                  <a:tcPr>
                    <a:solidFill>
                      <a:srgbClr val="F8F9FB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200">
                          <a:solidFill>
                            <a:srgbClr val="1F1F1F"/>
                          </a:solidFill>
                          <a:latin typeface="맑은 고딕"/>
                        </a:defRPr>
                      </a:pPr>
                      <a:r>
                        <a:t>4.5 맨먼스</a:t>
                      </a:r>
                    </a:p>
                  </a:txBody>
                  <a:tcPr>
                    <a:solidFill>
                      <a:srgbClr val="F8F9FB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200">
                          <a:solidFill>
                            <a:srgbClr val="1F1F1F"/>
                          </a:solidFill>
                          <a:latin typeface="맑은 고딕"/>
                        </a:defRPr>
                      </a:pPr>
                      <a:r>
                        <a:t>약 6~8배</a:t>
                      </a:r>
                    </a:p>
                  </a:txBody>
                  <a:tcPr>
                    <a:solidFill>
                      <a:srgbClr val="F8F9FB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F1F1F"/>
                          </a:solidFill>
                          <a:latin typeface="맑은 고딕"/>
                        </a:defRPr>
                      </a:pPr>
                      <a:r>
                        <a:t>개발 기간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200">
                          <a:solidFill>
                            <a:srgbClr val="1F1F1F"/>
                          </a:solidFill>
                          <a:latin typeface="맑은 고딕"/>
                        </a:defRPr>
                      </a:pPr>
                      <a:r>
                        <a:t>6~9개월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200">
                          <a:solidFill>
                            <a:srgbClr val="1F1F1F"/>
                          </a:solidFill>
                          <a:latin typeface="맑은 고딕"/>
                        </a:defRPr>
                      </a:pPr>
                      <a:r>
                        <a:t>4.5개월 (실질 2.5개월)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200">
                          <a:solidFill>
                            <a:srgbClr val="1F1F1F"/>
                          </a:solidFill>
                          <a:latin typeface="맑은 고딕"/>
                        </a:defRPr>
                      </a:pPr>
                      <a:r>
                        <a:t>약 1.5~2배 단축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F1F1F"/>
                          </a:solidFill>
                          <a:latin typeface="맑은 고딕"/>
                        </a:defRPr>
                      </a:pPr>
                      <a:r>
                        <a:t>총 비용</a:t>
                      </a:r>
                    </a:p>
                  </a:txBody>
                  <a:tcPr>
                    <a:solidFill>
                      <a:srgbClr val="F8F9FB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200">
                          <a:solidFill>
                            <a:srgbClr val="1F1F1F"/>
                          </a:solidFill>
                          <a:latin typeface="맑은 고딕"/>
                        </a:defRPr>
                      </a:pPr>
                      <a:r>
                        <a:t>3.5~5.5억 원 (SW사업 대가 기준)</a:t>
                      </a:r>
                    </a:p>
                  </a:txBody>
                  <a:tcPr>
                    <a:solidFill>
                      <a:srgbClr val="F8F9FB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200">
                          <a:solidFill>
                            <a:srgbClr val="1F1F1F"/>
                          </a:solidFill>
                          <a:latin typeface="맑은 고딕"/>
                        </a:defRPr>
                      </a:pPr>
                      <a:r>
                        <a:t>약 4,500만 원 (인건비+AI 구독)</a:t>
                      </a:r>
                    </a:p>
                  </a:txBody>
                  <a:tcPr>
                    <a:solidFill>
                      <a:srgbClr val="F8F9FB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200">
                          <a:solidFill>
                            <a:srgbClr val="1F1F1F"/>
                          </a:solidFill>
                          <a:latin typeface="맑은 고딕"/>
                        </a:defRPr>
                      </a:pPr>
                      <a:r>
                        <a:t>약 8~11배 절감</a:t>
                      </a:r>
                    </a:p>
                  </a:txBody>
                  <a:tcPr>
                    <a:solidFill>
                      <a:srgbClr val="F8F9FB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F1F1F"/>
                          </a:solidFill>
                          <a:latin typeface="맑은 고딕"/>
                        </a:defRPr>
                      </a:pPr>
                      <a:r>
                        <a:t>인당 생산성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200">
                          <a:solidFill>
                            <a:srgbClr val="1F1F1F"/>
                          </a:solidFill>
                          <a:latin typeface="맑은 고딕"/>
                        </a:defRPr>
                      </a:pPr>
                      <a:r>
                        <a:t>약 20 FP/MM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200">
                          <a:solidFill>
                            <a:srgbClr val="1F1F1F"/>
                          </a:solidFill>
                          <a:latin typeface="맑은 고딕"/>
                        </a:defRPr>
                      </a:pPr>
                      <a:r>
                        <a:t>약 155 FP/MM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200">
                          <a:solidFill>
                            <a:srgbClr val="1F1F1F"/>
                          </a:solidFill>
                          <a:latin typeface="맑은 고딕"/>
                        </a:defRPr>
                      </a:pPr>
                      <a:r>
                        <a:t>약 7~8배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94360" y="4864608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8C8C9A"/>
                </a:solidFill>
                <a:latin typeface="맑은 고딕"/>
              </a:defRPr>
            </a:pPr>
            <a:r>
              <a:t>※ 개략 산정 — 공식 IFPUG 계수·정부 대가산정 아님. 외주에는 QA·문서·하자보수가 포함되어 동일 조건 비교가 아님 (상세 전제: docs/cost-comparison-20260630.md)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0" y="649224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8C8C9A"/>
                </a:solidFill>
                <a:latin typeface="맑은 고딕"/>
              </a:defRPr>
            </a:pPr>
            <a: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5720"/>
          </a:xfrm>
          <a:prstGeom prst="rect">
            <a:avLst/>
          </a:prstGeom>
          <a:solidFill>
            <a:srgbClr val="6C2E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1F1F1F"/>
                </a:solidFill>
                <a:latin typeface="맑은 고딕"/>
              </a:defRPr>
            </a:pPr>
            <a:r>
              <a:t>기간·비용의 의미 — 세 가지 환산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914400"/>
            <a:ext cx="1828800" cy="32004"/>
          </a:xfrm>
          <a:prstGeom prst="rect">
            <a:avLst/>
          </a:prstGeom>
          <a:solidFill>
            <a:srgbClr val="6C2E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457200" y="1188720"/>
            <a:ext cx="11247120" cy="5212080"/>
          </a:xfrm>
          <a:prstGeom prst="roundRect">
            <a:avLst/>
          </a:prstGeom>
          <a:solidFill>
            <a:srgbClr val="F8F9FB"/>
          </a:solidFill>
          <a:ln w="12700">
            <a:solidFill>
              <a:srgbClr val="E0E0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1371600"/>
            <a:ext cx="1051560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40000"/>
              </a:lnSpc>
              <a:spcBef>
                <a:spcPts val="600"/>
              </a:spcBef>
              <a:spcAft>
                <a:spcPts val="200"/>
              </a:spcAft>
              <a:defRPr sz="1600">
                <a:solidFill>
                  <a:srgbClr val="1F1F1F"/>
                </a:solidFill>
                <a:latin typeface="맑은 고딕"/>
              </a:defRPr>
            </a:pPr>
            <a:r>
              <a:t>가장 강력한 비교: 같은 1명이 AI 없이 개발하면 약 2.5~3년 → AI와 함께 4.5개월</a:t>
            </a:r>
          </a:p>
          <a:p>
            <a:pPr>
              <a:lnSpc>
                <a:spcPct val="140000"/>
              </a:lnSpc>
              <a:spcBef>
                <a:spcPts val="600"/>
              </a:spcBef>
              <a:spcAft>
                <a:spcPts val="200"/>
              </a:spcAft>
              <a:defRPr sz="1600">
                <a:solidFill>
                  <a:srgbClr val="1F1F1F"/>
                </a:solidFill>
                <a:latin typeface="맑은 고딕"/>
              </a:defRPr>
            </a:pPr>
            <a:r>
              <a:t>팀 환산: 1인+AI의 산출량이 외주 3~4인 팀 수준 — 개발 속도 피크 주 81커밋, 주 평균 약 42커밋 (git 실측)</a:t>
            </a:r>
          </a:p>
          <a:p>
            <a:pPr>
              <a:lnSpc>
                <a:spcPct val="140000"/>
              </a:lnSpc>
              <a:spcBef>
                <a:spcPts val="600"/>
              </a:spcBef>
              <a:spcAft>
                <a:spcPts val="200"/>
              </a:spcAft>
              <a:defRPr sz="1600">
                <a:solidFill>
                  <a:srgbClr val="1F1F1F"/>
                </a:solidFill>
                <a:latin typeface="맑은 고딕"/>
              </a:defRPr>
            </a:pPr>
            <a:r>
              <a:t>문서까지 포함: 사용자 매뉴얼(805줄)·장애 대응서 20종·발표 PPT 56슬라이드 — 통상 2~4주 분량을 수일 내 생성 (추정)</a:t>
            </a:r>
          </a:p>
          <a:p>
            <a:pPr>
              <a:lnSpc>
                <a:spcPct val="140000"/>
              </a:lnSpc>
              <a:spcBef>
                <a:spcPts val="600"/>
              </a:spcBef>
              <a:spcAft>
                <a:spcPts val="200"/>
              </a:spcAft>
              <a:defRPr sz="1600">
                <a:solidFill>
                  <a:srgbClr val="1F1F1F"/>
                </a:solidFill>
                <a:latin typeface="맑은 고딕"/>
              </a:defRPr>
            </a:pPr>
          </a:p>
          <a:p>
            <a:pPr>
              <a:lnSpc>
                <a:spcPct val="140000"/>
              </a:lnSpc>
              <a:spcBef>
                <a:spcPts val="600"/>
              </a:spcBef>
              <a:spcAft>
                <a:spcPts val="200"/>
              </a:spcAft>
              <a:defRPr sz="1600">
                <a:solidFill>
                  <a:srgbClr val="1F1F1F"/>
                </a:solidFill>
                <a:latin typeface="맑은 고딕"/>
              </a:defRPr>
            </a:pPr>
            <a:r>
              <a:t>발표 시 유의 (정직성 원칙):</a:t>
            </a:r>
          </a:p>
          <a:p>
            <a:pPr lvl="1">
              <a:lnSpc>
                <a:spcPct val="140000"/>
              </a:lnSpc>
              <a:spcBef>
                <a:spcPts val="200"/>
              </a:spcBef>
              <a:spcAft>
                <a:spcPts val="200"/>
              </a:spcAft>
              <a:defRPr sz="1500">
                <a:solidFill>
                  <a:srgbClr val="8C8C9A"/>
                </a:solidFill>
                <a:latin typeface="맑은 고딕"/>
              </a:defRPr>
            </a:pPr>
            <a:r>
              <a:t>실측(커밋·코드·기능 수)과 추정(FP·비용·기간)을 구분해 표기</a:t>
            </a:r>
          </a:p>
          <a:p>
            <a:pPr lvl="1">
              <a:lnSpc>
                <a:spcPct val="140000"/>
              </a:lnSpc>
              <a:spcBef>
                <a:spcPts val="200"/>
              </a:spcBef>
              <a:spcAft>
                <a:spcPts val="200"/>
              </a:spcAft>
              <a:defRPr sz="1500">
                <a:solidFill>
                  <a:srgbClr val="8C8C9A"/>
                </a:solidFill>
                <a:latin typeface="맑은 고딕"/>
              </a:defRPr>
            </a:pPr>
            <a:r>
              <a:t>“AI가 99% 작성” ≠ 자동 — 요건 정의·도메인 판단·실환경 검증은 사람의 몫 (역량 있는 운전자 전제)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0" y="649224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8C8C9A"/>
                </a:solidFill>
                <a:latin typeface="맑은 고딕"/>
              </a:defRPr>
            </a:pPr>
            <a: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E08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371600" y="2011680"/>
            <a:ext cx="1097280" cy="1097280"/>
          </a:xfrm>
          <a:prstGeom prst="ellipse">
            <a:avLst/>
          </a:prstGeom>
          <a:solidFill>
            <a:srgbClr val="E08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spcBef>
                <a:spcPts val="1200"/>
              </a:spcBef>
              <a:defRPr sz="3600" b="1">
                <a:solidFill>
                  <a:srgbClr val="FFFFFF"/>
                </a:solidFill>
                <a:latin typeface="맑은 고딕"/>
              </a:defRPr>
            </a:pPr>
            <a:r>
              <a:t>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926080" y="1828800"/>
            <a:ext cx="8229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4000" b="1">
                <a:solidFill>
                  <a:srgbClr val="1F1F1F"/>
                </a:solidFill>
                <a:latin typeface="맑은 고딕"/>
              </a:defRPr>
            </a:pPr>
            <a:r>
              <a:t>업무 자동화·생산성 향상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26080" y="2926080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5A5A6E"/>
                </a:solidFill>
                <a:latin typeface="맑은 고딕"/>
              </a:defRPr>
            </a:pPr>
            <a:r>
              <a:t>사람이 하던 일 → 시스템이 하는 일</a:t>
            </a:r>
          </a:p>
        </p:txBody>
      </p:sp>
      <p:sp>
        <p:nvSpPr>
          <p:cNvPr id="6" name="Rectangle 5"/>
          <p:cNvSpPr/>
          <p:nvPr/>
        </p:nvSpPr>
        <p:spPr>
          <a:xfrm>
            <a:off x="2926080" y="3657600"/>
            <a:ext cx="3657600" cy="36576"/>
          </a:xfrm>
          <a:prstGeom prst="rect">
            <a:avLst/>
          </a:prstGeom>
          <a:solidFill>
            <a:srgbClr val="E08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748272"/>
            <a:ext cx="12191695" cy="54864"/>
          </a:xfrm>
          <a:prstGeom prst="rect">
            <a:avLst/>
          </a:prstGeom>
          <a:solidFill>
            <a:srgbClr val="E08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5720"/>
          </a:xfrm>
          <a:prstGeom prst="rect">
            <a:avLst/>
          </a:prstGeom>
          <a:solidFill>
            <a:srgbClr val="E08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1F1F1F"/>
                </a:solidFill>
                <a:latin typeface="맑은 고딕"/>
              </a:defRPr>
            </a:pPr>
            <a:r>
              <a:t>업무 자동화 Before → After (9개 항목)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914400"/>
            <a:ext cx="1828800" cy="32004"/>
          </a:xfrm>
          <a:prstGeom prst="rect">
            <a:avLst/>
          </a:prstGeom>
          <a:solidFill>
            <a:srgbClr val="E08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94360" y="1234440"/>
          <a:ext cx="10972800" cy="457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8800"/>
                <a:gridCol w="3383280"/>
                <a:gridCol w="3566160"/>
                <a:gridCol w="2194560"/>
              </a:tblGrid>
              <a:tr h="457200"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  <a:latin typeface="맑은 고딕"/>
                        </a:defRPr>
                      </a:pPr>
                      <a:r>
                        <a:t>업무</a:t>
                      </a:r>
                    </a:p>
                  </a:txBody>
                  <a:tcPr>
                    <a:solidFill>
                      <a:srgbClr val="E08A0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  <a:latin typeface="맑은 고딕"/>
                        </a:defRPr>
                      </a:pPr>
                      <a:r>
                        <a:t>Before (수작업)</a:t>
                      </a:r>
                    </a:p>
                  </a:txBody>
                  <a:tcPr>
                    <a:solidFill>
                      <a:srgbClr val="E08A0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  <a:latin typeface="맑은 고딕"/>
                        </a:defRPr>
                      </a:pPr>
                      <a:r>
                        <a:t>After (DC Express)</a:t>
                      </a:r>
                    </a:p>
                  </a:txBody>
                  <a:tcPr>
                    <a:solidFill>
                      <a:srgbClr val="E08A0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  <a:latin typeface="맑은 고딕"/>
                        </a:defRPr>
                      </a:pPr>
                      <a:r>
                        <a:t>주간 절감(추정)</a:t>
                      </a:r>
                    </a:p>
                  </a:txBody>
                  <a:tcPr>
                    <a:solidFill>
                      <a:srgbClr val="E08A00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1F1F1F"/>
                          </a:solidFill>
                          <a:latin typeface="맑은 고딕"/>
                        </a:defRPr>
                      </a:pPr>
                      <a:r>
                        <a:t>서버 상태 점검</a:t>
                      </a:r>
                    </a:p>
                  </a:txBody>
                  <a:tcPr>
                    <a:solidFill>
                      <a:srgbClr val="F8F9FB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1F1F1F"/>
                          </a:solidFill>
                          <a:latin typeface="맑은 고딕"/>
                        </a:defRPr>
                      </a:pPr>
                      <a:r>
                        <a:t>대시보드 10개+ 순회 (~15분)</a:t>
                      </a:r>
                    </a:p>
                  </a:txBody>
                  <a:tcPr>
                    <a:solidFill>
                      <a:srgbClr val="F8F9FB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1F1F1F"/>
                          </a:solidFill>
                          <a:latin typeface="맑은 고딕"/>
                        </a:defRPr>
                      </a:pPr>
                      <a:r>
                        <a:t>서버 클릭 1번 통합 뷰 (~2분)</a:t>
                      </a:r>
                    </a:p>
                  </a:txBody>
                  <a:tcPr>
                    <a:solidFill>
                      <a:srgbClr val="F8F9FB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1F1F1F"/>
                          </a:solidFill>
                          <a:latin typeface="맑은 고딕"/>
                        </a:defRPr>
                      </a:pPr>
                      <a:r>
                        <a:t>~2.2시간</a:t>
                      </a:r>
                    </a:p>
                  </a:txBody>
                  <a:tcPr>
                    <a:solidFill>
                      <a:srgbClr val="F8F9FB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1F1F1F"/>
                          </a:solidFill>
                          <a:latin typeface="맑은 고딕"/>
                        </a:defRPr>
                      </a:pPr>
                      <a:r>
                        <a:t>장애 초동 분석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1F1F1F"/>
                          </a:solidFill>
                          <a:latin typeface="맑은 고딕"/>
                        </a:defRPr>
                      </a:pPr>
                      <a:r>
                        <a:t>알림→대시보드→IPMI 별도 접속 (~30분)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1F1F1F"/>
                          </a:solidFill>
                          <a:latin typeface="맑은 고딕"/>
                        </a:defRPr>
                      </a:pPr>
                      <a:r>
                        <a:t>한 화면에서 센서·전원까지 (~10분)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1F1F1F"/>
                          </a:solidFill>
                          <a:latin typeface="맑은 고딕"/>
                        </a:defRPr>
                      </a:pPr>
                      <a:r>
                        <a:t>~0.7시간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1F1F1F"/>
                          </a:solidFill>
                          <a:latin typeface="맑은 고딕"/>
                        </a:defRPr>
                      </a:pPr>
                      <a:r>
                        <a:t>장비 입고 등록</a:t>
                      </a:r>
                    </a:p>
                  </a:txBody>
                  <a:tcPr>
                    <a:solidFill>
                      <a:srgbClr val="F8F9FB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1F1F1F"/>
                          </a:solidFill>
                          <a:latin typeface="맑은 고딕"/>
                        </a:defRPr>
                      </a:pPr>
                      <a:r>
                        <a:t>엑셀+스펙 조사, 24대=반나절</a:t>
                      </a:r>
                    </a:p>
                  </a:txBody>
                  <a:tcPr>
                    <a:solidFill>
                      <a:srgbClr val="F8F9FB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1F1F1F"/>
                          </a:solidFill>
                          <a:latin typeface="맑은 고딕"/>
                        </a:defRPr>
                      </a:pPr>
                      <a:r>
                        <a:t>CSV 일괄+자동탐지+BMC 수집 = ~30분</a:t>
                      </a:r>
                    </a:p>
                  </a:txBody>
                  <a:tcPr>
                    <a:solidFill>
                      <a:srgbClr val="F8F9FB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1F1F1F"/>
                          </a:solidFill>
                          <a:latin typeface="맑은 고딕"/>
                        </a:defRPr>
                      </a:pPr>
                      <a:r>
                        <a:t>~0.9시간</a:t>
                      </a:r>
                    </a:p>
                  </a:txBody>
                  <a:tcPr>
                    <a:solidFill>
                      <a:srgbClr val="F8F9FB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1F1F1F"/>
                          </a:solidFill>
                          <a:latin typeface="맑은 고딕"/>
                        </a:defRPr>
                      </a:pPr>
                      <a:r>
                        <a:t>자산 조회·갱신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1F1F1F"/>
                          </a:solidFill>
                          <a:latin typeface="맑은 고딕"/>
                        </a:defRPr>
                      </a:pPr>
                      <a:r>
                        <a:t>엑셀 최신본 찾기 (~10분)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1F1F1F"/>
                          </a:solidFill>
                          <a:latin typeface="맑은 고딕"/>
                        </a:defRPr>
                      </a:pPr>
                      <a:r>
                        <a:t>DB 즉시 검색+이력 자동 (~1분)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1F1F1F"/>
                          </a:solidFill>
                          <a:latin typeface="맑은 고딕"/>
                        </a:defRPr>
                      </a:pPr>
                      <a:r>
                        <a:t>~1.5시간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1F1F1F"/>
                          </a:solidFill>
                          <a:latin typeface="맑은 고딕"/>
                        </a:defRPr>
                      </a:pPr>
                      <a:r>
                        <a:t>원격 전원 제어</a:t>
                      </a:r>
                    </a:p>
                  </a:txBody>
                  <a:tcPr>
                    <a:solidFill>
                      <a:srgbClr val="F8F9FB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1F1F1F"/>
                          </a:solidFill>
                          <a:latin typeface="맑은 고딕"/>
                        </a:defRPr>
                      </a:pPr>
                      <a:r>
                        <a:t>서버별 IPMI 접속 (~10분/대)</a:t>
                      </a:r>
                    </a:p>
                  </a:txBody>
                  <a:tcPr>
                    <a:solidFill>
                      <a:srgbClr val="F8F9FB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1F1F1F"/>
                          </a:solidFill>
                          <a:latin typeface="맑은 고딕"/>
                        </a:defRPr>
                      </a:pPr>
                      <a:r>
                        <a:t>웹 클릭 (~1분)</a:t>
                      </a:r>
                    </a:p>
                  </a:txBody>
                  <a:tcPr>
                    <a:solidFill>
                      <a:srgbClr val="F8F9FB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1F1F1F"/>
                          </a:solidFill>
                          <a:latin typeface="맑은 고딕"/>
                        </a:defRPr>
                      </a:pPr>
                      <a:r>
                        <a:t>~0.75시간</a:t>
                      </a:r>
                    </a:p>
                  </a:txBody>
                  <a:tcPr>
                    <a:solidFill>
                      <a:srgbClr val="F8F9FB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1F1F1F"/>
                          </a:solidFill>
                          <a:latin typeface="맑은 고딕"/>
                        </a:defRPr>
                      </a:pPr>
                      <a:r>
                        <a:t>분기 용량 보고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1F1F1F"/>
                          </a:solidFill>
                          <a:latin typeface="맑은 고딕"/>
                        </a:defRPr>
                      </a:pPr>
                      <a:r>
                        <a:t>수동 집계+작성 = 반나절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1F1F1F"/>
                          </a:solidFill>
                          <a:latin typeface="맑은 고딕"/>
                        </a:defRPr>
                      </a:pPr>
                      <a:r>
                        <a:t>예측 대시보드+PDF 자동 = ~5분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1F1F1F"/>
                          </a:solidFill>
                          <a:latin typeface="맑은 고딕"/>
                        </a:defRPr>
                      </a:pPr>
                      <a:r>
                        <a:t>~0.3시간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1F1F1F"/>
                          </a:solidFill>
                          <a:latin typeface="맑은 고딕"/>
                        </a:defRPr>
                      </a:pPr>
                      <a:r>
                        <a:t>이상 감시</a:t>
                      </a:r>
                    </a:p>
                  </a:txBody>
                  <a:tcPr>
                    <a:solidFill>
                      <a:srgbClr val="F8F9FB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1F1F1F"/>
                          </a:solidFill>
                          <a:latin typeface="맑은 고딕"/>
                        </a:defRPr>
                      </a:pPr>
                      <a:r>
                        <a:t>사람이 봐야 발견 (감시 공백)</a:t>
                      </a:r>
                    </a:p>
                  </a:txBody>
                  <a:tcPr>
                    <a:solidFill>
                      <a:srgbClr val="F8F9FB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1F1F1F"/>
                          </a:solidFill>
                          <a:latin typeface="맑은 고딕"/>
                        </a:defRPr>
                      </a:pPr>
                      <a:r>
                        <a:t>알림 엔진 5분 주기 24×7 자동</a:t>
                      </a:r>
                    </a:p>
                  </a:txBody>
                  <a:tcPr>
                    <a:solidFill>
                      <a:srgbClr val="F8F9FB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1F1F1F"/>
                          </a:solidFill>
                          <a:latin typeface="맑은 고딕"/>
                        </a:defRPr>
                      </a:pPr>
                      <a:r>
                        <a:t>(정성: 무인화)</a:t>
                      </a:r>
                    </a:p>
                  </a:txBody>
                  <a:tcPr>
                    <a:solidFill>
                      <a:srgbClr val="F8F9FB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1F1F1F"/>
                          </a:solidFill>
                          <a:latin typeface="맑은 고딕"/>
                        </a:defRPr>
                      </a:pPr>
                      <a:r>
                        <a:t>만료 관리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1F1F1F"/>
                          </a:solidFill>
                          <a:latin typeface="맑은 고딕"/>
                        </a:defRPr>
                      </a:pPr>
                      <a:r>
                        <a:t>체계적 추적 부재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1F1F1F"/>
                          </a:solidFill>
                          <a:latin typeface="맑은 고딕"/>
                        </a:defRPr>
                      </a:pPr>
                      <a:r>
                        <a:t>D-day 자동 추적+알림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1F1F1F"/>
                          </a:solidFill>
                          <a:latin typeface="맑은 고딕"/>
                        </a:defRPr>
                      </a:pPr>
                      <a:r>
                        <a:t>(정성: 누락 제거)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1F1F1F"/>
                          </a:solidFill>
                          <a:latin typeface="맑은 고딕"/>
                        </a:defRPr>
                      </a:pPr>
                      <a:r>
                        <a:t>백업·로그</a:t>
                      </a:r>
                    </a:p>
                  </a:txBody>
                  <a:tcPr>
                    <a:solidFill>
                      <a:srgbClr val="F8F9FB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1F1F1F"/>
                          </a:solidFill>
                          <a:latin typeface="맑은 고딕"/>
                        </a:defRPr>
                      </a:pPr>
                      <a:r>
                        <a:t>수동/부재</a:t>
                      </a:r>
                    </a:p>
                  </a:txBody>
                  <a:tcPr>
                    <a:solidFill>
                      <a:srgbClr val="F8F9FB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1F1F1F"/>
                          </a:solidFill>
                          <a:latin typeface="맑은 고딕"/>
                        </a:defRPr>
                      </a:pPr>
                      <a:r>
                        <a:t>매일 자동 백업+로그로테이션</a:t>
                      </a:r>
                    </a:p>
                  </a:txBody>
                  <a:tcPr>
                    <a:solidFill>
                      <a:srgbClr val="F8F9FB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1F1F1F"/>
                          </a:solidFill>
                          <a:latin typeface="맑은 고딕"/>
                        </a:defRPr>
                      </a:pPr>
                      <a:r>
                        <a:t>~0.5시간</a:t>
                      </a:r>
                    </a:p>
                  </a:txBody>
                  <a:tcPr>
                    <a:solidFill>
                      <a:srgbClr val="F8F9FB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94360" y="5916168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8C8C9A"/>
                </a:solidFill>
                <a:latin typeface="맑은 고딕"/>
              </a:defRPr>
            </a:pPr>
            <a:r>
              <a:t>※ 절감 = 빈도 × 건당 시간차. 빈도는 운영 경험 기반 보수적 가정(실측 아님). 정성 효과(24×7 감시·감사 추적)는 시간 환산 제외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0" y="649224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8C8C9A"/>
                </a:solidFill>
                <a:latin typeface="맑은 고딕"/>
              </a:defRPr>
            </a:pPr>
            <a: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5720"/>
          </a:xfrm>
          <a:prstGeom prst="rect">
            <a:avLst/>
          </a:prstGeom>
          <a:solidFill>
            <a:srgbClr val="E08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1F1F1F"/>
                </a:solidFill>
                <a:latin typeface="맑은 고딕"/>
              </a:defRPr>
            </a:pPr>
            <a:r>
              <a:t>자동화·생산성 — 종합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914400"/>
            <a:ext cx="1828800" cy="32004"/>
          </a:xfrm>
          <a:prstGeom prst="rect">
            <a:avLst/>
          </a:prstGeom>
          <a:solidFill>
            <a:srgbClr val="E08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457200" y="1188720"/>
            <a:ext cx="11247120" cy="5212080"/>
          </a:xfrm>
          <a:prstGeom prst="roundRect">
            <a:avLst/>
          </a:prstGeom>
          <a:solidFill>
            <a:srgbClr val="F8F9FB"/>
          </a:solidFill>
          <a:ln w="12700">
            <a:solidFill>
              <a:srgbClr val="E0E0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1371600"/>
            <a:ext cx="1051560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40000"/>
              </a:lnSpc>
              <a:spcBef>
                <a:spcPts val="600"/>
              </a:spcBef>
              <a:spcAft>
                <a:spcPts val="200"/>
              </a:spcAft>
              <a:defRPr sz="1600">
                <a:solidFill>
                  <a:srgbClr val="1F1F1F"/>
                </a:solidFill>
                <a:latin typeface="맑은 고딕"/>
              </a:defRPr>
            </a:pPr>
            <a:r>
              <a:t>반복 운영업무 절감: 주 약 8~10시간 → 연 400시간 이상 (약 0.2 FTE, 하한 추정)</a:t>
            </a:r>
          </a:p>
          <a:p>
            <a:pPr lvl="1">
              <a:lnSpc>
                <a:spcPct val="140000"/>
              </a:lnSpc>
              <a:spcBef>
                <a:spcPts val="200"/>
              </a:spcBef>
              <a:spcAft>
                <a:spcPts val="200"/>
              </a:spcAft>
              <a:defRPr sz="1500">
                <a:solidFill>
                  <a:srgbClr val="8C8C9A"/>
                </a:solidFill>
                <a:latin typeface="맑은 고딕"/>
              </a:defRPr>
            </a:pPr>
            <a:r>
              <a:t>+ 시간으로 환산하지 않은 것: 24×7 무인 감시(감시 공백 제로화), 만료 누락 리스크 제거, 전 변경의 감사 추적</a:t>
            </a:r>
          </a:p>
          <a:p>
            <a:pPr>
              <a:lnSpc>
                <a:spcPct val="140000"/>
              </a:lnSpc>
              <a:spcBef>
                <a:spcPts val="600"/>
              </a:spcBef>
              <a:spcAft>
                <a:spcPts val="200"/>
              </a:spcAft>
              <a:defRPr sz="1600">
                <a:solidFill>
                  <a:srgbClr val="1F1F1F"/>
                </a:solidFill>
                <a:latin typeface="맑은 고딕"/>
              </a:defRPr>
            </a:pPr>
          </a:p>
          <a:p>
            <a:pPr>
              <a:lnSpc>
                <a:spcPct val="140000"/>
              </a:lnSpc>
              <a:spcBef>
                <a:spcPts val="600"/>
              </a:spcBef>
              <a:spcAft>
                <a:spcPts val="200"/>
              </a:spcAft>
              <a:defRPr sz="1600">
                <a:solidFill>
                  <a:srgbClr val="1F1F1F"/>
                </a:solidFill>
                <a:latin typeface="맑은 고딕"/>
              </a:defRPr>
            </a:pPr>
            <a:r>
              <a:t>기억할 세 가지 수치 (문서에 기록된 실사용 비교):</a:t>
            </a:r>
          </a:p>
          <a:p>
            <a:pPr lvl="1">
              <a:lnSpc>
                <a:spcPct val="140000"/>
              </a:lnSpc>
              <a:spcBef>
                <a:spcPts val="200"/>
              </a:spcBef>
              <a:spcAft>
                <a:spcPts val="200"/>
              </a:spcAft>
              <a:defRPr sz="1500">
                <a:solidFill>
                  <a:srgbClr val="8C8C9A"/>
                </a:solidFill>
                <a:latin typeface="맑은 고딕"/>
              </a:defRPr>
            </a:pPr>
            <a:r>
              <a:t>장비 24대 입고 등록: 반나절 → 30분</a:t>
            </a:r>
          </a:p>
          <a:p>
            <a:pPr lvl="1">
              <a:lnSpc>
                <a:spcPct val="140000"/>
              </a:lnSpc>
              <a:spcBef>
                <a:spcPts val="200"/>
              </a:spcBef>
              <a:spcAft>
                <a:spcPts val="200"/>
              </a:spcAft>
              <a:defRPr sz="1500">
                <a:solidFill>
                  <a:srgbClr val="8C8C9A"/>
                </a:solidFill>
                <a:latin typeface="맑은 고딕"/>
              </a:defRPr>
            </a:pPr>
            <a:r>
              <a:t>분기 용량 보고서: 반나절 → 5분</a:t>
            </a:r>
          </a:p>
          <a:p>
            <a:pPr lvl="1">
              <a:lnSpc>
                <a:spcPct val="140000"/>
              </a:lnSpc>
              <a:spcBef>
                <a:spcPts val="200"/>
              </a:spcBef>
              <a:spcAft>
                <a:spcPts val="200"/>
              </a:spcAft>
              <a:defRPr sz="1500">
                <a:solidFill>
                  <a:srgbClr val="8C8C9A"/>
                </a:solidFill>
                <a:latin typeface="맑은 고딕"/>
              </a:defRPr>
            </a:pPr>
            <a:r>
              <a:t>1인 단독 개발이라면: 2.5~3년 → (AI와) 4.5개월</a:t>
            </a:r>
          </a:p>
          <a:p>
            <a:pPr>
              <a:lnSpc>
                <a:spcPct val="140000"/>
              </a:lnSpc>
              <a:spcBef>
                <a:spcPts val="600"/>
              </a:spcBef>
              <a:spcAft>
                <a:spcPts val="200"/>
              </a:spcAft>
              <a:defRPr sz="1600">
                <a:solidFill>
                  <a:srgbClr val="1F1F1F"/>
                </a:solidFill>
                <a:latin typeface="맑은 고딕"/>
              </a:defRPr>
            </a:pPr>
          </a:p>
          <a:p>
            <a:pPr>
              <a:lnSpc>
                <a:spcPct val="140000"/>
              </a:lnSpc>
              <a:spcBef>
                <a:spcPts val="600"/>
              </a:spcBef>
              <a:spcAft>
                <a:spcPts val="200"/>
              </a:spcAft>
              <a:defRPr sz="1600">
                <a:solidFill>
                  <a:srgbClr val="1F1F1F"/>
                </a:solidFill>
                <a:latin typeface="맑은 고딕"/>
              </a:defRPr>
            </a:pPr>
            <a:r>
              <a:t>개발 생산성: 1인이 39화면·74 API·135기능 — 문서·발표자료(매뉴얼 805줄, PPT 56슬라이드)까지 AI가 코드를 읽고 직접 생성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0" y="649224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8C8C9A"/>
                </a:solidFill>
                <a:latin typeface="맑은 고딕"/>
              </a:defRPr>
            </a:pPr>
            <a: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DC2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371600" y="2011680"/>
            <a:ext cx="1097280" cy="1097280"/>
          </a:xfrm>
          <a:prstGeom prst="ellipse">
            <a:avLst/>
          </a:prstGeom>
          <a:solidFill>
            <a:srgbClr val="DC2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spcBef>
                <a:spcPts val="1200"/>
              </a:spcBef>
              <a:defRPr sz="3600" b="1">
                <a:solidFill>
                  <a:srgbClr val="FFFFFF"/>
                </a:solidFill>
                <a:latin typeface="맑은 고딕"/>
              </a:defRPr>
            </a:pPr>
            <a:r>
              <a:t>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926080" y="1828800"/>
            <a:ext cx="8229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4000" b="1">
                <a:solidFill>
                  <a:srgbClr val="1F1F1F"/>
                </a:solidFill>
                <a:latin typeface="맑은 고딕"/>
              </a:defRPr>
            </a:pPr>
            <a:r>
              <a:t>에러 감소·품질 개선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26080" y="2926080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5A5A6E"/>
                </a:solidFill>
                <a:latin typeface="맑은 고딕"/>
              </a:defRPr>
            </a:pPr>
            <a:r>
              <a:t>결함이 사용자에게 닿기 전에 잡는 다층 방어</a:t>
            </a:r>
          </a:p>
        </p:txBody>
      </p:sp>
      <p:sp>
        <p:nvSpPr>
          <p:cNvPr id="6" name="Rectangle 5"/>
          <p:cNvSpPr/>
          <p:nvPr/>
        </p:nvSpPr>
        <p:spPr>
          <a:xfrm>
            <a:off x="2926080" y="3657600"/>
            <a:ext cx="3657600" cy="36576"/>
          </a:xfrm>
          <a:prstGeom prst="rect">
            <a:avLst/>
          </a:prstGeom>
          <a:solidFill>
            <a:srgbClr val="DC2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748272"/>
            <a:ext cx="12191695" cy="54864"/>
          </a:xfrm>
          <a:prstGeom prst="rect">
            <a:avLst/>
          </a:prstGeom>
          <a:solidFill>
            <a:srgbClr val="DC2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5720"/>
          </a:xfrm>
          <a:prstGeom prst="rect">
            <a:avLst/>
          </a:prstGeom>
          <a:solidFill>
            <a:srgbClr val="DC2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1F1F1F"/>
                </a:solidFill>
                <a:latin typeface="맑은 고딕"/>
              </a:defRPr>
            </a:pPr>
            <a:r>
              <a:t>품질 체계 — 3층 방어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914400"/>
            <a:ext cx="1828800" cy="32004"/>
          </a:xfrm>
          <a:prstGeom prst="rect">
            <a:avLst/>
          </a:prstGeom>
          <a:solidFill>
            <a:srgbClr val="DC2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457200" y="1188720"/>
            <a:ext cx="11247120" cy="5212080"/>
          </a:xfrm>
          <a:prstGeom prst="roundRect">
            <a:avLst/>
          </a:prstGeom>
          <a:solidFill>
            <a:srgbClr val="F8F9FB"/>
          </a:solidFill>
          <a:ln w="12700">
            <a:solidFill>
              <a:srgbClr val="E0E0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1371600"/>
            <a:ext cx="1051560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40000"/>
              </a:lnSpc>
              <a:spcBef>
                <a:spcPts val="600"/>
              </a:spcBef>
              <a:spcAft>
                <a:spcPts val="200"/>
              </a:spcAft>
              <a:defRPr sz="1600">
                <a:solidFill>
                  <a:srgbClr val="1F1F1F"/>
                </a:solidFill>
                <a:latin typeface="맑은 고딕"/>
              </a:defRPr>
            </a:pPr>
            <a:r>
              <a:t>핵심 프레임: “에러가 없었다”가 아니라 — “결함이 사용자에게 닿기 전에 잡히는 체계를 AI로 구축했다”</a:t>
            </a:r>
          </a:p>
          <a:p>
            <a:pPr>
              <a:lnSpc>
                <a:spcPct val="140000"/>
              </a:lnSpc>
              <a:spcBef>
                <a:spcPts val="600"/>
              </a:spcBef>
              <a:spcAft>
                <a:spcPts val="200"/>
              </a:spcAft>
              <a:defRPr sz="1600">
                <a:solidFill>
                  <a:srgbClr val="1F1F1F"/>
                </a:solidFill>
                <a:latin typeface="맑은 고딕"/>
              </a:defRPr>
            </a:pPr>
          </a:p>
          <a:p>
            <a:pPr>
              <a:lnSpc>
                <a:spcPct val="140000"/>
              </a:lnSpc>
              <a:spcBef>
                <a:spcPts val="600"/>
              </a:spcBef>
              <a:spcAft>
                <a:spcPts val="200"/>
              </a:spcAft>
              <a:defRPr sz="1600">
                <a:solidFill>
                  <a:srgbClr val="1F1F1F"/>
                </a:solidFill>
                <a:latin typeface="맑은 고딕"/>
              </a:defRPr>
            </a:pPr>
            <a:r>
              <a:t>1층 — 규칙: CLAUDE.md 6대 규칙 (전부 실제 실패에서 탄생한 재발 방지책)</a:t>
            </a:r>
          </a:p>
          <a:p>
            <a:pPr lvl="1">
              <a:lnSpc>
                <a:spcPct val="140000"/>
              </a:lnSpc>
              <a:spcBef>
                <a:spcPts val="200"/>
              </a:spcBef>
              <a:spcAft>
                <a:spcPts val="200"/>
              </a:spcAft>
              <a:defRPr sz="1500">
                <a:solidFill>
                  <a:srgbClr val="8C8C9A"/>
                </a:solidFill>
                <a:latin typeface="맑은 고딕"/>
              </a:defRPr>
            </a:pPr>
            <a:r>
              <a:t>팀A/B 토론 · 중복확인 · 변경영향분석 · 검증루틴 · Data-First · 폐쇄망 제약</a:t>
            </a:r>
          </a:p>
          <a:p>
            <a:pPr>
              <a:lnSpc>
                <a:spcPct val="140000"/>
              </a:lnSpc>
              <a:spcBef>
                <a:spcPts val="600"/>
              </a:spcBef>
              <a:spcAft>
                <a:spcPts val="200"/>
              </a:spcAft>
              <a:defRPr sz="1600">
                <a:solidFill>
                  <a:srgbClr val="1F1F1F"/>
                </a:solidFill>
                <a:latin typeface="맑은 고딕"/>
              </a:defRPr>
            </a:pPr>
            <a:r>
              <a:t>2층 — 자동 게이트: 매 작업마다 기계적으로 실행</a:t>
            </a:r>
          </a:p>
          <a:p>
            <a:pPr lvl="1">
              <a:lnSpc>
                <a:spcPct val="140000"/>
              </a:lnSpc>
              <a:spcBef>
                <a:spcPts val="200"/>
              </a:spcBef>
              <a:spcAft>
                <a:spcPts val="200"/>
              </a:spcAft>
              <a:defRPr sz="1500">
                <a:solidFill>
                  <a:srgbClr val="8C8C9A"/>
                </a:solidFill>
                <a:latin typeface="맑은 고딕"/>
              </a:defRPr>
            </a:pPr>
            <a:r>
              <a:t>typecheck + lint + 62개 테스트 (verify) · 빌드 검증 (verify:full) · 스키마 수정 즉시 자동 검증(훅)</a:t>
            </a:r>
          </a:p>
          <a:p>
            <a:pPr>
              <a:lnSpc>
                <a:spcPct val="140000"/>
              </a:lnSpc>
              <a:spcBef>
                <a:spcPts val="600"/>
              </a:spcBef>
              <a:spcAft>
                <a:spcPts val="200"/>
              </a:spcAft>
              <a:defRPr sz="1600">
                <a:solidFill>
                  <a:srgbClr val="1F1F1F"/>
                </a:solidFill>
                <a:latin typeface="맑은 고딕"/>
              </a:defRPr>
            </a:pPr>
            <a:r>
              <a:t>3층 — AI 다중 관점 감사: 릴리즈·난제 앞에서 에이전트 4~8명이 레이어를 나눠 교차 검증</a:t>
            </a:r>
          </a:p>
          <a:p>
            <a:pPr lvl="1">
              <a:lnSpc>
                <a:spcPct val="140000"/>
              </a:lnSpc>
              <a:spcBef>
                <a:spcPts val="200"/>
              </a:spcBef>
              <a:spcAft>
                <a:spcPts val="200"/>
              </a:spcAft>
              <a:defRPr sz="1500">
                <a:solidFill>
                  <a:srgbClr val="8C8C9A"/>
                </a:solidFill>
                <a:latin typeface="맑은 고딕"/>
              </a:defRPr>
            </a:pPr>
            <a:r>
              <a:t>8-에이전트 소스 감사 · 적대적 검증 · UML 설계 추적 감사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0" y="649224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8C8C9A"/>
                </a:solidFill>
                <a:latin typeface="맑은 고딕"/>
              </a:defRPr>
            </a:pPr>
            <a:r>
              <a:t>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5720"/>
          </a:xfrm>
          <a:prstGeom prst="rect">
            <a:avLst/>
          </a:prstGeom>
          <a:solidFill>
            <a:srgbClr val="DC2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1F1F1F"/>
                </a:solidFill>
                <a:latin typeface="맑은 고딕"/>
              </a:defRPr>
            </a:pPr>
            <a:r>
              <a:t>실증 ① — 릴리즈 전에 잡은 결함 65건+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914400"/>
            <a:ext cx="1828800" cy="32004"/>
          </a:xfrm>
          <a:prstGeom prst="rect">
            <a:avLst/>
          </a:prstGeom>
          <a:solidFill>
            <a:srgbClr val="DC2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457200" y="1188720"/>
            <a:ext cx="11247120" cy="5212080"/>
          </a:xfrm>
          <a:prstGeom prst="roundRect">
            <a:avLst/>
          </a:prstGeom>
          <a:solidFill>
            <a:srgbClr val="F8F9FB"/>
          </a:solidFill>
          <a:ln w="12700">
            <a:solidFill>
              <a:srgbClr val="E0E0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1371600"/>
            <a:ext cx="1051560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40000"/>
              </a:lnSpc>
              <a:spcBef>
                <a:spcPts val="600"/>
              </a:spcBef>
              <a:spcAft>
                <a:spcPts val="200"/>
              </a:spcAft>
              <a:defRPr sz="1600">
                <a:solidFill>
                  <a:srgbClr val="1F1F1F"/>
                </a:solidFill>
                <a:latin typeface="맑은 고딕"/>
              </a:defRPr>
            </a:pPr>
            <a:r>
              <a:t>8-에이전트 사전 코드리뷰: 서버 실행 전 버그 6건 일괄 발견 — 단독 리뷰였으면 1~2건 수준</a:t>
            </a:r>
          </a:p>
          <a:p>
            <a:pPr>
              <a:lnSpc>
                <a:spcPct val="140000"/>
              </a:lnSpc>
              <a:spcBef>
                <a:spcPts val="600"/>
              </a:spcBef>
              <a:spcAft>
                <a:spcPts val="200"/>
              </a:spcAft>
              <a:defRPr sz="1600">
                <a:solidFill>
                  <a:srgbClr val="1F1F1F"/>
                </a:solidFill>
                <a:latin typeface="맑은 고딕"/>
              </a:defRPr>
            </a:pPr>
            <a:r>
              <a:t>8-에이전트 종합 감사: 40여 이슈 — 최고 심각도는 권한 우회(비소속 운영자가 서버 전원 리셋·메모리 정보 변조 가능) → 전 라우트 정책 통일</a:t>
            </a:r>
          </a:p>
          <a:p>
            <a:pPr>
              <a:lnSpc>
                <a:spcPct val="140000"/>
              </a:lnSpc>
              <a:spcBef>
                <a:spcPts val="600"/>
              </a:spcBef>
              <a:spcAft>
                <a:spcPts val="200"/>
              </a:spcAft>
              <a:defRPr sz="1600">
                <a:solidFill>
                  <a:srgbClr val="1F1F1F"/>
                </a:solidFill>
                <a:latin typeface="맑은 고딕"/>
              </a:defRPr>
            </a:pPr>
            <a:r>
              <a:t>UML 설계 추적 감사: 다이어그램을 그리려 코드를 역추적하는 과정 자체가 설계 허점 19건을 드러냄 → 보안 5건 당일 수정</a:t>
            </a:r>
          </a:p>
          <a:p>
            <a:pPr lvl="1">
              <a:lnSpc>
                <a:spcPct val="140000"/>
              </a:lnSpc>
              <a:spcBef>
                <a:spcPts val="200"/>
              </a:spcBef>
              <a:spcAft>
                <a:spcPts val="200"/>
              </a:spcAft>
              <a:defRPr sz="1500">
                <a:solidFill>
                  <a:srgbClr val="8C8C9A"/>
                </a:solidFill>
                <a:latin typeface="맑은 고딕"/>
              </a:defRPr>
            </a:pPr>
            <a:r>
              <a:t>“UML은 그림이 아니라 감사 도구였다”</a:t>
            </a:r>
          </a:p>
          <a:p>
            <a:pPr>
              <a:lnSpc>
                <a:spcPct val="140000"/>
              </a:lnSpc>
              <a:spcBef>
                <a:spcPts val="600"/>
              </a:spcBef>
              <a:spcAft>
                <a:spcPts val="200"/>
              </a:spcAft>
              <a:defRPr sz="1600">
                <a:solidFill>
                  <a:srgbClr val="1F1F1F"/>
                </a:solidFill>
                <a:latin typeface="맑은 고딕"/>
              </a:defRPr>
            </a:pPr>
            <a:r>
              <a:t>합계: 이슈 65건+ 선제 발견, 그중 보안·권한 우회 7건 수정 — 전부 파일:라인 근거와 함께 문서화 (검증 가능한 기록)</a:t>
            </a:r>
          </a:p>
          <a:p>
            <a:pPr>
              <a:lnSpc>
                <a:spcPct val="140000"/>
              </a:lnSpc>
              <a:spcBef>
                <a:spcPts val="600"/>
              </a:spcBef>
              <a:spcAft>
                <a:spcPts val="200"/>
              </a:spcAft>
              <a:defRPr sz="1600">
                <a:solidFill>
                  <a:srgbClr val="1F1F1F"/>
                </a:solidFill>
                <a:latin typeface="맑은 고딕"/>
              </a:defRPr>
            </a:pPr>
          </a:p>
          <a:p>
            <a:pPr>
              <a:lnSpc>
                <a:spcPct val="140000"/>
              </a:lnSpc>
              <a:spcBef>
                <a:spcPts val="600"/>
              </a:spcBef>
              <a:spcAft>
                <a:spcPts val="200"/>
              </a:spcAft>
              <a:defRPr sz="1600">
                <a:solidFill>
                  <a:srgbClr val="1F1F1F"/>
                </a:solidFill>
                <a:latin typeface="맑은 고딕"/>
              </a:defRPr>
            </a:pPr>
            <a:r>
              <a:t>운영 장애 대응: 운영 DB 중단 사고 → 8-에이전트 진단으로 데이터 손실 0 복구 + 재발 방지 명문화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0" y="649224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8C8C9A"/>
                </a:solidFill>
                <a:latin typeface="맑은 고딕"/>
              </a:defRPr>
            </a:pPr>
            <a:r>
              <a:t>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5720"/>
          </a:xfrm>
          <a:prstGeom prst="rect">
            <a:avLst/>
          </a:prstGeom>
          <a:solidFill>
            <a:srgbClr val="DC2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1F1F1F"/>
                </a:solidFill>
                <a:latin typeface="맑은 고딕"/>
              </a:defRPr>
            </a:pPr>
            <a:r>
              <a:t>실증 ② — 월별 수정(fix) 커밋 비율 추이 (git 실측)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914400"/>
            <a:ext cx="1828800" cy="32004"/>
          </a:xfrm>
          <a:prstGeom prst="rect">
            <a:avLst/>
          </a:prstGeom>
          <a:solidFill>
            <a:srgbClr val="DC2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94360" y="1234440"/>
          <a:ext cx="10972800" cy="2514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97280"/>
                <a:gridCol w="1645920"/>
                <a:gridCol w="1280160"/>
                <a:gridCol w="1463040"/>
                <a:gridCol w="5486400"/>
              </a:tblGrid>
              <a:tr h="502920"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맑은 고딕"/>
                        </a:defRPr>
                      </a:pPr>
                      <a:r>
                        <a:t>월</a:t>
                      </a:r>
                    </a:p>
                  </a:txBody>
                  <a:tcPr>
                    <a:solidFill>
                      <a:srgbClr val="DC2E2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맑은 고딕"/>
                        </a:defRPr>
                      </a:pPr>
                      <a:r>
                        <a:t>전체 커밋</a:t>
                      </a:r>
                    </a:p>
                  </a:txBody>
                  <a:tcPr>
                    <a:solidFill>
                      <a:srgbClr val="DC2E2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맑은 고딕"/>
                        </a:defRPr>
                      </a:pPr>
                      <a:r>
                        <a:t>fix</a:t>
                      </a:r>
                    </a:p>
                  </a:txBody>
                  <a:tcPr>
                    <a:solidFill>
                      <a:srgbClr val="DC2E2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맑은 고딕"/>
                        </a:defRPr>
                      </a:pPr>
                      <a:r>
                        <a:t>비율</a:t>
                      </a:r>
                    </a:p>
                  </a:txBody>
                  <a:tcPr>
                    <a:solidFill>
                      <a:srgbClr val="DC2E2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맑은 고딕"/>
                        </a:defRPr>
                      </a:pPr>
                      <a:r>
                        <a:t>해석</a:t>
                      </a:r>
                    </a:p>
                  </a:txBody>
                  <a:tcPr>
                    <a:solidFill>
                      <a:srgbClr val="DC2E2E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F1F1F"/>
                          </a:solidFill>
                          <a:latin typeface="맑은 고딕"/>
                        </a:defRPr>
                      </a:pPr>
                      <a:r>
                        <a:t>4월</a:t>
                      </a:r>
                    </a:p>
                  </a:txBody>
                  <a:tcPr>
                    <a:solidFill>
                      <a:srgbClr val="F8F9FB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200">
                          <a:solidFill>
                            <a:srgbClr val="1F1F1F"/>
                          </a:solidFill>
                          <a:latin typeface="맑은 고딕"/>
                        </a:defRPr>
                      </a:pPr>
                      <a:r>
                        <a:t>102</a:t>
                      </a:r>
                    </a:p>
                  </a:txBody>
                  <a:tcPr>
                    <a:solidFill>
                      <a:srgbClr val="F8F9FB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200">
                          <a:solidFill>
                            <a:srgbClr val="1F1F1F"/>
                          </a:solidFill>
                          <a:latin typeface="맑은 고딕"/>
                        </a:defRPr>
                      </a:pPr>
                      <a:r>
                        <a:t>39</a:t>
                      </a:r>
                    </a:p>
                  </a:txBody>
                  <a:tcPr>
                    <a:solidFill>
                      <a:srgbClr val="F8F9FB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200">
                          <a:solidFill>
                            <a:srgbClr val="1F1F1F"/>
                          </a:solidFill>
                          <a:latin typeface="맑은 고딕"/>
                        </a:defRPr>
                      </a:pPr>
                      <a:r>
                        <a:t>38.2%</a:t>
                      </a:r>
                    </a:p>
                  </a:txBody>
                  <a:tcPr>
                    <a:solidFill>
                      <a:srgbClr val="F8F9FB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200">
                          <a:solidFill>
                            <a:srgbClr val="1F1F1F"/>
                          </a:solidFill>
                          <a:latin typeface="맑은 고딕"/>
                        </a:defRPr>
                      </a:pPr>
                      <a:r>
                        <a:t>추측 코딩의 대가 — 실데이터 고통기</a:t>
                      </a:r>
                    </a:p>
                  </a:txBody>
                  <a:tcPr>
                    <a:solidFill>
                      <a:srgbClr val="F8F9FB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F1F1F"/>
                          </a:solidFill>
                          <a:latin typeface="맑은 고딕"/>
                        </a:defRPr>
                      </a:pPr>
                      <a:r>
                        <a:t>5월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200">
                          <a:solidFill>
                            <a:srgbClr val="1F1F1F"/>
                          </a:solidFill>
                          <a:latin typeface="맑은 고딕"/>
                        </a:defRPr>
                      </a:pPr>
                      <a:r>
                        <a:t>165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200">
                          <a:solidFill>
                            <a:srgbClr val="1F1F1F"/>
                          </a:solidFill>
                          <a:latin typeface="맑은 고딕"/>
                        </a:defRPr>
                      </a:pPr>
                      <a:r>
                        <a:t>29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200">
                          <a:solidFill>
                            <a:srgbClr val="1F1F1F"/>
                          </a:solidFill>
                          <a:latin typeface="맑은 고딕"/>
                        </a:defRPr>
                      </a:pPr>
                      <a:r>
                        <a:t>17.6%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200">
                          <a:solidFill>
                            <a:srgbClr val="1F1F1F"/>
                          </a:solidFill>
                          <a:latin typeface="맑은 고딕"/>
                        </a:defRPr>
                      </a:pPr>
                      <a:r>
                        <a:t>Data-First 규칙 정착 → 절반 이하로 감소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F1F1F"/>
                          </a:solidFill>
                          <a:latin typeface="맑은 고딕"/>
                        </a:defRPr>
                      </a:pPr>
                      <a:r>
                        <a:t>6월</a:t>
                      </a:r>
                    </a:p>
                  </a:txBody>
                  <a:tcPr>
                    <a:solidFill>
                      <a:srgbClr val="F8F9FB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200">
                          <a:solidFill>
                            <a:srgbClr val="1F1F1F"/>
                          </a:solidFill>
                          <a:latin typeface="맑은 고딕"/>
                        </a:defRPr>
                      </a:pPr>
                      <a:r>
                        <a:t>303</a:t>
                      </a:r>
                    </a:p>
                  </a:txBody>
                  <a:tcPr>
                    <a:solidFill>
                      <a:srgbClr val="F8F9FB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200">
                          <a:solidFill>
                            <a:srgbClr val="1F1F1F"/>
                          </a:solidFill>
                          <a:latin typeface="맑은 고딕"/>
                        </a:defRPr>
                      </a:pPr>
                      <a:r>
                        <a:t>64</a:t>
                      </a:r>
                    </a:p>
                  </a:txBody>
                  <a:tcPr>
                    <a:solidFill>
                      <a:srgbClr val="F8F9FB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200">
                          <a:solidFill>
                            <a:srgbClr val="1F1F1F"/>
                          </a:solidFill>
                          <a:latin typeface="맑은 고딕"/>
                        </a:defRPr>
                      </a:pPr>
                      <a:r>
                        <a:t>21.1%</a:t>
                      </a:r>
                    </a:p>
                  </a:txBody>
                  <a:tcPr>
                    <a:solidFill>
                      <a:srgbClr val="F8F9FB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200">
                          <a:solidFill>
                            <a:srgbClr val="1F1F1F"/>
                          </a:solidFill>
                          <a:latin typeface="맑은 고딕"/>
                        </a:defRPr>
                      </a:pPr>
                      <a:r>
                        <a:t>반등은 퇴보가 아니라 릴리즈 전 의도된 버그 사냥 (감사 배치 수정)</a:t>
                      </a:r>
                    </a:p>
                  </a:txBody>
                  <a:tcPr>
                    <a:solidFill>
                      <a:srgbClr val="F8F9FB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F1F1F"/>
                          </a:solidFill>
                          <a:latin typeface="맑은 고딕"/>
                        </a:defRPr>
                      </a:pPr>
                      <a:r>
                        <a:t>7월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200">
                          <a:solidFill>
                            <a:srgbClr val="1F1F1F"/>
                          </a:solidFill>
                          <a:latin typeface="맑은 고딕"/>
                        </a:defRPr>
                      </a:pPr>
                      <a:r>
                        <a:t>11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200">
                          <a:solidFill>
                            <a:srgbClr val="1F1F1F"/>
                          </a:solidFill>
                          <a:latin typeface="맑은 고딕"/>
                        </a:defRPr>
                      </a:pPr>
                      <a: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200">
                          <a:solidFill>
                            <a:srgbClr val="1F1F1F"/>
                          </a:solidFill>
                          <a:latin typeface="맑은 고딕"/>
                        </a:defRPr>
                      </a:pPr>
                      <a:r>
                        <a:t>9.1%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200">
                          <a:solidFill>
                            <a:srgbClr val="1F1F1F"/>
                          </a:solidFill>
                          <a:latin typeface="맑은 고딕"/>
                        </a:defRPr>
                      </a:pPr>
                      <a:r>
                        <a:t>릴리즈 후 안정화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94360" y="3858768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8C8C9A"/>
                </a:solidFill>
                <a:latin typeface="맑은 고딕"/>
              </a:defRPr>
            </a:pPr>
            <a:r>
              <a:t>※ 스토리: 규칙 도입으로 fix 반토막(38→18%) → 6월 반등은 자체 감사가 선제 발견한 수정 (커밋명 'Fix audit findings batch 1~5'가 증거) → 7월 9%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0" y="649224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8C8C9A"/>
                </a:solidFill>
                <a:latin typeface="맑은 고딕"/>
              </a:defRPr>
            </a:pPr>
            <a:r>
              <a:t>21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5720"/>
          </a:xfrm>
          <a:prstGeom prst="rect">
            <a:avLst/>
          </a:prstGeom>
          <a:solidFill>
            <a:srgbClr val="DC2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1F1F1F"/>
                </a:solidFill>
                <a:latin typeface="맑은 고딕"/>
              </a:defRPr>
            </a:pPr>
            <a:r>
              <a:t>정직한 한계와 다음 투자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914400"/>
            <a:ext cx="1828800" cy="32004"/>
          </a:xfrm>
          <a:prstGeom prst="rect">
            <a:avLst/>
          </a:prstGeom>
          <a:solidFill>
            <a:srgbClr val="DC2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457200" y="1188720"/>
            <a:ext cx="5394960" cy="5212080"/>
          </a:xfrm>
          <a:prstGeom prst="roundRect">
            <a:avLst/>
          </a:prstGeom>
          <a:solidFill>
            <a:srgbClr val="F8F9FB"/>
          </a:solidFill>
          <a:ln w="12700">
            <a:solidFill>
              <a:srgbClr val="E0E0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1280160"/>
            <a:ext cx="4846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DC2E2E"/>
                </a:solidFill>
                <a:latin typeface="맑은 고딕"/>
              </a:defRPr>
            </a:pPr>
            <a:r>
              <a:t>한계 (스스로 계량해 공개)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737360"/>
            <a:ext cx="484632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35000"/>
              </a:lnSpc>
              <a:spcBef>
                <a:spcPts val="600"/>
              </a:spcBef>
              <a:spcAft>
                <a:spcPts val="200"/>
              </a:spcAft>
              <a:defRPr sz="1400">
                <a:solidFill>
                  <a:srgbClr val="1F1F1F"/>
                </a:solidFill>
                <a:latin typeface="맑은 고딕"/>
              </a:defRPr>
            </a:pPr>
            <a:r>
              <a:t>API 라우트 74개 중 테스트 1개 (1.4%)</a:t>
            </a:r>
          </a:p>
          <a:p>
            <a:pPr>
              <a:lnSpc>
                <a:spcPct val="135000"/>
              </a:lnSpc>
              <a:spcBef>
                <a:spcPts val="600"/>
              </a:spcBef>
              <a:spcAft>
                <a:spcPts val="200"/>
              </a:spcAft>
              <a:defRPr sz="1400">
                <a:solidFill>
                  <a:srgbClr val="1F1F1F"/>
                </a:solidFill>
                <a:latin typeface="맑은 고딕"/>
              </a:defRPr>
            </a:pPr>
            <a:r>
              <a:t>화면 렌더링 테스트 0개, E2E 1스펙</a:t>
            </a:r>
          </a:p>
          <a:p>
            <a:pPr>
              <a:lnSpc>
                <a:spcPct val="135000"/>
              </a:lnSpc>
              <a:spcBef>
                <a:spcPts val="600"/>
              </a:spcBef>
              <a:spcAft>
                <a:spcPts val="200"/>
              </a:spcAft>
              <a:defRPr sz="1400">
                <a:solidFill>
                  <a:srgbClr val="1F1F1F"/>
                </a:solidFill>
                <a:latin typeface="맑은 고딕"/>
              </a:defRPr>
            </a:pPr>
            <a:r>
              <a:t>권한 우회 결함도 이 무테스트 공백에서 발생</a:t>
            </a:r>
          </a:p>
          <a:p>
            <a:pPr>
              <a:lnSpc>
                <a:spcPct val="135000"/>
              </a:lnSpc>
              <a:spcBef>
                <a:spcPts val="600"/>
              </a:spcBef>
              <a:spcAft>
                <a:spcPts val="200"/>
              </a:spcAft>
              <a:defRPr sz="1400">
                <a:solidFill>
                  <a:srgbClr val="1F1F1F"/>
                </a:solidFill>
                <a:latin typeface="맑은 고딕"/>
              </a:defRPr>
            </a:pPr>
            <a:r>
              <a:t>리팩터링 3건 — 기능 속도 우선의 대가</a:t>
            </a:r>
          </a:p>
          <a:p>
            <a:pPr>
              <a:lnSpc>
                <a:spcPct val="135000"/>
              </a:lnSpc>
              <a:spcBef>
                <a:spcPts val="600"/>
              </a:spcBef>
              <a:spcAft>
                <a:spcPts val="200"/>
              </a:spcAft>
              <a:defRPr sz="1400">
                <a:solidFill>
                  <a:srgbClr val="1F1F1F"/>
                </a:solidFill>
                <a:latin typeface="맑은 고딕"/>
              </a:defRPr>
            </a:pPr>
            <a:r>
              <a:t>발표 팁: 한계를 먼저 말하면 질의응답에서 방어할 필요가 없다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309360" y="1188720"/>
            <a:ext cx="5394960" cy="5212080"/>
          </a:xfrm>
          <a:prstGeom prst="roundRect">
            <a:avLst/>
          </a:prstGeom>
          <a:solidFill>
            <a:srgbClr val="F8F9FB"/>
          </a:solidFill>
          <a:ln w="12700">
            <a:solidFill>
              <a:srgbClr val="E0E0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83680" y="1280160"/>
            <a:ext cx="4846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DC2E2E"/>
                </a:solidFill>
                <a:latin typeface="맑은 고딕"/>
              </a:defRPr>
            </a:pPr>
            <a:r>
              <a:t>v1.0 투자 계획 (위험도순)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0" y="1737360"/>
            <a:ext cx="484632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35000"/>
              </a:lnSpc>
              <a:spcBef>
                <a:spcPts val="600"/>
              </a:spcBef>
              <a:spcAft>
                <a:spcPts val="200"/>
              </a:spcAft>
              <a:defRPr sz="1400">
                <a:solidFill>
                  <a:srgbClr val="1F1F1F"/>
                </a:solidFill>
                <a:latin typeface="맑은 고딕"/>
              </a:defRPr>
            </a:pPr>
            <a:r>
              <a:t>① RBAC 권한 게이트 테스트 (보안 직결)</a:t>
            </a:r>
          </a:p>
          <a:p>
            <a:pPr>
              <a:lnSpc>
                <a:spcPct val="135000"/>
              </a:lnSpc>
              <a:spcBef>
                <a:spcPts val="600"/>
              </a:spcBef>
              <a:spcAft>
                <a:spcPts val="200"/>
              </a:spcAft>
              <a:defRPr sz="1400">
                <a:solidFill>
                  <a:srgbClr val="1F1F1F"/>
                </a:solidFill>
                <a:latin typeface="맑은 고딕"/>
              </a:defRPr>
            </a:pPr>
            <a:r>
              <a:t>② 알림 엔진 상태 전이 테스트</a:t>
            </a:r>
          </a:p>
          <a:p>
            <a:pPr>
              <a:lnSpc>
                <a:spcPct val="135000"/>
              </a:lnSpc>
              <a:spcBef>
                <a:spcPts val="600"/>
              </a:spcBef>
              <a:spcAft>
                <a:spcPts val="200"/>
              </a:spcAft>
              <a:defRPr sz="1400">
                <a:solidFill>
                  <a:srgbClr val="1F1F1F"/>
                </a:solidFill>
                <a:latin typeface="맑은 고딕"/>
              </a:defRPr>
            </a:pPr>
            <a:r>
              <a:t>③ 전원 제어 흐름 테스트 (장비 오정지 방지)</a:t>
            </a:r>
          </a:p>
          <a:p>
            <a:pPr>
              <a:lnSpc>
                <a:spcPct val="135000"/>
              </a:lnSpc>
              <a:spcBef>
                <a:spcPts val="600"/>
              </a:spcBef>
              <a:spcAft>
                <a:spcPts val="200"/>
              </a:spcAft>
              <a:defRPr sz="1400">
                <a:solidFill>
                  <a:srgbClr val="1F1F1F"/>
                </a:solidFill>
                <a:latin typeface="맑은 고딕"/>
              </a:defRPr>
            </a:pPr>
            <a:r>
              <a:t>이월 보안 항목: 알림 조직 필터(S3) 등 — 사유까지 문서화 완료</a:t>
            </a:r>
          </a:p>
          <a:p>
            <a:pPr>
              <a:lnSpc>
                <a:spcPct val="135000"/>
              </a:lnSpc>
              <a:spcBef>
                <a:spcPts val="600"/>
              </a:spcBef>
              <a:spcAft>
                <a:spcPts val="200"/>
              </a:spcAft>
              <a:defRPr sz="1400">
                <a:solidFill>
                  <a:srgbClr val="1F1F1F"/>
                </a:solidFill>
                <a:latin typeface="맑은 고딕"/>
              </a:defRPr>
            </a:pPr>
            <a:r>
              <a:t>실패→규칙→도구 선순환 지속 (예: DB 사고 → 위험 명령 차단 훅)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72800" y="649224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8C8C9A"/>
                </a:solidFill>
                <a:latin typeface="맑은 고딕"/>
              </a:defRPr>
            </a:pPr>
            <a:r>
              <a:t>22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371600" y="2011680"/>
            <a:ext cx="1097280" cy="1097280"/>
          </a:xfrm>
          <a:prstGeom prst="ellipse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spcBef>
                <a:spcPts val="1200"/>
              </a:spcBef>
              <a:defRPr sz="3600" b="1">
                <a:solidFill>
                  <a:srgbClr val="FFFFFF"/>
                </a:solidFill>
                <a:latin typeface="맑은 고딕"/>
              </a:defRPr>
            </a:pPr>
            <a:r>
              <a:t>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926080" y="1828800"/>
            <a:ext cx="8229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4000" b="1">
                <a:solidFill>
                  <a:srgbClr val="1F1F1F"/>
                </a:solidFill>
                <a:latin typeface="맑은 고딕"/>
              </a:defRPr>
            </a:pPr>
            <a:r>
              <a:t>향후 운영 계획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26080" y="2926080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5A5A6E"/>
                </a:solidFill>
                <a:latin typeface="맑은 고딕"/>
              </a:defRPr>
            </a:pPr>
            <a:r>
              <a:t>이미 갖춰진 체계 + 신규 과제 7건</a:t>
            </a:r>
          </a:p>
        </p:txBody>
      </p:sp>
      <p:sp>
        <p:nvSpPr>
          <p:cNvPr id="6" name="Rectangle 5"/>
          <p:cNvSpPr/>
          <p:nvPr/>
        </p:nvSpPr>
        <p:spPr>
          <a:xfrm>
            <a:off x="2926080" y="3657600"/>
            <a:ext cx="3657600" cy="36576"/>
          </a:xfrm>
          <a:prstGeom prst="rect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748272"/>
            <a:ext cx="12191695" cy="54864"/>
          </a:xfrm>
          <a:prstGeom prst="rect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5720"/>
          </a:xfrm>
          <a:prstGeom prst="rect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1F1F1F"/>
                </a:solidFill>
                <a:latin typeface="맑은 고딕"/>
              </a:defRPr>
            </a:pPr>
            <a:r>
              <a:t>운영 체계 — 대부분 이미 문서·스크립트로 구축됨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914400"/>
            <a:ext cx="1828800" cy="32004"/>
          </a:xfrm>
          <a:prstGeom prst="rect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94360" y="1234440"/>
          <a:ext cx="10972800" cy="460857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45920"/>
                <a:gridCol w="5486400"/>
                <a:gridCol w="3840480"/>
              </a:tblGrid>
              <a:tr h="658368"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맑은 고딕"/>
                        </a:defRPr>
                      </a:pPr>
                      <a:r>
                        <a:t>영역</a:t>
                      </a:r>
                    </a:p>
                  </a:txBody>
                  <a:tcPr>
                    <a:solidFill>
                      <a:srgbClr val="16A34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맑은 고딕"/>
                        </a:defRPr>
                      </a:pPr>
                      <a:r>
                        <a:t>현행 (구축 완료)</a:t>
                      </a:r>
                    </a:p>
                  </a:txBody>
                  <a:tcPr>
                    <a:solidFill>
                      <a:srgbClr val="16A34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맑은 고딕"/>
                        </a:defRPr>
                      </a:pPr>
                      <a:r>
                        <a:t>신규 과제</a:t>
                      </a:r>
                    </a:p>
                  </a:txBody>
                  <a:tcPr>
                    <a:solidFill>
                      <a:srgbClr val="16A34A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F1F1F"/>
                          </a:solidFill>
                          <a:latin typeface="맑은 고딕"/>
                        </a:defRPr>
                      </a:pPr>
                      <a:r>
                        <a:t>정기 점검</a:t>
                      </a:r>
                    </a:p>
                  </a:txBody>
                  <a:tcPr>
                    <a:solidFill>
                      <a:srgbClr val="F8F9FB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100">
                          <a:solidFill>
                            <a:srgbClr val="1F1F1F"/>
                          </a:solidFill>
                          <a:latin typeface="맑은 고딕"/>
                        </a:defRPr>
                      </a:pPr>
                      <a:r>
                        <a:t>일/주/월 체크리스트 문서화 (헬스·백업·디스크·타겟·커넥션)</a:t>
                      </a:r>
                    </a:p>
                  </a:txBody>
                  <a:tcPr>
                    <a:solidFill>
                      <a:srgbClr val="F8F9FB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100">
                          <a:solidFill>
                            <a:srgbClr val="1F1F1F"/>
                          </a:solidFill>
                          <a:latin typeface="맑은 고딕"/>
                        </a:defRPr>
                      </a:pPr>
                      <a:r>
                        <a:t>원커맨드 일일점검 스크립트</a:t>
                      </a:r>
                    </a:p>
                  </a:txBody>
                  <a:tcPr>
                    <a:solidFill>
                      <a:srgbClr val="F8F9FB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F1F1F"/>
                          </a:solidFill>
                          <a:latin typeface="맑은 고딕"/>
                        </a:defRPr>
                      </a:pPr>
                      <a:r>
                        <a:t>장애 대응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100">
                          <a:solidFill>
                            <a:srgbClr val="1F1F1F"/>
                          </a:solidFill>
                          <a:latin typeface="맑은 고딕"/>
                        </a:defRPr>
                      </a:pPr>
                      <a:r>
                        <a:t>시나리오 20종+엣지 6종 매뉴얼, P0~P3 등급(15분~당일), 대화형 복구 도구, 에스컬레이션 4단계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100">
                          <a:solidFill>
                            <a:srgbClr val="1F1F1F"/>
                          </a:solidFill>
                          <a:latin typeface="맑은 고딕"/>
                        </a:defRPr>
                      </a:pPr>
                      <a:r>
                        <a:t>장애 기록 대장, 절차 일부 현행화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F1F1F"/>
                          </a:solidFill>
                          <a:latin typeface="맑은 고딕"/>
                        </a:defRPr>
                      </a:pPr>
                      <a:r>
                        <a:t>백업·복구</a:t>
                      </a:r>
                    </a:p>
                  </a:txBody>
                  <a:tcPr>
                    <a:solidFill>
                      <a:srgbClr val="F8F9FB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100">
                          <a:solidFill>
                            <a:srgbClr val="1F1F1F"/>
                          </a:solidFill>
                          <a:latin typeface="맑은 고딕"/>
                        </a:defRPr>
                      </a:pPr>
                      <a:r>
                        <a:t>매일 03:00 자동 백업(7일 보관)+사전백업 복원 절차+로그로테이션</a:t>
                      </a:r>
                    </a:p>
                  </a:txBody>
                  <a:tcPr>
                    <a:solidFill>
                      <a:srgbClr val="F8F9FB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100">
                          <a:solidFill>
                            <a:srgbClr val="1F1F1F"/>
                          </a:solidFill>
                          <a:latin typeface="맑은 고딕"/>
                        </a:defRPr>
                      </a:pPr>
                      <a:r>
                        <a:t>2차 위치(NFS)·장기 보관·분기 복원 리허설</a:t>
                      </a:r>
                    </a:p>
                  </a:txBody>
                  <a:tcPr>
                    <a:solidFill>
                      <a:srgbClr val="F8F9FB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F1F1F"/>
                          </a:solidFill>
                          <a:latin typeface="맑은 고딕"/>
                        </a:defRPr>
                      </a:pPr>
                      <a:r>
                        <a:t>릴리즈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100">
                          <a:solidFill>
                            <a:srgbClr val="1F1F1F"/>
                          </a:solidFill>
                          <a:latin typeface="맑은 고딕"/>
                        </a:defRPr>
                      </a:pPr>
                      <a:r>
                        <a:t>v0.9 확정(PR 머지+현장 검증) → v1.0(보안 이월+알려진 이슈 3건+테스트 보강)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100">
                          <a:solidFill>
                            <a:srgbClr val="1F1F1F"/>
                          </a:solidFill>
                          <a:latin typeface="맑은 고딕"/>
                        </a:defRPr>
                      </a:pPr>
                      <a:r>
                        <a:t>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F1F1F"/>
                          </a:solidFill>
                          <a:latin typeface="맑은 고딕"/>
                        </a:defRPr>
                      </a:pPr>
                      <a:r>
                        <a:t>사용자 지원</a:t>
                      </a:r>
                    </a:p>
                  </a:txBody>
                  <a:tcPr>
                    <a:solidFill>
                      <a:srgbClr val="F8F9FB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100">
                          <a:solidFill>
                            <a:srgbClr val="1F1F1F"/>
                          </a:solidFill>
                          <a:latin typeface="맑은 고딕"/>
                        </a:defRPr>
                      </a:pPr>
                      <a:r>
                        <a:t>매뉴얼 PPT 56슬라이드·사용 가이드 문서</a:t>
                      </a:r>
                    </a:p>
                  </a:txBody>
                  <a:tcPr>
                    <a:solidFill>
                      <a:srgbClr val="F8F9FB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100">
                          <a:solidFill>
                            <a:srgbClr val="1F1F1F"/>
                          </a:solidFill>
                          <a:latin typeface="맑은 고딕"/>
                        </a:defRPr>
                      </a:pPr>
                      <a:r>
                        <a:t>앱 내 피드백 접수(버그/요청/정정 3분류)</a:t>
                      </a:r>
                    </a:p>
                  </a:txBody>
                  <a:tcPr>
                    <a:solidFill>
                      <a:srgbClr val="F8F9FB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F1F1F"/>
                          </a:solidFill>
                          <a:latin typeface="맑은 고딕"/>
                        </a:defRPr>
                      </a:pPr>
                      <a:r>
                        <a:t>1인 운영 리스크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100">
                          <a:solidFill>
                            <a:srgbClr val="1F1F1F"/>
                          </a:solidFill>
                          <a:latin typeface="맑은 고딕"/>
                        </a:defRPr>
                      </a:pPr>
                      <a:r>
                        <a:t>인수인계 문서 체계(핸드오버·문서지도·장애 매뉴얼)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100">
                          <a:solidFill>
                            <a:srgbClr val="1F1F1F"/>
                          </a:solidFill>
                          <a:latin typeface="맑은 고딕"/>
                        </a:defRPr>
                      </a:pPr>
                      <a:r>
                        <a:t>백업 담당자 1명 지정+30분 교육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10972800" y="649224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8C8C9A"/>
                </a:solidFill>
                <a:latin typeface="맑은 고딕"/>
              </a:defRPr>
            </a:pPr>
            <a:r>
              <a:t>24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5720"/>
          </a:xfrm>
          <a:prstGeom prst="rect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1F1F1F"/>
                </a:solidFill>
                <a:latin typeface="맑은 고딕"/>
              </a:defRPr>
            </a:pPr>
            <a:r>
              <a:t>릴리즈 로드맵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914400"/>
            <a:ext cx="1828800" cy="32004"/>
          </a:xfrm>
          <a:prstGeom prst="rect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457200" y="1188720"/>
            <a:ext cx="11247120" cy="5212080"/>
          </a:xfrm>
          <a:prstGeom prst="roundRect">
            <a:avLst/>
          </a:prstGeom>
          <a:solidFill>
            <a:srgbClr val="F8F9FB"/>
          </a:solidFill>
          <a:ln w="12700">
            <a:solidFill>
              <a:srgbClr val="E0E0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1371600"/>
            <a:ext cx="1051560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40000"/>
              </a:lnSpc>
              <a:spcBef>
                <a:spcPts val="600"/>
              </a:spcBef>
              <a:spcAft>
                <a:spcPts val="200"/>
              </a:spcAft>
              <a:defRPr sz="1600">
                <a:solidFill>
                  <a:srgbClr val="1F1F1F"/>
                </a:solidFill>
                <a:latin typeface="맑은 고딕"/>
              </a:defRPr>
            </a:pPr>
            <a:r>
              <a:t>즉시 — v0.9 확정: PR 머지 + 보안 수정분 현장 검증 + 알림 cron 등록 확인</a:t>
            </a:r>
          </a:p>
          <a:p>
            <a:pPr>
              <a:lnSpc>
                <a:spcPct val="140000"/>
              </a:lnSpc>
              <a:spcBef>
                <a:spcPts val="600"/>
              </a:spcBef>
              <a:spcAft>
                <a:spcPts val="200"/>
              </a:spcAft>
              <a:defRPr sz="1600">
                <a:solidFill>
                  <a:srgbClr val="1F1F1F"/>
                </a:solidFill>
                <a:latin typeface="맑은 고딕"/>
              </a:defRPr>
            </a:pPr>
            <a:r>
              <a:t>v1.0 (다음 단계): 보안 이월(알림 조직 필터, PromQL 화이트리스트) + 권한 정합성·알림 엔진 관측성 개선(S6~S19)</a:t>
            </a:r>
          </a:p>
          <a:p>
            <a:pPr lvl="1">
              <a:lnSpc>
                <a:spcPct val="140000"/>
              </a:lnSpc>
              <a:spcBef>
                <a:spcPts val="200"/>
              </a:spcBef>
              <a:spcAft>
                <a:spcPts val="200"/>
              </a:spcAft>
              <a:defRPr sz="1500">
                <a:solidFill>
                  <a:srgbClr val="8C8C9A"/>
                </a:solidFill>
                <a:latin typeface="맑은 고딕"/>
              </a:defRPr>
            </a:pPr>
            <a:r>
              <a:t>+ 알려진 이슈 3건 (차트 다중 시계열 · 랙 위치 충돌 검증 · 알림 지속시간 조건)</a:t>
            </a:r>
          </a:p>
          <a:p>
            <a:pPr lvl="1">
              <a:lnSpc>
                <a:spcPct val="140000"/>
              </a:lnSpc>
              <a:spcBef>
                <a:spcPts val="200"/>
              </a:spcBef>
              <a:spcAft>
                <a:spcPts val="200"/>
              </a:spcAft>
              <a:defRPr sz="1500">
                <a:solidFill>
                  <a:srgbClr val="8C8C9A"/>
                </a:solidFill>
                <a:latin typeface="맑은 고딕"/>
              </a:defRPr>
            </a:pPr>
            <a:r>
              <a:t>+ 테스트 보강 (RBAC → 알림 → 전원 순, 위험도 기준)</a:t>
            </a:r>
          </a:p>
          <a:p>
            <a:pPr>
              <a:lnSpc>
                <a:spcPct val="140000"/>
              </a:lnSpc>
              <a:spcBef>
                <a:spcPts val="600"/>
              </a:spcBef>
              <a:spcAft>
                <a:spcPts val="200"/>
              </a:spcAft>
              <a:defRPr sz="1600">
                <a:solidFill>
                  <a:srgbClr val="1F1F1F"/>
                </a:solidFill>
                <a:latin typeface="맑은 고딕"/>
              </a:defRPr>
            </a:pPr>
            <a:r>
              <a:t>운영 원칙: 폐쇄망 특성상 모든 복구 절차는 로컬 완결형 유지, 배포는 파일 복사 방식</a:t>
            </a:r>
          </a:p>
          <a:p>
            <a:pPr>
              <a:lnSpc>
                <a:spcPct val="140000"/>
              </a:lnSpc>
              <a:spcBef>
                <a:spcPts val="600"/>
              </a:spcBef>
              <a:spcAft>
                <a:spcPts val="200"/>
              </a:spcAft>
              <a:defRPr sz="1600">
                <a:solidFill>
                  <a:srgbClr val="1F1F1F"/>
                </a:solidFill>
                <a:latin typeface="맑은 고딕"/>
              </a:defRPr>
            </a:pPr>
          </a:p>
          <a:p>
            <a:pPr>
              <a:lnSpc>
                <a:spcPct val="140000"/>
              </a:lnSpc>
              <a:spcBef>
                <a:spcPts val="600"/>
              </a:spcBef>
              <a:spcAft>
                <a:spcPts val="200"/>
              </a:spcAft>
              <a:defRPr sz="1600">
                <a:solidFill>
                  <a:srgbClr val="1F1F1F"/>
                </a:solidFill>
                <a:latin typeface="맑은 고딕"/>
              </a:defRPr>
            </a:pPr>
            <a:r>
              <a:t>상세: docs/operations-plan.md (공청회 배포용 전문)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0" y="649224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8C8C9A"/>
                </a:solidFill>
                <a:latin typeface="맑은 고딕"/>
              </a:defRPr>
            </a:pPr>
            <a:r>
              <a:t>25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371600" y="2011680"/>
            <a:ext cx="1097280" cy="1097280"/>
          </a:xfrm>
          <a:prstGeom prst="ellipse">
            <a:avLst/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spcBef>
                <a:spcPts val="1200"/>
              </a:spcBef>
              <a:defRPr sz="3600" b="1">
                <a:solidFill>
                  <a:srgbClr val="FFFFFF"/>
                </a:solidFill>
                <a:latin typeface="맑은 고딕"/>
              </a:defRPr>
            </a:pPr>
            <a:r>
              <a:t>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926080" y="1828800"/>
            <a:ext cx="8229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4000" b="1">
                <a:solidFill>
                  <a:srgbClr val="1F1F1F"/>
                </a:solidFill>
                <a:latin typeface="맑은 고딕"/>
              </a:defRPr>
            </a:pPr>
            <a:r>
              <a:t>AI 기반 업무 혁신 방향성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26080" y="2926080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5A5A6E"/>
                </a:solidFill>
                <a:latin typeface="맑은 고딕"/>
              </a:defRPr>
            </a:pPr>
            <a:r>
              <a:t>한 사람의 사례에서 조직의 역량으로</a:t>
            </a:r>
          </a:p>
        </p:txBody>
      </p:sp>
      <p:sp>
        <p:nvSpPr>
          <p:cNvPr id="6" name="Rectangle 5"/>
          <p:cNvSpPr/>
          <p:nvPr/>
        </p:nvSpPr>
        <p:spPr>
          <a:xfrm>
            <a:off x="2926080" y="3657600"/>
            <a:ext cx="3657600" cy="36576"/>
          </a:xfrm>
          <a:prstGeom prst="rect">
            <a:avLst/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748272"/>
            <a:ext cx="12191695" cy="54864"/>
          </a:xfrm>
          <a:prstGeom prst="rect">
            <a:avLst/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5720"/>
          </a:xfrm>
          <a:prstGeom prst="rect">
            <a:avLst/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1F1F1F"/>
                </a:solidFill>
                <a:latin typeface="맑은 고딕"/>
              </a:defRPr>
            </a:pPr>
            <a:r>
              <a:t>이 사례가 증명한 것 — 타 업무 적용 시사점 3가지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914400"/>
            <a:ext cx="1828800" cy="32004"/>
          </a:xfrm>
          <a:prstGeom prst="rect">
            <a:avLst/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457200" y="1188720"/>
            <a:ext cx="11247120" cy="5212080"/>
          </a:xfrm>
          <a:prstGeom prst="roundRect">
            <a:avLst/>
          </a:prstGeom>
          <a:solidFill>
            <a:srgbClr val="F8F9FB"/>
          </a:solidFill>
          <a:ln w="12700">
            <a:solidFill>
              <a:srgbClr val="E0E0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1371600"/>
            <a:ext cx="1051560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40000"/>
              </a:lnSpc>
              <a:spcBef>
                <a:spcPts val="600"/>
              </a:spcBef>
              <a:spcAft>
                <a:spcPts val="200"/>
              </a:spcAft>
              <a:defRPr sz="1600">
                <a:solidFill>
                  <a:srgbClr val="1F1F1F"/>
                </a:solidFill>
                <a:latin typeface="맑은 고딕"/>
              </a:defRPr>
            </a:pPr>
            <a:r>
              <a:t>① 규칙 문서(CLAUDE.md)는 “팀의 실패 로그 압축판”으로 시작하라</a:t>
            </a:r>
          </a:p>
          <a:p>
            <a:pPr lvl="1">
              <a:lnSpc>
                <a:spcPct val="140000"/>
              </a:lnSpc>
              <a:spcBef>
                <a:spcPts val="200"/>
              </a:spcBef>
              <a:spcAft>
                <a:spcPts val="200"/>
              </a:spcAft>
              <a:defRPr sz="1500">
                <a:solidFill>
                  <a:srgbClr val="8C8C9A"/>
                </a:solidFill>
                <a:latin typeface="맑은 고딕"/>
              </a:defRPr>
            </a:pPr>
            <a:r>
              <a:t>6개 규칙 전부가 실제 사고에서 탄생 — 템플릿 복사로 시작하면 시행착오 비용이 사라진다</a:t>
            </a:r>
          </a:p>
          <a:p>
            <a:pPr>
              <a:lnSpc>
                <a:spcPct val="140000"/>
              </a:lnSpc>
              <a:spcBef>
                <a:spcPts val="600"/>
              </a:spcBef>
              <a:spcAft>
                <a:spcPts val="200"/>
              </a:spcAft>
              <a:defRPr sz="1600">
                <a:solidFill>
                  <a:srgbClr val="1F1F1F"/>
                </a:solidFill>
                <a:latin typeface="맑은 고딕"/>
              </a:defRPr>
            </a:pPr>
            <a:r>
              <a:t>② 세 번 반복한 프롬프트는 파일(에이전트·스킬·훅)로 만들어라</a:t>
            </a:r>
          </a:p>
          <a:p>
            <a:pPr lvl="1">
              <a:lnSpc>
                <a:spcPct val="140000"/>
              </a:lnSpc>
              <a:spcBef>
                <a:spcPts val="200"/>
              </a:spcBef>
              <a:spcAft>
                <a:spcPts val="200"/>
              </a:spcAft>
              <a:defRPr sz="1500">
                <a:solidFill>
                  <a:srgbClr val="8C8C9A"/>
                </a:solidFill>
                <a:latin typeface="맑은 고딕"/>
              </a:defRPr>
            </a:pPr>
            <a:r>
              <a:t>규칙은 잊히지만 도구는 잊지 않는다 — 말로 못 막은 사고를 훅은 100% 차단</a:t>
            </a:r>
          </a:p>
          <a:p>
            <a:pPr lvl="1">
              <a:lnSpc>
                <a:spcPct val="140000"/>
              </a:lnSpc>
              <a:spcBef>
                <a:spcPts val="200"/>
              </a:spcBef>
              <a:spcAft>
                <a:spcPts val="200"/>
              </a:spcAft>
              <a:defRPr sz="1500">
                <a:solidFill>
                  <a:srgbClr val="8C8C9A"/>
                </a:solidFill>
                <a:latin typeface="맑은 고딕"/>
              </a:defRPr>
            </a:pPr>
            <a:r>
              <a:t>“바이브 코딩의 다음 단계는 프롬프트 엔지니어링이 아니라 워크플로 엔지니어링”</a:t>
            </a:r>
          </a:p>
          <a:p>
            <a:pPr>
              <a:lnSpc>
                <a:spcPct val="140000"/>
              </a:lnSpc>
              <a:spcBef>
                <a:spcPts val="600"/>
              </a:spcBef>
              <a:spcAft>
                <a:spcPts val="200"/>
              </a:spcAft>
              <a:defRPr sz="1600">
                <a:solidFill>
                  <a:srgbClr val="1F1F1F"/>
                </a:solidFill>
                <a:latin typeface="맑은 고딕"/>
              </a:defRPr>
            </a:pPr>
            <a:r>
              <a:t>③ AI 산출물은 AI 병렬 감사로 검증하되, 방향 판단은 사람이 하라</a:t>
            </a:r>
          </a:p>
          <a:p>
            <a:pPr lvl="1">
              <a:lnSpc>
                <a:spcPct val="140000"/>
              </a:lnSpc>
              <a:spcBef>
                <a:spcPts val="200"/>
              </a:spcBef>
              <a:spcAft>
                <a:spcPts val="200"/>
              </a:spcAft>
              <a:defRPr sz="1500">
                <a:solidFill>
                  <a:srgbClr val="8C8C9A"/>
                </a:solidFill>
                <a:latin typeface="맑은 고딕"/>
              </a:defRPr>
            </a:pPr>
            <a:r>
              <a:t>단독 리뷰 1~2건 vs 8-에이전트 레이어 분담 6~40건 — 단, “막다른 길” 판단은 사람만 가능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0" y="649224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8C8C9A"/>
                </a:solidFill>
                <a:latin typeface="맑은 고딕"/>
              </a:defRPr>
            </a:pPr>
            <a:r>
              <a:t>27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5720"/>
          </a:xfrm>
          <a:prstGeom prst="rect">
            <a:avLst/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1F1F1F"/>
                </a:solidFill>
                <a:latin typeface="맑은 고딕"/>
              </a:defRPr>
            </a:pPr>
            <a:r>
              <a:t>조직 확산 제안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914400"/>
            <a:ext cx="1828800" cy="32004"/>
          </a:xfrm>
          <a:prstGeom prst="rect">
            <a:avLst/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457200" y="1188720"/>
            <a:ext cx="5394960" cy="5212080"/>
          </a:xfrm>
          <a:prstGeom prst="roundRect">
            <a:avLst/>
          </a:prstGeom>
          <a:solidFill>
            <a:srgbClr val="F8F9FB"/>
          </a:solidFill>
          <a:ln w="12700">
            <a:solidFill>
              <a:srgbClr val="E0E0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1280160"/>
            <a:ext cx="4846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06B6D4"/>
                </a:solidFill>
                <a:latin typeface="맑은 고딕"/>
              </a:defRPr>
            </a:pPr>
            <a:r>
              <a:t>적용 영역 가이드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737360"/>
            <a:ext cx="484632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35000"/>
              </a:lnSpc>
              <a:spcBef>
                <a:spcPts val="600"/>
              </a:spcBef>
              <a:spcAft>
                <a:spcPts val="200"/>
              </a:spcAft>
              <a:defRPr sz="1400">
                <a:solidFill>
                  <a:srgbClr val="1F1F1F"/>
                </a:solidFill>
                <a:latin typeface="맑은 고딕"/>
              </a:defRPr>
            </a:pPr>
            <a:r>
              <a:t>적합: 내부 관리 도구, 대시보드, PoC, 반복 문서 작업 — 도메인 전문가가 직접 만드는 경우</a:t>
            </a:r>
          </a:p>
          <a:p>
            <a:pPr>
              <a:lnSpc>
                <a:spcPct val="135000"/>
              </a:lnSpc>
              <a:spcBef>
                <a:spcPts val="600"/>
              </a:spcBef>
              <a:spcAft>
                <a:spcPts val="200"/>
              </a:spcAft>
              <a:defRPr sz="1400">
                <a:solidFill>
                  <a:srgbClr val="1F1F1F"/>
                </a:solidFill>
                <a:latin typeface="맑은 고딕"/>
              </a:defRPr>
            </a:pPr>
            <a:r>
              <a:t>부적합: 고객 대면 서비스, 고가용성 프로덕션, 보안 최상위 시스템</a:t>
            </a:r>
          </a:p>
          <a:p>
            <a:pPr>
              <a:lnSpc>
                <a:spcPct val="135000"/>
              </a:lnSpc>
              <a:spcBef>
                <a:spcPts val="600"/>
              </a:spcBef>
              <a:spcAft>
                <a:spcPts val="200"/>
              </a:spcAft>
              <a:defRPr sz="1400">
                <a:solidFill>
                  <a:srgbClr val="1F1F1F"/>
                </a:solidFill>
                <a:latin typeface="맑은 고딕"/>
              </a:defRPr>
            </a:pPr>
            <a:r>
              <a:t>필수 조건 4가지:</a:t>
            </a:r>
          </a:p>
          <a:p>
            <a:pPr lvl="1">
              <a:lnSpc>
                <a:spcPct val="135000"/>
              </a:lnSpc>
              <a:spcBef>
                <a:spcPts val="200"/>
              </a:spcBef>
              <a:spcAft>
                <a:spcPts val="200"/>
              </a:spcAft>
              <a:defRPr sz="1300">
                <a:solidFill>
                  <a:srgbClr val="8C8C9A"/>
                </a:solidFill>
                <a:latin typeface="맑은 고딕"/>
              </a:defRPr>
            </a:pPr>
            <a:r>
              <a:t>규칙 체계(CLAUDE.md) · Data-First 원칙</a:t>
            </a:r>
          </a:p>
          <a:p>
            <a:pPr lvl="1">
              <a:lnSpc>
                <a:spcPct val="135000"/>
              </a:lnSpc>
              <a:spcBef>
                <a:spcPts val="200"/>
              </a:spcBef>
              <a:spcAft>
                <a:spcPts val="200"/>
              </a:spcAft>
              <a:defRPr sz="1300">
                <a:solidFill>
                  <a:srgbClr val="8C8C9A"/>
                </a:solidFill>
                <a:latin typeface="맑은 고딕"/>
              </a:defRPr>
            </a:pPr>
            <a:r>
              <a:t>도메인 지식 감독자 · 단일 진실 공급원 문서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309360" y="1188720"/>
            <a:ext cx="5394960" cy="5212080"/>
          </a:xfrm>
          <a:prstGeom prst="roundRect">
            <a:avLst/>
          </a:prstGeom>
          <a:solidFill>
            <a:srgbClr val="F8F9FB"/>
          </a:solidFill>
          <a:ln w="12700">
            <a:solidFill>
              <a:srgbClr val="E0E0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83680" y="1280160"/>
            <a:ext cx="4846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06B6D4"/>
                </a:solidFill>
                <a:latin typeface="맑은 고딕"/>
              </a:defRPr>
            </a:pPr>
            <a:r>
              <a:t>확산 로드맵 (제안)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0" y="1737360"/>
            <a:ext cx="484632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35000"/>
              </a:lnSpc>
              <a:spcBef>
                <a:spcPts val="600"/>
              </a:spcBef>
              <a:spcAft>
                <a:spcPts val="200"/>
              </a:spcAft>
              <a:defRPr sz="1400">
                <a:solidFill>
                  <a:srgbClr val="1F1F1F"/>
                </a:solidFill>
                <a:latin typeface="맑은 고딕"/>
              </a:defRPr>
            </a:pPr>
            <a:r>
              <a:t>1단계: 본 사례 템플릿 패키지화 — 규칙·에이전트·스킬·훅을 복사 가능한 형태로</a:t>
            </a:r>
          </a:p>
          <a:p>
            <a:pPr>
              <a:lnSpc>
                <a:spcPct val="135000"/>
              </a:lnSpc>
              <a:spcBef>
                <a:spcPts val="600"/>
              </a:spcBef>
              <a:spcAft>
                <a:spcPts val="200"/>
              </a:spcAft>
              <a:defRPr sz="1400">
                <a:solidFill>
                  <a:srgbClr val="1F1F1F"/>
                </a:solidFill>
                <a:latin typeface="맑은 고딕"/>
              </a:defRPr>
            </a:pPr>
            <a:r>
              <a:t>2단계: 파일럿 1~2개 부서 적용 (내부 도구·자동화부터)</a:t>
            </a:r>
          </a:p>
          <a:p>
            <a:pPr>
              <a:lnSpc>
                <a:spcPct val="135000"/>
              </a:lnSpc>
              <a:spcBef>
                <a:spcPts val="600"/>
              </a:spcBef>
              <a:spcAft>
                <a:spcPts val="200"/>
              </a:spcAft>
              <a:defRPr sz="1400">
                <a:solidFill>
                  <a:srgbClr val="1F1F1F"/>
                </a:solidFill>
                <a:latin typeface="맑은 고딕"/>
              </a:defRPr>
            </a:pPr>
            <a:r>
              <a:t>3단계: 사내 가이드·교육 (반나절 과정: 규칙 작성법 + 검증 루틴 + 병렬 감사)</a:t>
            </a:r>
          </a:p>
          <a:p>
            <a:pPr>
              <a:lnSpc>
                <a:spcPct val="135000"/>
              </a:lnSpc>
              <a:spcBef>
                <a:spcPts val="600"/>
              </a:spcBef>
              <a:spcAft>
                <a:spcPts val="200"/>
              </a:spcAft>
              <a:defRPr sz="1400">
                <a:solidFill>
                  <a:srgbClr val="1F1F1F"/>
                </a:solidFill>
                <a:latin typeface="맑은 고딕"/>
              </a:defRPr>
            </a:pPr>
            <a:r>
              <a:t>다음 프로젝트 개선안은 이미 문서화 완료 — 훅 강제·브라우저 검증·플랜 모드·MCP 연동 (docs/next-project-ai-workflow.md)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72800" y="649224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8C8C9A"/>
                </a:solidFill>
                <a:latin typeface="맑은 고딕"/>
              </a:defRPr>
            </a:pPr>
            <a:r>
              <a:t>28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5720"/>
          </a:xfrm>
          <a:prstGeom prst="rect">
            <a:avLst/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371600" y="1371600"/>
            <a:ext cx="9144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0" b="1">
                <a:solidFill>
                  <a:srgbClr val="06B6D4"/>
                </a:solidFill>
                <a:latin typeface="맑은 고딕"/>
              </a:defRPr>
            </a:pPr>
            <a:r>
              <a:t>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828800" y="2103120"/>
            <a:ext cx="86868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0">
                <a:solidFill>
                  <a:srgbClr val="1F1F1F"/>
                </a:solidFill>
                <a:latin typeface="맑은 고딕"/>
              </a:defRPr>
            </a:pPr>
            <a:r>
              <a:t>버그가 없는 소프트웨어는 없습니다. 차이는 ‘누가 먼저 찾느냐’입니다. 우리는 AI에게 먼저 찾게 했습니다.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828800" y="4572000"/>
            <a:ext cx="8686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5A5A6E"/>
                </a:solidFill>
                <a:latin typeface="맑은 고딕"/>
              </a:defRPr>
            </a:pPr>
            <a:r>
              <a:t>— DC Express 프로젝트, 그리고 다음 프로젝트를 향해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748272"/>
            <a:ext cx="12191695" cy="54864"/>
          </a:xfrm>
          <a:prstGeom prst="rect">
            <a:avLst/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972800" y="649224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8C8C9A"/>
                </a:solidFill>
                <a:latin typeface="맑은 고딕"/>
              </a:defRPr>
            </a:pPr>
            <a:r>
              <a:t>29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007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371600" y="2560320"/>
            <a:ext cx="9144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4400" b="1">
                <a:solidFill>
                  <a:srgbClr val="0070C0"/>
                </a:solidFill>
                <a:latin typeface="맑은 고딕"/>
              </a:defRPr>
            </a:pPr>
            <a:r>
              <a:t>감사합니다 — Q&amp;A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71600" y="365760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5A5A6E"/>
                </a:solidFill>
                <a:latin typeface="맑은 고딕"/>
              </a:defRPr>
            </a:pPr>
            <a:r>
              <a:t>상세 산출물: 결과보고서 · 비용 비교 · UML/ERD · 운영 계획 · 다음 프로젝트 개선안 (docs/INDEX.md)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748272"/>
            <a:ext cx="12191695" cy="54864"/>
          </a:xfrm>
          <a:prstGeom prst="rect">
            <a:avLst/>
          </a:prstGeom>
          <a:solidFill>
            <a:srgbClr val="007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