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0070C0"/>
            </a:solidFill>
          </c:spPr>
          <c:dPt>
            <c:idx val="0"/>
            <c:spPr>
              <a:solidFill>
                <a:srgbClr val="0070C0"/>
              </a:solidFill>
            </c:spPr>
          </c:dPt>
          <c:dPt>
            <c:idx val="1"/>
            <c:spPr>
              <a:solidFill>
                <a:srgbClr val="0070C0"/>
              </a:solidFill>
            </c:spPr>
          </c:dPt>
          <c:dPt>
            <c:idx val="2"/>
            <c:spPr>
              <a:solidFill>
                <a:srgbClr val="0070C0"/>
              </a:solidFill>
            </c:spPr>
          </c:dPt>
          <c:dPt>
            <c:idx val="3"/>
            <c:spPr>
              <a:solidFill>
                <a:srgbClr val="0070C0"/>
              </a:solidFill>
            </c:spPr>
          </c:dPt>
          <c:dPt>
            <c:idx val="4"/>
            <c:spPr>
              <a:solidFill>
                <a:srgbClr val="0070C0"/>
              </a:solidFill>
            </c:spPr>
          </c:dPt>
          <c:dPt>
            <c:idx val="5"/>
            <c:spPr>
              <a:solidFill>
                <a:srgbClr val="0070C0"/>
              </a:solidFill>
            </c:spPr>
          </c:dPt>
          <c:dPt>
            <c:idx val="6"/>
            <c:spPr>
              <a:solidFill>
                <a:srgbClr val="0070C0"/>
              </a:solidFill>
            </c:spPr>
          </c:dPt>
          <c:dPt>
            <c:idx val="7"/>
            <c:spPr>
              <a:solidFill>
                <a:srgbClr val="0070C0"/>
              </a:solidFill>
            </c:spPr>
          </c:dPt>
          <c:dPt>
            <c:idx val="8"/>
            <c:spPr>
              <a:solidFill>
                <a:srgbClr val="0070C0"/>
              </a:solidFill>
            </c:spPr>
          </c:dPt>
          <c:dPt>
            <c:idx val="9"/>
            <c:spPr>
              <a:solidFill>
                <a:srgbClr val="0070C0"/>
              </a:solidFill>
            </c:spPr>
          </c:dPt>
          <c:dPt>
            <c:idx val="10"/>
            <c:spPr>
              <a:solidFill>
                <a:srgbClr val="0070C0"/>
              </a:solidFill>
            </c:spPr>
          </c:dPt>
          <c:dPt>
            <c:idx val="11"/>
            <c:spPr>
              <a:solidFill>
                <a:srgbClr val="0070C0"/>
              </a:solidFill>
            </c:spPr>
          </c:dPt>
          <c:cat>
            <c:strRef>
              <c:f>Sheet1!$A$2:$A$13</c:f>
              <c:strCache>
                <c:ptCount val="12"/>
                <c:pt idx="0">
                  <c:v>기타·편의</c:v>
                </c:pt>
                <c:pt idx="1">
                  <c:v>Digital Twin</c:v>
                </c:pt>
                <c:pt idx="2">
                  <c:v>서버 모니터링</c:v>
                </c:pt>
                <c:pt idx="3">
                  <c:v>대시보드</c:v>
                </c:pt>
                <c:pt idx="4">
                  <c:v>설정·권한</c:v>
                </c:pt>
                <c:pt idx="5">
                  <c:v>인프라 관리</c:v>
                </c:pt>
                <c:pt idx="6">
                  <c:v>알림 관리</c:v>
                </c:pt>
                <c:pt idx="7">
                  <c:v>랙 관리</c:v>
                </c:pt>
                <c:pt idx="8">
                  <c:v>워크로드</c:v>
                </c:pt>
                <c:pt idx="9">
                  <c:v>용량·리포트</c:v>
                </c:pt>
                <c:pt idx="10">
                  <c:v>운영 자동화</c:v>
                </c:pt>
                <c:pt idx="11">
                  <c:v>Discovery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23</c:v>
                </c:pt>
                <c:pt idx="1">
                  <c:v>22</c:v>
                </c:pt>
                <c:pt idx="2">
                  <c:v>21</c:v>
                </c:pt>
                <c:pt idx="3">
                  <c:v>17</c:v>
                </c:pt>
                <c:pt idx="4">
                  <c:v>11</c:v>
                </c:pt>
                <c:pt idx="5">
                  <c:v>10</c:v>
                </c:pt>
                <c:pt idx="6">
                  <c:v>8</c:v>
                </c:pt>
                <c:pt idx="7">
                  <c:v>6</c:v>
                </c:pt>
                <c:pt idx="8">
                  <c:v>5</c:v>
                </c:pt>
                <c:pt idx="9">
                  <c:v>4</c:v>
                </c:pt>
                <c:pt idx="10">
                  <c:v>4</c:v>
                </c:pt>
                <c:pt idx="11">
                  <c:v>4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1400" b="1"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6C2ED6"/>
            </a:solidFill>
          </c:spPr>
          <c:dPt>
            <c:idx val="0"/>
            <c:spPr>
              <a:solidFill>
                <a:srgbClr val="6C2ED6"/>
              </a:solidFill>
            </c:spPr>
          </c:dPt>
          <c:dPt>
            <c:idx val="1"/>
            <c:spPr>
              <a:solidFill>
                <a:srgbClr val="6C2ED6"/>
              </a:solidFill>
            </c:spPr>
          </c:dPt>
          <c:dPt>
            <c:idx val="2"/>
            <c:spPr>
              <a:solidFill>
                <a:srgbClr val="6C2ED6"/>
              </a:solidFill>
            </c:spPr>
          </c:dPt>
          <c:dPt>
            <c:idx val="3"/>
            <c:spPr>
              <a:solidFill>
                <a:srgbClr val="6C2ED6"/>
              </a:solidFill>
            </c:spPr>
          </c:dPt>
          <c:dPt>
            <c:idx val="4"/>
            <c:spPr>
              <a:solidFill>
                <a:srgbClr val="16A34A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1300" b="1">
                        <a:solidFill>
                          <a:srgbClr val="1F1F1F"/>
                        </a:solidFill>
                        <a:latin typeface="맑은 고딕"/>
                      </a:defRPr>
                    </a:pPr>
                    <a:r>
                      <a:t>~28개월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 sz="1300" b="1">
                        <a:solidFill>
                          <a:srgbClr val="1F1F1F"/>
                        </a:solidFill>
                        <a:latin typeface="맑은 고딕"/>
                      </a:defRPr>
                    </a:pPr>
                    <a:r>
                      <a:t>~14개월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pPr>
                      <a:defRPr sz="1300" b="1">
                        <a:solidFill>
                          <a:srgbClr val="1F1F1F"/>
                        </a:solidFill>
                        <a:latin typeface="맑은 고딕"/>
                      </a:defRPr>
                    </a:pPr>
                    <a:r>
                      <a:t>~9개월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pPr>
                      <a:defRPr sz="1300" b="1">
                        <a:solidFill>
                          <a:srgbClr val="1F1F1F"/>
                        </a:solidFill>
                        <a:latin typeface="맑은 고딕"/>
                      </a:defRPr>
                    </a:pPr>
                    <a:r>
                      <a:t>~7개월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pPr>
                      <a:defRPr sz="1300" b="1">
                        <a:solidFill>
                          <a:srgbClr val="1F1F1F"/>
                        </a:solidFill>
                        <a:latin typeface="맑은 고딕"/>
                      </a:defRPr>
                    </a:pPr>
                    <a:r>
                      <a:t>4.5개월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1명
(AI 없이)</c:v>
                </c:pt>
                <c:pt idx="1">
                  <c:v>2명 팀</c:v>
                </c:pt>
                <c:pt idx="2">
                  <c:v>3명 팀</c:v>
                </c:pt>
                <c:pt idx="3">
                  <c:v>4명 팀</c:v>
                </c:pt>
                <c:pt idx="4">
                  <c:v>1명 + AI
(실제)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</c:v>
                </c:pt>
                <c:pt idx="1">
                  <c:v>14</c:v>
                </c:pt>
                <c:pt idx="2">
                  <c:v>9</c:v>
                </c:pt>
                <c:pt idx="3">
                  <c:v>7</c:v>
                </c:pt>
                <c:pt idx="4">
                  <c:v>4.5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1400" b="1"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6C2ED6"/>
            </a:solidFill>
          </c:spPr>
          <c:dPt>
            <c:idx val="0"/>
            <c:spPr>
              <a:solidFill>
                <a:srgbClr val="6C2ED6"/>
              </a:solidFill>
            </c:spPr>
          </c:dPt>
          <c:dPt>
            <c:idx val="1"/>
            <c:spPr>
              <a:solidFill>
                <a:srgbClr val="16A34A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1300" b="1">
                        <a:solidFill>
                          <a:srgbClr val="1F1F1F"/>
                        </a:solidFill>
                        <a:latin typeface="맑은 고딕"/>
                      </a:defRPr>
                    </a:pPr>
                    <a:r>
                      <a:t>약 3.5~5.5억 원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 sz="1300" b="1">
                        <a:solidFill>
                          <a:srgbClr val="1F1F1F"/>
                        </a:solidFill>
                        <a:latin typeface="맑은 고딕"/>
                      </a:defRPr>
                    </a:pPr>
                    <a:r>
                      <a:t>약 4,500만 원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외주 개발
(팀 3~4명)</c:v>
                </c:pt>
                <c:pt idx="1">
                  <c:v>1인 + AI
(실제)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45000</c:v>
                </c:pt>
                <c:pt idx="1">
                  <c:v>4500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1400" b="1"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6C2ED6"/>
            </a:solidFill>
          </c:spPr>
          <c:dPt>
            <c:idx val="0"/>
            <c:spPr>
              <a:solidFill>
                <a:srgbClr val="6C2ED6"/>
              </a:solidFill>
            </c:spPr>
          </c:dPt>
          <c:dPt>
            <c:idx val="1"/>
            <c:spPr>
              <a:solidFill>
                <a:srgbClr val="16A34A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1300" b="1">
                        <a:solidFill>
                          <a:srgbClr val="1F1F1F"/>
                        </a:solidFill>
                        <a:latin typeface="맑은 고딕"/>
                      </a:defRPr>
                    </a:pPr>
                    <a:r>
                      <a:t>~20 FP/MM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 sz="1300" b="1">
                        <a:solidFill>
                          <a:srgbClr val="1F1F1F"/>
                        </a:solidFill>
                        <a:latin typeface="맑은 고딕"/>
                      </a:defRPr>
                    </a:pPr>
                    <a:r>
                      <a:t>~155 FP/MM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외주 개발</c:v>
                </c:pt>
                <c:pt idx="1">
                  <c:v>1인 + AI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155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1400" b="1"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6C2ED6"/>
            </a:solidFill>
          </c:spPr>
          <c:dPt>
            <c:idx val="0"/>
            <c:spPr>
              <a:solidFill>
                <a:srgbClr val="6C2ED6"/>
              </a:solidFill>
            </c:spPr>
          </c:dPt>
          <c:dPt>
            <c:idx val="1"/>
            <c:spPr>
              <a:solidFill>
                <a:srgbClr val="6C2ED6"/>
              </a:solidFill>
            </c:spPr>
          </c:dPt>
          <c:dPt>
            <c:idx val="2"/>
            <c:spPr>
              <a:solidFill>
                <a:srgbClr val="6C2ED6"/>
              </a:solidFill>
            </c:spPr>
          </c:dPt>
          <c:dPt>
            <c:idx val="3"/>
            <c:spPr>
              <a:solidFill>
                <a:srgbClr val="16A34A"/>
              </a:solidFill>
            </c:spPr>
          </c:dPt>
          <c:dPt>
            <c:idx val="4"/>
            <c:spPr>
              <a:solidFill>
                <a:srgbClr val="6C2ED6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1300" b="1">
                        <a:solidFill>
                          <a:srgbClr val="1F1F1F"/>
                        </a:solidFill>
                        <a:latin typeface="맑은 고딕"/>
                      </a:defRPr>
                    </a:pPr>
                    <a:r>
                      <a:t>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 sz="1300" b="1">
                        <a:solidFill>
                          <a:srgbClr val="1F1F1F"/>
                        </a:solidFill>
                        <a:latin typeface="맑은 고딕"/>
                      </a:defRPr>
                    </a:pPr>
                    <a:r>
                      <a:t>102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pPr>
                      <a:defRPr sz="1300" b="1">
                        <a:solidFill>
                          <a:srgbClr val="1F1F1F"/>
                        </a:solidFill>
                        <a:latin typeface="맑은 고딕"/>
                      </a:defRPr>
                    </a:pPr>
                    <a:r>
                      <a:t>165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pPr>
                      <a:defRPr sz="1300" b="1">
                        <a:solidFill>
                          <a:srgbClr val="1F1F1F"/>
                        </a:solidFill>
                        <a:latin typeface="맑은 고딕"/>
                      </a:defRPr>
                    </a:pPr>
                    <a:r>
                      <a:t>303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pPr>
                      <a:defRPr sz="1300" b="1">
                        <a:solidFill>
                          <a:srgbClr val="1F1F1F"/>
                        </a:solidFill>
                        <a:latin typeface="맑은 고딕"/>
                      </a:defRPr>
                    </a:pPr>
                    <a:r>
                      <a:t>18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2월</c:v>
                </c:pt>
                <c:pt idx="1">
                  <c:v>4월</c:v>
                </c:pt>
                <c:pt idx="2">
                  <c:v>5월</c:v>
                </c:pt>
                <c:pt idx="3">
                  <c:v>6월</c:v>
                </c:pt>
                <c:pt idx="4">
                  <c:v>7월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102</c:v>
                </c:pt>
                <c:pt idx="2">
                  <c:v>165</c:v>
                </c:pt>
                <c:pt idx="3">
                  <c:v>303</c:v>
                </c:pt>
                <c:pt idx="4">
                  <c:v>18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1400" b="1"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구성비</c:v>
                </c:pt>
              </c:strCache>
            </c:strRef>
          </c:tx>
          <c:dPt>
            <c:idx val="0"/>
            <c:spPr>
              <a:solidFill>
                <a:srgbClr val="0070C0"/>
              </a:solidFill>
            </c:spPr>
          </c:dPt>
          <c:dPt>
            <c:idx val="1"/>
            <c:spPr>
              <a:solidFill>
                <a:srgbClr val="E08A00"/>
              </a:solidFill>
            </c:spPr>
          </c:dPt>
          <c:dPt>
            <c:idx val="2"/>
            <c:spPr>
              <a:solidFill>
                <a:srgbClr val="00A585"/>
              </a:solidFill>
            </c:spPr>
          </c:dPt>
          <c:dPt>
            <c:idx val="3"/>
            <c:spPr>
              <a:solidFill>
                <a:srgbClr val="8C8C9A"/>
              </a:solidFill>
            </c:spPr>
          </c:dPt>
          <c:dPt>
            <c:idx val="4"/>
            <c:spPr>
              <a:solidFill>
                <a:srgbClr val="6C2ED6"/>
              </a:solidFill>
            </c:spPr>
          </c:dPt>
          <c:cat>
            <c:strRef>
              <c:f>Sheet1!$A$2:$A$6</c:f>
              <c:strCache>
                <c:ptCount val="5"/>
                <c:pt idx="0">
                  <c:v>조회(EQ) ~180</c:v>
                </c:pt>
                <c:pt idx="1">
                  <c:v>출력(EO) ~175</c:v>
                </c:pt>
                <c:pt idx="2">
                  <c:v>내부파일(ILF) ~170</c:v>
                </c:pt>
                <c:pt idx="3">
                  <c:v>입력(EI) ~100</c:v>
                </c:pt>
                <c:pt idx="4">
                  <c:v>외부연계(EIF) ~15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180</c:v>
                </c:pt>
                <c:pt idx="1">
                  <c:v>175</c:v>
                </c:pt>
                <c:pt idx="2">
                  <c:v>170</c:v>
                </c:pt>
                <c:pt idx="3">
                  <c:v>100</c:v>
                </c:pt>
                <c:pt idx="4">
                  <c:v>15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300" b="1">
                  <a:solidFill>
                    <a:srgbClr val="FFFFFF"/>
                  </a:solidFill>
                  <a:latin typeface="맑은 고딕"/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300">
              <a:latin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DC2E2E"/>
            </a:solidFill>
          </c:spPr>
          <c:dPt>
            <c:idx val="0"/>
            <c:spPr>
              <a:solidFill>
                <a:srgbClr val="DC2E2E"/>
              </a:solidFill>
            </c:spPr>
          </c:dPt>
          <c:dPt>
            <c:idx val="1"/>
            <c:spPr>
              <a:solidFill>
                <a:srgbClr val="DC2E2E"/>
              </a:solidFill>
            </c:spPr>
          </c:dPt>
          <c:dPt>
            <c:idx val="2"/>
            <c:spPr>
              <a:solidFill>
                <a:srgbClr val="DC2E2E"/>
              </a:solidFill>
            </c:spPr>
          </c:dPt>
          <c:dPt>
            <c:idx val="3"/>
            <c:spPr>
              <a:solidFill>
                <a:srgbClr val="DC2E2E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1300" b="1">
                        <a:solidFill>
                          <a:srgbClr val="1F1F1F"/>
                        </a:solidFill>
                        <a:latin typeface="맑은 고딕"/>
                      </a:defRPr>
                    </a:pPr>
                    <a:r>
                      <a:t>38.2%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 sz="1300" b="1">
                        <a:solidFill>
                          <a:srgbClr val="1F1F1F"/>
                        </a:solidFill>
                        <a:latin typeface="맑은 고딕"/>
                      </a:defRPr>
                    </a:pPr>
                    <a:r>
                      <a:t>17.6%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pPr>
                      <a:defRPr sz="1300" b="1">
                        <a:solidFill>
                          <a:srgbClr val="1F1F1F"/>
                        </a:solidFill>
                        <a:latin typeface="맑은 고딕"/>
                      </a:defRPr>
                    </a:pPr>
                    <a:r>
                      <a:t>21.1%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pPr>
                      <a:defRPr sz="1300" b="1">
                        <a:solidFill>
                          <a:srgbClr val="1F1F1F"/>
                        </a:solidFill>
                        <a:latin typeface="맑은 고딕"/>
                      </a:defRPr>
                    </a:pPr>
                    <a:r>
                      <a:t>9.1%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4월</c:v>
                </c:pt>
                <c:pt idx="1">
                  <c:v>5월</c:v>
                </c:pt>
                <c:pt idx="2">
                  <c:v>6월</c:v>
                </c:pt>
                <c:pt idx="3">
                  <c:v>7월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38.2</c:v>
                </c:pt>
                <c:pt idx="1">
                  <c:v>17.6</c:v>
                </c:pt>
                <c:pt idx="2">
                  <c:v>21.1</c:v>
                </c:pt>
                <c:pt idx="3">
                  <c:v>9.1</c:v>
                </c:pt>
              </c:numCache>
            </c:numRef>
          </c:val>
          <c:smooth val="0"/>
        </c:ser>
        <c:dLbls>
          <c:numFmt formatCode="General" sourceLinked="0"/>
          <c:txPr>
            <a:bodyPr/>
            <a:lstStyle/>
            <a:p>
              <a:pPr>
                <a:defRPr sz="1400" b="1"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구성비</c:v>
                </c:pt>
              </c:strCache>
            </c:strRef>
          </c:tx>
          <c:dPt>
            <c:idx val="0"/>
            <c:spPr>
              <a:solidFill>
                <a:srgbClr val="0070C0"/>
              </a:solidFill>
            </c:spPr>
          </c:dPt>
          <c:dPt>
            <c:idx val="1"/>
            <c:spPr>
              <a:solidFill>
                <a:srgbClr val="E08A00"/>
              </a:solidFill>
            </c:spPr>
          </c:dPt>
          <c:dPt>
            <c:idx val="2"/>
            <c:spPr>
              <a:solidFill>
                <a:srgbClr val="00A585"/>
              </a:solidFill>
            </c:spPr>
          </c:dPt>
          <c:dPt>
            <c:idx val="3"/>
            <c:spPr>
              <a:solidFill>
                <a:srgbClr val="8C8C9A"/>
              </a:solidFill>
            </c:spPr>
          </c:dPt>
          <c:cat>
            <c:strRef>
              <c:f>Sheet1!$A$2:$A$5</c:f>
              <c:strCache>
                <c:ptCount val="4"/>
                <c:pt idx="0">
                  <c:v>기능 추가 (feat/add)</c:v>
                </c:pt>
                <c:pt idx="1">
                  <c:v>수정 (fix)</c:v>
                </c:pt>
                <c:pt idx="2">
                  <c:v>문서 (docs)</c:v>
                </c:pt>
                <c:pt idx="3">
                  <c:v>기타 (chore·refactor·test 등)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256</c:v>
                </c:pt>
                <c:pt idx="1">
                  <c:v>133</c:v>
                </c:pt>
                <c:pt idx="2">
                  <c:v>51</c:v>
                </c:pt>
                <c:pt idx="3">
                  <c:v>146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300" b="1">
                  <a:solidFill>
                    <a:srgbClr val="FFFFFF"/>
                  </a:solidFill>
                  <a:latin typeface="맑은 고딕"/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300">
              <a:latin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구성비</c:v>
                </c:pt>
              </c:strCache>
            </c:strRef>
          </c:tx>
          <c:dPt>
            <c:idx val="0"/>
            <c:spPr>
              <a:solidFill>
                <a:srgbClr val="16A34A"/>
              </a:solidFill>
            </c:spPr>
          </c:dPt>
          <c:dPt>
            <c:idx val="1"/>
            <c:spPr>
              <a:solidFill>
                <a:srgbClr val="E06A6A"/>
              </a:solidFill>
            </c:spPr>
          </c:dPt>
          <c:cat>
            <c:strRef>
              <c:f>Sheet1!$A$2:$A$3</c:f>
              <c:strCache>
                <c:ptCount val="2"/>
                <c:pt idx="0">
                  <c:v>테스트 있음 (1)</c:v>
                </c:pt>
                <c:pt idx="1">
                  <c:v>테스트 없음 (73)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73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300" b="1">
                  <a:solidFill>
                    <a:srgbClr val="FFFFFF"/>
                  </a:solidFill>
                  <a:latin typeface="맑은 고딕"/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300">
              <a:latin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16A34A"/>
            </a:solidFill>
          </c:spPr>
          <c:dPt>
            <c:idx val="0"/>
            <c:spPr>
              <a:solidFill>
                <a:srgbClr val="16A34A"/>
              </a:solidFill>
            </c:spPr>
          </c:dPt>
          <c:dPt>
            <c:idx val="1"/>
            <c:spPr>
              <a:solidFill>
                <a:srgbClr val="16A34A"/>
              </a:solidFill>
            </c:spPr>
          </c:dPt>
          <c:dPt>
            <c:idx val="2"/>
            <c:spPr>
              <a:solidFill>
                <a:srgbClr val="16A34A"/>
              </a:solidFill>
            </c:spPr>
          </c:dPt>
          <c:dPt>
            <c:idx val="3"/>
            <c:spPr>
              <a:solidFill>
                <a:srgbClr val="16A34A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1300" b="1">
                        <a:solidFill>
                          <a:srgbClr val="1F1F1F"/>
                        </a:solidFill>
                        <a:latin typeface="맑은 고딕"/>
                      </a:defRPr>
                    </a:pPr>
                    <a:r>
                      <a:t>15분 이내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 sz="1300" b="1">
                        <a:solidFill>
                          <a:srgbClr val="1F1F1F"/>
                        </a:solidFill>
                        <a:latin typeface="맑은 고딕"/>
                      </a:defRPr>
                    </a:pPr>
                    <a:r>
                      <a:t>1시간 이내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pPr>
                      <a:defRPr sz="1300" b="1">
                        <a:solidFill>
                          <a:srgbClr val="1F1F1F"/>
                        </a:solidFill>
                        <a:latin typeface="맑은 고딕"/>
                      </a:defRPr>
                    </a:pPr>
                    <a:r>
                      <a:t>4시간 이내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pPr>
                      <a:defRPr sz="1300" b="1">
                        <a:solidFill>
                          <a:srgbClr val="1F1F1F"/>
                        </a:solidFill>
                        <a:latin typeface="맑은 고딕"/>
                      </a:defRPr>
                    </a:pPr>
                    <a:r>
                      <a:t>당일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P0
전체 중단</c:v>
                </c:pt>
                <c:pt idx="1">
                  <c:v>P1
주요기능·데이터위험</c:v>
                </c:pt>
                <c:pt idx="2">
                  <c:v>P2
기능 저하</c:v>
                </c:pt>
                <c:pt idx="3">
                  <c:v>P3
부분 저하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60</c:v>
                </c:pt>
                <c:pt idx="2">
                  <c:v>240</c:v>
                </c:pt>
                <c:pt idx="3">
                  <c:v>480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1400" b="1"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인사 + 한 줄 목적: '흩어진 데이터센터 운영을 AI와 함께 통합 시스템으로 만든 사례를 공유하고, 이 방식을 어떻게 확산할지 논의하는 자리'. 발표 30~40분 + 데모 + Q&amp;A 상정. 슬라이드가 많으니 강조 슬라이드 중심으로.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한 장이 발표의 핵심이다. 세 가지 효과(비용·자동화·품질)를 먼저 각인시키고, 뒤 슬라이드는 그 근거. 숫자는 '추정'과 '실측'을 구분해 말할 것. 'AI 99% 작성'은 반드시 '사람이 방향·검증'과 함께 언급(핵심 방어 포인트).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임원이 기억할 단 4개 숫자. 비용·기간은 '추정', 자동화 400시간은 '보수적 하한 추정(정성효과 제외)', 65건+는 실측(파일:라인 근거 있음). 여기서 청중 반응을 보고 관심 큰 항목을 뒤에서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가능하면 라이브 시연. 불가하면 캡처로 대체(screenshot-checklist.md). 핵심 임팩트 포인트: ②한 화면에 다 모임, ③웹에서 전원제어+감사추적, ④물리위치 시각화. 5분 내로.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의사결정용 슬라이드. 메시지: '이미 만들어졌고, 외주 대비 3억+ 아꼈으며, 앞으로도 매년 자동화 효과가 지속된다.' 추가 투자 요청(v1.0 테스트·리팩터링)의 정당성도 여기서 연결: 소액 재투자로 견고성 확보.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가장 나올 법한 5개. 방어 톤이 아니라 '이미 대비했다'는 톤으로. 테스트/버스팩터 질문은 오히려 v1.0 투자·백업담당자 지정의 근거로 전환. 보안은 '즉시 수정+테스트'로 신뢰 회복 스토리.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70C0"/>
                </a:solidFill>
                <a:latin typeface="맑은 고딕"/>
              </a:defRPr>
            </a:pPr>
            <a:r>
              <a:t>DC Express 완료보고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945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5A5A6E"/>
                </a:solidFill>
                <a:latin typeface="맑은 고딕"/>
              </a:defRPr>
            </a:pPr>
            <a:r>
              <a:t>AI를 활용한 대표 개발 사례와 업무 혁신 방향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C8C9A"/>
                </a:solidFill>
                <a:latin typeface="맑은 고딕"/>
              </a:defRPr>
            </a:pPr>
            <a:r>
              <a:t>데이터센터 통합관리 시스템(DCIM) 구축 · 공청회 발표자료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663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C8C9A"/>
                </a:solidFill>
                <a:latin typeface="맑은 고딕"/>
              </a:defRPr>
            </a:pPr>
            <a:r>
              <a:t>2026. 07  |  서영재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한 장 요약 (Executive Summary)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무엇을: Grafana 10개+ 대시보드·엑셀·수기 배치도로 흩어진 데이터센터 운영을 통합 DCIM 웹 시스템으로 구축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39개 화면 · 74개 API · 135개 기능 · 44,211줄 — 인프라 엔지니어 1명 + AI, 4.5개월 (커밋의 99%+를 AI가 작성)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어떻게: AI를 '코드 생성기'가 아니라 구현·감사·문서화·운영을 함께 하는 협업 체계로 운용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프롬프트 → 규칙(CLAUDE.md) → 도구(에이전트·스킬·훅) 3단계 진화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효과 ①비용: 외주 환산 3.5~5.5억 원 → 약 4,500만 원 (~8~11배 절감, 추정)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효과 ②자동화: 반복 운영업무 주 8~10시간 절감 추정 (연 400시간+) + 24×7 무인 감시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효과 ③품질: 릴리즈 전 AI 다중 감사로 이슈 65건+ 선제 발견 (보안·권한 우회 7건 수정)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방향성: 이 사례의 규칙·도구를 템플릿화하여 타 업무로 확산 — '프롬프트 엔지니어링'에서 '워크플로 엔지니어링'으로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핵심 효과 — 이것만 기억하세요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6E"/>
                </a:solidFill>
                <a:latin typeface="맑은 고딕"/>
              </a:defRPr>
            </a:pPr>
            <a:r>
              <a:t>1인+AI 개발 사례의 정량 효과 (상세 근거는 이후 슬라이드)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2567863" cy="17373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567863" cy="73152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93392"/>
            <a:ext cx="2567863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70C0"/>
                </a:solidFill>
                <a:latin typeface="맑은 고딕"/>
              </a:defRPr>
            </a:pPr>
            <a:r>
              <a:t>8~11배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256786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5A5A6E"/>
                </a:solidFill>
                <a:latin typeface="맑은 고딕"/>
              </a:defRPr>
            </a:pPr>
            <a:r>
              <a:t>비용 절감 (3.5~5.5억→4,500만)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823" y="1737360"/>
            <a:ext cx="2567863" cy="17373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90823" y="1737360"/>
            <a:ext cx="2567863" cy="73152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0823" y="1993392"/>
            <a:ext cx="2567863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A585"/>
                </a:solidFill>
                <a:latin typeface="맑은 고딕"/>
              </a:defRPr>
            </a:pPr>
            <a:r>
              <a:t>6~8배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0823" y="2971800"/>
            <a:ext cx="256786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5A5A6E"/>
                </a:solidFill>
                <a:latin typeface="맑은 고딕"/>
              </a:defRPr>
            </a:pPr>
            <a:r>
              <a:t>기간 단축 (2.5~3년→4.5개월, 1인 기준)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737360"/>
            <a:ext cx="2567863" cy="17373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1737360"/>
            <a:ext cx="2567863" cy="73152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3007" y="1993392"/>
            <a:ext cx="2567863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6C2ED6"/>
                </a:solidFill>
                <a:latin typeface="맑은 고딕"/>
              </a:defRPr>
            </a:pPr>
            <a:r>
              <a:t>연 400h+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3007" y="2971800"/>
            <a:ext cx="256786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5A5A6E"/>
                </a:solidFill>
                <a:latin typeface="맑은 고딕"/>
              </a:defRPr>
            </a:pPr>
            <a:r>
              <a:t>반복 운영업무 자동화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5191" y="1737360"/>
            <a:ext cx="2567863" cy="17373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75191" y="1737360"/>
            <a:ext cx="2567863" cy="73152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5191" y="1993392"/>
            <a:ext cx="2567863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08A00"/>
                </a:solidFill>
                <a:latin typeface="맑은 고딕"/>
              </a:defRPr>
            </a:pPr>
            <a:r>
              <a:t>65건+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5191" y="2971800"/>
            <a:ext cx="256786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5A5A6E"/>
                </a:solidFill>
                <a:latin typeface="맑은 고딕"/>
              </a:defRPr>
            </a:pPr>
            <a:r>
              <a:t>릴리즈 전 결함 선제 발견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1. 프로젝트 개요 — 배경·시스템 소개·핵심 수치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2. AI 활용 방법 — 구현·병렬 감사·문서 생성·운영 지원 (상세 사례)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3. 개발 비용·기간 단축 효과 — 기능점수(FP)·맨먼스 기준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4. 업무 자동화·생산성 향상 — Before/After와 절감 추정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5. 에러 감소·품질 개선 — 3층 방어 체계와 실증 데이터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6. 향후 운영 계획 — 점검·장애 대응·백업·릴리즈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7. AI 기반 업무 혁신 방향성 — 조직 확산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1097280" cy="109728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1F1F"/>
                </a:solidFill>
                <a:latin typeface="맑은 고딕"/>
              </a:defRPr>
            </a:pPr>
            <a:r>
              <a:t>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A5A6E"/>
                </a:solidFill>
                <a:latin typeface="맑은 고딕"/>
              </a:defRPr>
            </a:pPr>
            <a:r>
              <a:t>왜 만들었고, 무엇이 만들어졌나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657600"/>
            <a:ext cx="3657600" cy="36576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추진 배경 — 흩어진 운영 도구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0C0"/>
                </a:solidFill>
                <a:latin typeface="맑은 고딕"/>
              </a:defRPr>
            </a:pPr>
            <a:r>
              <a:t>Before: 도구 파편화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t>모니터링: Grafana 대시보드 10개+ 산재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서버 1대 확인에 3~4개 대시보드 이동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t>자산 관리: 엑셀 수기 — 최신본·버전 혼란, 이력 없음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t>물리 배치: 담당자 기억 + 종이 도면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t>전원 제어: 서버별 IPMI 개별 접속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t>용량 계획: 감(느낌) 의존, 보고서 수작업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t>만료 관리(보증·인증서): 체계적 추적 부재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0C0"/>
                </a:solidFill>
                <a:latin typeface="맑은 고딕"/>
              </a:defRPr>
            </a:pPr>
            <a:r>
              <a:t>After: 통합 DCIM 한 화면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t>서버 클릭 1번 → CPU·메모리·디스크·온도·전력·PCIe·BMC 센서 통합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t>DB 기반 자산 CRUD + 라이프사이클 9단계 + 변경 이력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t>Digital Twin(룸·랙 시각화) + 히트맵 + 드래그 배치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t>웹에서 원격 전원 제어 (BMC/Redfish)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t>용량 12개월 예측 + PDF 리포트 자동 생성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t>알림 엔진 5분 주기 자동 평가 + 만료 D-day 추적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Before → After — 무엇이 달라졌나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6E"/>
                </a:solidFill>
                <a:latin typeface="맑은 고딕"/>
              </a:defRPr>
            </a:pPr>
            <a:r>
              <a:t>10개+ 도구·엑셀·수기로 흩어진 운영 → 통합 웹 시스템 한 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4937760" cy="457200"/>
          </a:xfrm>
          <a:prstGeom prst="round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00200"/>
            <a:ext cx="471830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B42B2B"/>
                </a:solidFill>
                <a:latin typeface="맑은 고딕"/>
              </a:defRPr>
            </a:pPr>
            <a:r>
              <a:t>Before — 기존 방식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600200"/>
            <a:ext cx="4937760" cy="457200"/>
          </a:xfrm>
          <a:prstGeom prst="roundRect">
            <a:avLst/>
          </a:prstGeom>
          <a:solidFill>
            <a:srgbClr val="E7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30568" y="1600200"/>
            <a:ext cx="471830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57F3C"/>
                </a:solidFill>
                <a:latin typeface="맑은 고딕"/>
              </a:defRPr>
            </a:pPr>
            <a:r>
              <a:t>After — DC Express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67128"/>
            <a:ext cx="4937760" cy="749808"/>
          </a:xfrm>
          <a:prstGeom prst="round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67128"/>
            <a:ext cx="4718304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B42B2B"/>
                </a:solidFill>
                <a:latin typeface="맑은 고딕"/>
              </a:defRPr>
            </a:pPr>
            <a:r>
              <a:t>모니터링: Grafana 대시보드 10개+ 산재 (서버 1대에 3~4개 이동)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233172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70C0"/>
                </a:solidFill>
                <a:latin typeface="맑은 고딕"/>
              </a:defRPr>
            </a:pPr>
            <a:r>
              <a:t>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2167128"/>
            <a:ext cx="4937760" cy="749808"/>
          </a:xfrm>
          <a:prstGeom prst="roundRect">
            <a:avLst/>
          </a:prstGeom>
          <a:solidFill>
            <a:srgbClr val="E7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0568" y="2167128"/>
            <a:ext cx="4718304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57F3C"/>
                </a:solidFill>
                <a:latin typeface="맑은 고딕"/>
              </a:defRPr>
            </a:pPr>
            <a:r>
              <a:t>통합 대시보드 — 서버 클릭 1번에 전체 지표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26664"/>
            <a:ext cx="4937760" cy="749808"/>
          </a:xfrm>
          <a:prstGeom prst="round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026664"/>
            <a:ext cx="4718304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B42B2B"/>
                </a:solidFill>
                <a:latin typeface="맑은 고딕"/>
              </a:defRPr>
            </a:pPr>
            <a:r>
              <a:t>자산 관리: 엑셀 수기 대장 (버전 혼란·이력 없음)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3191256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70C0"/>
                </a:solidFill>
                <a:latin typeface="맑은 고딕"/>
              </a:defRPr>
            </a:pPr>
            <a:r>
              <a:t>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3026664"/>
            <a:ext cx="4937760" cy="749808"/>
          </a:xfrm>
          <a:prstGeom prst="roundRect">
            <a:avLst/>
          </a:prstGeom>
          <a:solidFill>
            <a:srgbClr val="E7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30568" y="3026664"/>
            <a:ext cx="4718304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57F3C"/>
                </a:solidFill>
                <a:latin typeface="맑은 고딕"/>
              </a:defRPr>
            </a:pPr>
            <a:r>
              <a:t>DB 기반 CRUD + 라이프사이클 + 변경 이력 자동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886200"/>
            <a:ext cx="4937760" cy="749808"/>
          </a:xfrm>
          <a:prstGeom prst="round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886200"/>
            <a:ext cx="4718304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B42B2B"/>
                </a:solidFill>
                <a:latin typeface="맑은 고딕"/>
              </a:defRPr>
            </a:pPr>
            <a:r>
              <a:t>물리 배치: 담당자 기억·종이 도면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405079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70C0"/>
                </a:solidFill>
                <a:latin typeface="맑은 고딕"/>
              </a:defRPr>
            </a:pPr>
            <a:r>
              <a:t>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20840" y="3886200"/>
            <a:ext cx="4937760" cy="749808"/>
          </a:xfrm>
          <a:prstGeom prst="roundRect">
            <a:avLst/>
          </a:prstGeom>
          <a:solidFill>
            <a:srgbClr val="E7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0568" y="3886200"/>
            <a:ext cx="4718304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57F3C"/>
                </a:solidFill>
                <a:latin typeface="맑은 고딕"/>
              </a:defRPr>
            </a:pPr>
            <a:r>
              <a:t>Digital Twin 평면도 + 랙 열지도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745736"/>
            <a:ext cx="4937760" cy="749808"/>
          </a:xfrm>
          <a:prstGeom prst="round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745736"/>
            <a:ext cx="4718304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B42B2B"/>
                </a:solidFill>
                <a:latin typeface="맑은 고딕"/>
              </a:defRPr>
            </a:pPr>
            <a:r>
              <a:t>장비 등록: 한 대씩 타이핑 (24대 반나절)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491032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70C0"/>
                </a:solidFill>
                <a:latin typeface="맑은 고딕"/>
              </a:defRPr>
            </a:pPr>
            <a:r>
              <a:t>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20840" y="4745736"/>
            <a:ext cx="4937760" cy="749808"/>
          </a:xfrm>
          <a:prstGeom prst="roundRect">
            <a:avLst/>
          </a:prstGeom>
          <a:solidFill>
            <a:srgbClr val="E7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0568" y="4745736"/>
            <a:ext cx="4718304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57F3C"/>
                </a:solidFill>
                <a:latin typeface="맑은 고딕"/>
              </a:defRPr>
            </a:pPr>
            <a:r>
              <a:t>CSV 일괄 + Prometheus 자동 탐지 (~30분)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605272"/>
            <a:ext cx="4937760" cy="749808"/>
          </a:xfrm>
          <a:prstGeom prst="round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605272"/>
            <a:ext cx="4718304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B42B2B"/>
                </a:solidFill>
                <a:latin typeface="맑은 고딕"/>
              </a:defRPr>
            </a:pPr>
            <a:r>
              <a:t>전원 제어: 서버별 IPMI 개별 접속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60" y="5769864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70C0"/>
                </a:solidFill>
                <a:latin typeface="맑은 고딕"/>
              </a:defRPr>
            </a:pPr>
            <a:r>
              <a:t>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20840" y="5605272"/>
            <a:ext cx="4937760" cy="749808"/>
          </a:xfrm>
          <a:prstGeom prst="roundRect">
            <a:avLst/>
          </a:prstGeom>
          <a:solidFill>
            <a:srgbClr val="E7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30568" y="5605272"/>
            <a:ext cx="4718304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57F3C"/>
                </a:solidFill>
                <a:latin typeface="맑은 고딕"/>
              </a:defRPr>
            </a:pPr>
            <a:r>
              <a:t>웹에서 원격 전원 제어 (BMC/Redfish)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6464808"/>
            <a:ext cx="4937760" cy="749808"/>
          </a:xfrm>
          <a:prstGeom prst="round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6464808"/>
            <a:ext cx="4718304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B42B2B"/>
                </a:solidFill>
                <a:latin typeface="맑은 고딕"/>
              </a:defRPr>
            </a:pPr>
            <a:r>
              <a:t>용량 계획: 감(感) 의존·수기 보고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3560" y="662940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70C0"/>
                </a:solidFill>
                <a:latin typeface="맑은 고딕"/>
              </a:defRPr>
            </a:pPr>
            <a:r>
              <a:t>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20840" y="6464808"/>
            <a:ext cx="4937760" cy="749808"/>
          </a:xfrm>
          <a:prstGeom prst="roundRect">
            <a:avLst/>
          </a:prstGeom>
          <a:solidFill>
            <a:srgbClr val="E7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30568" y="6464808"/>
            <a:ext cx="4718304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57F3C"/>
                </a:solidFill>
                <a:latin typeface="맑은 고딕"/>
              </a:defRPr>
            </a:pPr>
            <a:r>
              <a:t>12개월 예측 + PDF 리포트 자동 생성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한눈에 보는 규모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6E"/>
                </a:solidFill>
                <a:latin typeface="맑은 고딕"/>
              </a:defRPr>
            </a:pPr>
            <a:r>
              <a:t>인프라 엔지니어 1명 + AI가 4.5개월에 만든 결과물 (정확 수치는 docs/stats.md)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2567863" cy="17373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567863" cy="73152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93392"/>
            <a:ext cx="2567863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70C0"/>
                </a:solidFill>
                <a:latin typeface="맑은 고딕"/>
              </a:defRPr>
            </a:pPr>
            <a:r>
              <a:t>4.5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256786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5A5A6E"/>
                </a:solidFill>
                <a:latin typeface="맑은 고딕"/>
              </a:defRPr>
            </a:pPr>
            <a:r>
              <a:t>개발 기간(개월)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823" y="1737360"/>
            <a:ext cx="2567863" cy="17373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90823" y="1737360"/>
            <a:ext cx="2567863" cy="73152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0823" y="1993392"/>
            <a:ext cx="2567863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A585"/>
                </a:solidFill>
                <a:latin typeface="맑은 고딕"/>
              </a:defRPr>
            </a:pPr>
            <a:r>
              <a:t>1+AI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0823" y="2971800"/>
            <a:ext cx="256786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5A5A6E"/>
                </a:solidFill>
                <a:latin typeface="맑은 고딕"/>
              </a:defRPr>
            </a:pPr>
            <a:r>
              <a:t>개발 인력(명)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737360"/>
            <a:ext cx="2567863" cy="17373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1737360"/>
            <a:ext cx="2567863" cy="73152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3007" y="1993392"/>
            <a:ext cx="2567863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6C2ED6"/>
                </a:solidFill>
                <a:latin typeface="맑은 고딕"/>
              </a:defRPr>
            </a:pPr>
            <a:r>
              <a:t>580+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3007" y="2971800"/>
            <a:ext cx="256786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5A5A6E"/>
                </a:solidFill>
                <a:latin typeface="맑은 고딕"/>
              </a:defRPr>
            </a:pPr>
            <a:r>
              <a:t>커밋 (99%+ AI)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5191" y="1737360"/>
            <a:ext cx="2567863" cy="17373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75191" y="1737360"/>
            <a:ext cx="2567863" cy="73152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5191" y="1993392"/>
            <a:ext cx="2567863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08A00"/>
                </a:solidFill>
                <a:latin typeface="맑은 고딕"/>
              </a:defRPr>
            </a:pPr>
            <a:r>
              <a:t>44K+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5191" y="2971800"/>
            <a:ext cx="256786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5A5A6E"/>
                </a:solidFill>
                <a:latin typeface="맑은 고딕"/>
              </a:defRPr>
            </a:pPr>
            <a:r>
              <a:t>소스 코드(줄)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749040"/>
            <a:ext cx="2567863" cy="17373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749040"/>
            <a:ext cx="2567863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005072"/>
            <a:ext cx="2567863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6A34A"/>
                </a:solidFill>
                <a:latin typeface="맑은 고딕"/>
              </a:defRPr>
            </a:pPr>
            <a:r>
              <a:t>74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983480"/>
            <a:ext cx="256786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5A5A6E"/>
                </a:solidFill>
                <a:latin typeface="맑은 고딕"/>
              </a:defRPr>
            </a:pPr>
            <a:r>
              <a:t>API 엔드포인트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90823" y="3749040"/>
            <a:ext cx="2567863" cy="17373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90823" y="3749040"/>
            <a:ext cx="2567863" cy="73152"/>
          </a:xfrm>
          <a:prstGeom prst="rect">
            <a:avLst/>
          </a:prstGeom>
          <a:solidFill>
            <a:srgbClr val="D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90823" y="4005072"/>
            <a:ext cx="2567863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DC2E2E"/>
                </a:solidFill>
                <a:latin typeface="맑은 고딕"/>
              </a:defRPr>
            </a:pPr>
            <a:r>
              <a:t>39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90823" y="4983480"/>
            <a:ext cx="256786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5A5A6E"/>
                </a:solidFill>
                <a:latin typeface="맑은 고딕"/>
              </a:defRPr>
            </a:pPr>
            <a:r>
              <a:t>화면(페이지)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3007" y="3749040"/>
            <a:ext cx="2567863" cy="17373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3007" y="3749040"/>
            <a:ext cx="2567863" cy="7315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33007" y="4005072"/>
            <a:ext cx="2567863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6B6D4"/>
                </a:solidFill>
                <a:latin typeface="맑은 고딕"/>
              </a:defRPr>
            </a:pPr>
            <a:r>
              <a:t>135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3007" y="4983480"/>
            <a:ext cx="256786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5A5A6E"/>
                </a:solidFill>
                <a:latin typeface="맑은 고딕"/>
              </a:defRPr>
            </a:pPr>
            <a:r>
              <a:t>구현 기능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75191" y="3749040"/>
            <a:ext cx="2567863" cy="17373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75191" y="3749040"/>
            <a:ext cx="2567863" cy="73152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75191" y="4005072"/>
            <a:ext cx="2567863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70C0"/>
                </a:solidFill>
                <a:latin typeface="맑은 고딕"/>
              </a:defRPr>
            </a:pPr>
            <a:r>
              <a:t>29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75191" y="4983480"/>
            <a:ext cx="256786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5A5A6E"/>
                </a:solidFill>
                <a:latin typeface="맑은 고딕"/>
              </a:defRPr>
            </a:pPr>
            <a:r>
              <a:t>DB 모델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구현 범위 — 영역별 기능 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6E"/>
                </a:solidFill>
                <a:latin typeface="맑은 고딕"/>
              </a:defRPr>
            </a:pPr>
            <a:r>
              <a:t>12개 카테고리 · 총 135개 기능 — DCIM 핵심 영역을 폭넓게 커버 (features.md 기준)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417320"/>
          <a:ext cx="1088136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※ features.md의 '✅ 완료' 항목 집계.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핵심 수치 (2026-07-02 감사 시점 기준)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34440"/>
          <a:ext cx="10972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108960"/>
                <a:gridCol w="2377440"/>
                <a:gridCol w="310896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수치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수치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개발 기간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4.5개월 (실질 2.5개월)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총 커밋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576개 (AI 작성 99%+)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개발 인력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1명 (인프라 엔지니어) +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소스 코드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44,211줄 / 218개 파일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페이지/화면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39개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API 엔드포인트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74개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구현 기능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135개 (12개 카테고리)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DB 모델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29개 (Prisma)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다국어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한/영 511개 번역 키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산출물 문서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40여 개 (매뉴얼·UML·ERD 포함)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36168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기술 스택: Next.js 14 + TypeScript + Prisma + PostgreSQL + Prometheus 연동, SSE 실시간, Docker/systemd 하이브리드 운영 (폐쇄망)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4.5개월의 여정 — 8단계 진화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6E"/>
                </a:solidFill>
                <a:latin typeface="맑은 고딕"/>
              </a:defRPr>
            </a:pPr>
            <a:r>
              <a:t>빠르게 만들고(3) → 실환경에서 깨지고(4) → 규칙으로 압축하고(5) → 도구화(8). 실패가 규칙·도구가 된 과정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657600"/>
            <a:ext cx="10820095" cy="36576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255" y="2743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C8C9A"/>
                </a:solidFill>
                <a:latin typeface="맑은 고딕"/>
              </a:defRPr>
            </a:pPr>
            <a:r>
              <a:t>4/8</a:t>
            </a:r>
          </a:p>
        </p:txBody>
      </p:sp>
      <p:sp>
        <p:nvSpPr>
          <p:cNvPr id="8" name="Oval 7"/>
          <p:cNvSpPr/>
          <p:nvPr/>
        </p:nvSpPr>
        <p:spPr>
          <a:xfrm>
            <a:off x="1110595" y="3424428"/>
            <a:ext cx="502920" cy="502920"/>
          </a:xfrm>
          <a:prstGeom prst="ellipse">
            <a:avLst/>
          </a:prstGeom>
          <a:solidFill>
            <a:srgbClr val="0070C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815" y="4160520"/>
            <a:ext cx="1554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1F1F"/>
                </a:solidFill>
                <a:latin typeface="맑은 고딕"/>
              </a:defRPr>
            </a:pPr>
            <a:r>
              <a:t>스캐폴딩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8767" y="2743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C8C9A"/>
                </a:solidFill>
                <a:latin typeface="맑은 고딕"/>
              </a:defRPr>
            </a:pPr>
            <a:r>
              <a:t>4/9</a:t>
            </a:r>
          </a:p>
        </p:txBody>
      </p:sp>
      <p:sp>
        <p:nvSpPr>
          <p:cNvPr id="11" name="Oval 10"/>
          <p:cNvSpPr/>
          <p:nvPr/>
        </p:nvSpPr>
        <p:spPr>
          <a:xfrm>
            <a:off x="2463107" y="3424428"/>
            <a:ext cx="502920" cy="502920"/>
          </a:xfrm>
          <a:prstGeom prst="ellipse">
            <a:avLst/>
          </a:prstGeom>
          <a:solidFill>
            <a:srgbClr val="00A585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37327" y="4160520"/>
            <a:ext cx="1554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1F1F"/>
                </a:solidFill>
                <a:latin typeface="맑은 고딕"/>
              </a:defRPr>
            </a:pPr>
            <a:r>
              <a:t>Docker 삽질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1279" y="2743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C8C9A"/>
                </a:solidFill>
                <a:latin typeface="맑은 고딕"/>
              </a:defRPr>
            </a:pPr>
            <a:r>
              <a:t>4/10~20</a:t>
            </a:r>
          </a:p>
        </p:txBody>
      </p:sp>
      <p:sp>
        <p:nvSpPr>
          <p:cNvPr id="14" name="Oval 13"/>
          <p:cNvSpPr/>
          <p:nvPr/>
        </p:nvSpPr>
        <p:spPr>
          <a:xfrm>
            <a:off x="3815619" y="3424428"/>
            <a:ext cx="502920" cy="502920"/>
          </a:xfrm>
          <a:prstGeom prst="ellipse">
            <a:avLst/>
          </a:prstGeom>
          <a:solidFill>
            <a:srgbClr val="6C2ED6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9839" y="4160520"/>
            <a:ext cx="1554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1F1F"/>
                </a:solidFill>
                <a:latin typeface="맑은 고딕"/>
              </a:defRPr>
            </a:pPr>
            <a:r>
              <a:t>기능 폭발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3791" y="2743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C8C9A"/>
                </a:solidFill>
                <a:latin typeface="맑은 고딕"/>
              </a:defRPr>
            </a:pPr>
            <a:r>
              <a:t>4말~5중</a:t>
            </a:r>
          </a:p>
        </p:txBody>
      </p:sp>
      <p:sp>
        <p:nvSpPr>
          <p:cNvPr id="17" name="Oval 16"/>
          <p:cNvSpPr/>
          <p:nvPr/>
        </p:nvSpPr>
        <p:spPr>
          <a:xfrm>
            <a:off x="5168131" y="3424428"/>
            <a:ext cx="502920" cy="502920"/>
          </a:xfrm>
          <a:prstGeom prst="ellipse">
            <a:avLst/>
          </a:prstGeom>
          <a:solidFill>
            <a:srgbClr val="E08A0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2351" y="4160520"/>
            <a:ext cx="1554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1F1F"/>
                </a:solidFill>
                <a:latin typeface="맑은 고딕"/>
              </a:defRPr>
            </a:pPr>
            <a:r>
              <a:t>실데이터 고통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6303" y="2743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C8C9A"/>
                </a:solidFill>
                <a:latin typeface="맑은 고딕"/>
              </a:defRPr>
            </a:pPr>
            <a:r>
              <a:t>5월</a:t>
            </a:r>
          </a:p>
        </p:txBody>
      </p:sp>
      <p:sp>
        <p:nvSpPr>
          <p:cNvPr id="20" name="Oval 19"/>
          <p:cNvSpPr/>
          <p:nvPr/>
        </p:nvSpPr>
        <p:spPr>
          <a:xfrm>
            <a:off x="6520643" y="3424428"/>
            <a:ext cx="502920" cy="502920"/>
          </a:xfrm>
          <a:prstGeom prst="ellipse">
            <a:avLst/>
          </a:prstGeom>
          <a:solidFill>
            <a:srgbClr val="DC2E2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94863" y="4160520"/>
            <a:ext cx="1554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1F1F"/>
                </a:solidFill>
                <a:latin typeface="맑은 고딕"/>
              </a:defRPr>
            </a:pPr>
            <a:r>
              <a:t>규칙 정립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38815" y="2743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C8C9A"/>
                </a:solidFill>
                <a:latin typeface="맑은 고딕"/>
              </a:defRPr>
            </a:pPr>
            <a:r>
              <a:t>6월</a:t>
            </a:r>
          </a:p>
        </p:txBody>
      </p:sp>
      <p:sp>
        <p:nvSpPr>
          <p:cNvPr id="23" name="Oval 22"/>
          <p:cNvSpPr/>
          <p:nvPr/>
        </p:nvSpPr>
        <p:spPr>
          <a:xfrm>
            <a:off x="7873155" y="3424428"/>
            <a:ext cx="502920" cy="502920"/>
          </a:xfrm>
          <a:prstGeom prst="ellipse">
            <a:avLst/>
          </a:prstGeom>
          <a:solidFill>
            <a:srgbClr val="16A34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47375" y="4160520"/>
            <a:ext cx="1554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1F1F"/>
                </a:solidFill>
                <a:latin typeface="맑은 고딕"/>
              </a:defRPr>
            </a:pPr>
            <a:r>
              <a:t>고도화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91327" y="2743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C8C9A"/>
                </a:solidFill>
                <a:latin typeface="맑은 고딕"/>
              </a:defRPr>
            </a:pPr>
            <a:r>
              <a:t>6/16~17</a:t>
            </a:r>
          </a:p>
        </p:txBody>
      </p:sp>
      <p:sp>
        <p:nvSpPr>
          <p:cNvPr id="26" name="Oval 25"/>
          <p:cNvSpPr/>
          <p:nvPr/>
        </p:nvSpPr>
        <p:spPr>
          <a:xfrm>
            <a:off x="9225667" y="3424428"/>
            <a:ext cx="502920" cy="502920"/>
          </a:xfrm>
          <a:prstGeom prst="ellipse">
            <a:avLst/>
          </a:prstGeom>
          <a:solidFill>
            <a:srgbClr val="06B6D4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99887" y="4160520"/>
            <a:ext cx="1554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1F1F"/>
                </a:solidFill>
                <a:latin typeface="맑은 고딕"/>
              </a:defRPr>
            </a:pPr>
            <a:r>
              <a:t>문서화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3839" y="2743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C8C9A"/>
                </a:solidFill>
                <a:latin typeface="맑은 고딕"/>
              </a:defRPr>
            </a:pPr>
            <a:r>
              <a:t>6/22~25</a:t>
            </a:r>
          </a:p>
        </p:txBody>
      </p:sp>
      <p:sp>
        <p:nvSpPr>
          <p:cNvPr id="29" name="Oval 28"/>
          <p:cNvSpPr/>
          <p:nvPr/>
        </p:nvSpPr>
        <p:spPr>
          <a:xfrm>
            <a:off x="10578179" y="3424428"/>
            <a:ext cx="502920" cy="502920"/>
          </a:xfrm>
          <a:prstGeom prst="ellipse">
            <a:avLst/>
          </a:prstGeom>
          <a:solidFill>
            <a:srgbClr val="0070C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2399" y="4160520"/>
            <a:ext cx="1554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1F1F"/>
                </a:solidFill>
                <a:latin typeface="맑은 고딕"/>
              </a:defRPr>
            </a:pPr>
            <a:r>
              <a:t>품질 감사·도구화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라이브 데모 시나리오 (실제 화면 시연)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1. 대시보드 — 전체 인프라 상태 한눈에, 이상 서버(디스크 70%+·온도) 즉시 포착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2. 서버 상세 — CPU/메모리/디스크/온도/전력/PCIe + 파일시스템(NFS 포함) 실시간 확인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3. BMC 원격 전원 제어 — 웹에서 재부팅(2단계 확인) → 감사로그에 '누가·언제·왜' 자동 기록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4. Digital Twin — Room→Rack→장비로 물리 위치 탐색 + 랙 열지도(heatmap)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5. 알림·용량 — 알림 규칙/이력, 12개월 용량 예측 + PDF 리포트 자동 생성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6. (편의) ⌘K 전역 검색, 한↔영 전환, 다크모드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→ 시연 후 질의응답. 실데이터가 보이는 운영 화면으로 진행.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※ 캡처/시연 순서는 docs/screenshot-checklist.md 참조. 민감정보(IP/호스트명)는 필요 시 모자이크.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1097280" cy="1097280"/>
          </a:xfrm>
          <a:prstGeom prst="ellipse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1F1F"/>
                </a:solidFill>
                <a:latin typeface="맑은 고딕"/>
              </a:defRPr>
            </a:pPr>
            <a:r>
              <a:t>AI 활용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A5A6E"/>
                </a:solidFill>
                <a:latin typeface="맑은 고딕"/>
              </a:defRPr>
            </a:pPr>
            <a:r>
              <a:t>구현 · 병렬 감사 · 문서 생성 · 운영 지원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657600"/>
            <a:ext cx="3657600" cy="36576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AI 활용 유형 4가지 — 전 과정에 걸친 협업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3444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937760"/>
                <a:gridCol w="402336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유형</a:t>
                      </a:r>
                    </a:p>
                  </a:txBody>
                  <a:tcPr>
                    <a:solidFill>
                      <a:srgbClr val="00A5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실제 활용</a:t>
                      </a:r>
                    </a:p>
                  </a:txBody>
                  <a:tcPr>
                    <a:solidFill>
                      <a:srgbClr val="00A5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규모·성과</a:t>
                      </a:r>
                    </a:p>
                  </a:txBody>
                  <a:tcPr>
                    <a:solidFill>
                      <a:srgbClr val="00A58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① 코드 구현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기능 구현·수정·디버깅 전담. 스캐폴딩(구조+스키마+핵심 화면)은 하루 만에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커밋 99%+ AI 작성 · 하루 9~13개 항목 완료 사례 (work-log 실기록)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② 병렬 에이전트 감사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AI 8명이 레이어(API·인증·보안·동시성 등)를 나눠 동시 조사 → 교차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릴리즈 전 이슈 65건+ 발견 (§5 상세)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③ 문서·발표자료 생성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코드를 직접 읽고 매뉴얼·UML·ERD·보고서·PPT 생성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매뉴얼 805줄 · PPT 56슬라이드 · 주간보고 자동화 스킬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④ 운영 지원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백업·복구·로그로테이션 스크립트, 장애 진단, DB 장애 복구 주도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진단 스크립트 116+개 · DB 장애 데이터 손실 0 복구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병렬 에이전트 감사 — “AI가 AI를 검증한다” (실사례)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34440"/>
          <a:ext cx="1097280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4206240"/>
                <a:gridCol w="5486400"/>
              </a:tblGrid>
              <a:tr h="65836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시점</a:t>
                      </a:r>
                    </a:p>
                  </a:txBody>
                  <a:tcPr>
                    <a:solidFill>
                      <a:srgbClr val="00A5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감사</a:t>
                      </a:r>
                    </a:p>
                  </a:txBody>
                  <a:tcPr>
                    <a:solidFill>
                      <a:srgbClr val="00A5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결과</a:t>
                      </a:r>
                    </a:p>
                  </a:txBody>
                  <a:tcPr>
                    <a:solidFill>
                      <a:srgbClr val="00A58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06-25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8-에이전트 사전 코드리뷰 (Bulk HW Refresh)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서버 실행 전 버그 6건 일괄 발견 (트랜잭션 누락 등) — 단독 리뷰면 1~2건 수준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06-29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8-에이전트 종합 소스 감사 (8영역 전수)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40여 이슈 발견 — 권한 우회(비소속 운영자가 전원 리셋 가능) 등 즉시 수정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06-29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8-에이전트 장애 진단 (운영 DB 중단)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배포 구조 규명 → 볼륨 보존 확인 → 데이터 손실 0 복구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06-30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v0.9 적대적 검증 (2차 감사)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확정 버그 수정 + 미해결 건은 '알려진 이슈'로 정직하게 문서화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07-02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4-에이전트 산출물 감사 + UML 설계 추적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설계 허점 19건 발견, 보안 5건 당일 수정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상시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팀A/팀B 설계 토론 (찬성 vs 리스크 2관점)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설계 판단마다 코드 근거 기반 토론 후 결정 — 에이전트 파일로 도구화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협업 방법론 — 프롬프트 → 규칙 → 도구, 3단계 진화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1단계 프롬프트 (4~5월): 매번 말로 지시 → 실데이터와 충돌, Prometheus/BMC 연동에만 78+회 수정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2단계 규칙 (5월~): 실패할 때마다 CLAUDE.md에 재발 방지 규칙 축적 — “규칙 = 실패의 압축”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Data-First(추측 코딩 금지) · 변경영향분석 · 중복구현 방지 · 검증 루틴 · 팀A/B 토론 · 폐쇄망 제약 — 6대 규칙 전부 실제 사고에서 탄생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3단계 도구화 (6월~): “세 번 반복한 프롬프트는 자산화 신호”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서브에이전트 3종(팀A·팀B·영향분석) + 스킬(데이터 확인·문서 동기화·주간보고) + 훅(세션 시작 자동 준비, 스키마 수정 즉시 자동 검증)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역할 분담: 사람 = 기획·방향·실환경 테스트·“막다른 길” 판단  /  AI = 코드·디버깅·문서·병렬 감사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핵심: “에러 고쳐줘”(증상)가 아니라 “실패 가능한 모든 경로를 조사해줘”(구조)라고 묻는 것 — 질문의 범위가 결과를 바꾼다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폐쇄망 제약 극복 — Data-First 방법론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A585"/>
                </a:solidFill>
                <a:latin typeface="맑은 고딕"/>
              </a:defRPr>
            </a:pPr>
            <a:r>
              <a:t>제약: 실데이터를 AI가 볼 수 없다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t>폐쇄망 — 파일 반출·클립보드 복사 불가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t>사용자가 화면을 보고 손으로 타이핑해 전달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t>디버깅 1사이클 30분~1시간 (일반 환경 5분)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t>초기: 추측 코딩 → 실데이터에서 전부 실패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Prometheus 쿼리 재작업만 78+회 (4~5월)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A585"/>
                </a:solidFill>
                <a:latin typeface="맑은 고딕"/>
              </a:defRPr>
            </a:pPr>
            <a:r>
              <a:t>해법: 확인 → 기록 → 구현 3단 원칙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t>① AI가 확인 스크립트 작성 (116+개) — 출력 극단 최소화 (한 줄 요약, 샘플 1개)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t>② 받은 데이터는 파일로 영구 기록 (31건) — 같은 데이터 재요청 금지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t>③ 실데이터 확인 후에만 코드 작성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t>효과: 규칙 정착 후 수정 커밋 비율 절반으로 감소 (§5)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t>이 원칙 자체를 스킬로 도구화 — 규칙이 잊히지 않음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1097280" cy="1097280"/>
          </a:xfrm>
          <a:prstGeom prst="ellipse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1F1F"/>
                </a:solidFill>
                <a:latin typeface="맑은 고딕"/>
              </a:defRPr>
            </a:pPr>
            <a:r>
              <a:t>개발 비용·기간 단축 효과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A5A6E"/>
                </a:solidFill>
                <a:latin typeface="맑은 고딕"/>
              </a:defRPr>
            </a:pPr>
            <a:r>
              <a:t>기능점수(FP) · 맨먼스 기준 산정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657600"/>
            <a:ext cx="3657600" cy="36576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1인+AI vs 외주 개발 — 정량 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34440"/>
          <a:ext cx="1097280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566160"/>
                <a:gridCol w="356616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지표</a:t>
                      </a:r>
                    </a:p>
                  </a:txBody>
                  <a:tcPr>
                    <a:solidFill>
                      <a:srgbClr val="6C2E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외주 개발 (추정)</a:t>
                      </a:r>
                    </a:p>
                  </a:txBody>
                  <a:tcPr>
                    <a:solidFill>
                      <a:srgbClr val="6C2E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1인 + AI (실제)</a:t>
                      </a:r>
                    </a:p>
                  </a:txBody>
                  <a:tcPr>
                    <a:solidFill>
                      <a:srgbClr val="6C2E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차이</a:t>
                      </a:r>
                    </a:p>
                  </a:txBody>
                  <a:tcPr>
                    <a:solidFill>
                      <a:srgbClr val="6C2ED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규모 산정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기능점수 약 700 FP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동일 산출물 기준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투입 인력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3~4명 팀 (PL·백엔드·프론트·QA)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1명 (인프라 엔지니어, 웹 비전공)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투입 공수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25~35 맨먼스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4.5 맨먼스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약 6~8배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개발 기간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6~9개월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4.5개월 (실질 2.5개월)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약 1.5~2배 단축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총 비용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3.5~5.5억 원 (SW사업 대가 기준)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약 4,500만 원 (인건비+AI 구독)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약 8~11배 절감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인당 생산성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약 20 FP/MM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약 155 FP/MM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약 7~8배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864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※ 개략 산정 — 공식 IFPUG 계수·정부 대가산정 아님. 외주에는 QA·문서·하자보수가 포함되어 동일 조건 비교가 아님 (상세 전제: docs/cost-comparison-20260630.md)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개발 기간 비교 — 인력 투입 방식별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6E"/>
                </a:solidFill>
                <a:latin typeface="맑은 고딕"/>
              </a:defRPr>
            </a:pPr>
            <a:r>
              <a:t>같은 결과물(약 700 FP)을 만드는 데 걸리는 기간. 인원이 줄수록 겸업으로 기간↑ — 그런데 1명+AI가 팀보다 빠름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417320"/>
          <a:ext cx="1088136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※ 외주 맨먼스(약 28MM) 기준 인원별 환산. 1명(AI 없이)은 순수 1인 환산치(≈2.5~3년). 개략 추정.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총 비용 비교 — 외주(팀) vs 1인+AI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6E"/>
                </a:solidFill>
                <a:latin typeface="맑은 고딕"/>
              </a:defRPr>
            </a:pPr>
            <a:r>
              <a:t>단위: 만원 · 약 8~11배 절감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417320"/>
          <a:ext cx="1088136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※ 외주는 SW사업 대가/맨먼스 기준 추정, QA·문서·하자보수 포함. 1인+AI는 내부 인건비+AI 구독. 동일 조건 비교 아님.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인당 생산성 — 외주 vs 1인+AI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6E"/>
                </a:solidFill>
                <a:latin typeface="맑은 고딕"/>
              </a:defRPr>
            </a:pPr>
            <a:r>
              <a:t>맨먼스당 기능점수(FP/MM) · 약 7~8배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417320"/>
          <a:ext cx="1088136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※ FP는 구조 기반 개략 추정. '역량 있는 개발자 + AI' 전제(AI ≠ 완전 자동).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개발 속도 — 월별 커밋 수 (git 실측)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6E"/>
                </a:solidFill>
                <a:latin typeface="맑은 고딕"/>
              </a:defRPr>
            </a:pPr>
            <a:r>
              <a:t>스캐폴딩(2월) → 기능 폭발기(4~6월 가속) → 릴리즈 후 안정화(7월). 커밋의 99%+를 AI가 작성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417320"/>
          <a:ext cx="1088136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※ 3월은 커밋 없음(공백). 7월은 v0.9 릴리즈 후 안정화·문서 정비 기간이라 감소.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기간·비용의 의미 — 세 가지 환산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가장 강력한 비교: 같은 1명이 AI 없이 개발하면 약 2.5~3년 → AI와 함께 4.5개월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팀 환산: 1인+AI의 산출량이 외주 3~4인 팀 수준 — 개발 속도 피크 주 81커밋, 주 평균 약 42커밋 (git 실측)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문서까지 포함: 사용자 매뉴얼(805줄)·장애 대응서 20종·발표 PPT 56슬라이드 — 통상 2~4주 분량을 수일 내 생성 (추정)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발표 시 유의 (정직성 원칙):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실측(커밋·코드·기능 수)과 추정(FP·비용·기간)을 구분해 표기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“AI가 99% 작성” ≠ 자동 — 요건 정의·도메인 판단·실환경 검증은 사람의 몫 (역량 있는 운전자 전제)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투자 대비 효과 (ROI)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6E"/>
                </a:solidFill>
                <a:latin typeface="맑은 고딕"/>
              </a:defRPr>
            </a:pPr>
            <a:r>
              <a:t>1회성 투자 4,500만 원으로 외주 대비 3억+ 절감 + 매년 반복업무 400시간+ 자동화 → 회수 사실상 즉시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2567863" cy="17373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567863" cy="73152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93392"/>
            <a:ext cx="2567863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70C0"/>
                </a:solidFill>
                <a:latin typeface="맑은 고딕"/>
              </a:defRPr>
            </a:pPr>
            <a:r>
              <a:t>4,500만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256786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5A5A6E"/>
                </a:solidFill>
                <a:latin typeface="맑은 고딕"/>
              </a:defRPr>
            </a:pPr>
            <a:r>
              <a:t>개발 투자 (1회성)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823" y="1737360"/>
            <a:ext cx="2567863" cy="17373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90823" y="1737360"/>
            <a:ext cx="2567863" cy="73152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0823" y="1993392"/>
            <a:ext cx="2567863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A585"/>
                </a:solidFill>
                <a:latin typeface="맑은 고딕"/>
              </a:defRPr>
            </a:pPr>
            <a:r>
              <a:t>3.5~5.5억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0823" y="2971800"/>
            <a:ext cx="256786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5A5A6E"/>
                </a:solidFill>
                <a:latin typeface="맑은 고딕"/>
              </a:defRPr>
            </a:pPr>
            <a:r>
              <a:t>외주 대안 비용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737360"/>
            <a:ext cx="2567863" cy="17373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1737360"/>
            <a:ext cx="2567863" cy="73152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3007" y="1993392"/>
            <a:ext cx="2567863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6C2ED6"/>
                </a:solidFill>
                <a:latin typeface="맑은 고딕"/>
              </a:defRPr>
            </a:pPr>
            <a:r>
              <a:t>~3~5억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3007" y="2971800"/>
            <a:ext cx="256786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5A5A6E"/>
                </a:solidFill>
                <a:latin typeface="맑은 고딕"/>
              </a:defRPr>
            </a:pPr>
            <a:r>
              <a:t>절감액 (외주 대비)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5191" y="1737360"/>
            <a:ext cx="2567863" cy="173736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75191" y="1737360"/>
            <a:ext cx="2567863" cy="73152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5191" y="1993392"/>
            <a:ext cx="2567863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08A00"/>
                </a:solidFill>
                <a:latin typeface="맑은 고딕"/>
              </a:defRPr>
            </a:pPr>
            <a:r>
              <a:t>400h+/년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5191" y="2971800"/>
            <a:ext cx="256786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5A5A6E"/>
                </a:solidFill>
                <a:latin typeface="맑은 고딕"/>
              </a:defRPr>
            </a:pPr>
            <a:r>
              <a:t>운영 자동화 (지속 효과)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규모 산정 근거 — 기능점수(FP)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6E"/>
                </a:solidFill>
                <a:latin typeface="맑은 고딕"/>
              </a:defRPr>
            </a:pPr>
            <a:r>
              <a:t>구성요소 기반 개략 산정 → 미조정 ~640, 보정 후 약 700 FP. 외주 견적의 근거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377440" y="1463040"/>
          <a:ext cx="74066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※ IFPUG 스타일 개략 추정(공식 count 아님). 백파이어링 교차검증 ~880 FP(과대). 채택 ~700 FP. 상세: cost-comparison.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1097280" cy="1097280"/>
          </a:xfrm>
          <a:prstGeom prst="ellipse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1F1F"/>
                </a:solidFill>
                <a:latin typeface="맑은 고딕"/>
              </a:defRPr>
            </a:pPr>
            <a:r>
              <a:t>업무 자동화·생산성 향상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A5A6E"/>
                </a:solidFill>
                <a:latin typeface="맑은 고딕"/>
              </a:defRPr>
            </a:pPr>
            <a:r>
              <a:t>사람이 하던 일 → 시스템이 하는 일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657600"/>
            <a:ext cx="3657600" cy="36576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업무 자동화 Before → After (9개 항목)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3444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383280"/>
                <a:gridCol w="356616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업무</a:t>
                      </a:r>
                    </a:p>
                  </a:txBody>
                  <a:tcPr>
                    <a:solidFill>
                      <a:srgbClr val="E08A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Before (수작업)</a:t>
                      </a:r>
                    </a:p>
                  </a:txBody>
                  <a:tcPr>
                    <a:solidFill>
                      <a:srgbClr val="E08A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After (DC Express)</a:t>
                      </a:r>
                    </a:p>
                  </a:txBody>
                  <a:tcPr>
                    <a:solidFill>
                      <a:srgbClr val="E08A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주간 절감(추정)</a:t>
                      </a:r>
                    </a:p>
                  </a:txBody>
                  <a:tcPr>
                    <a:solidFill>
                      <a:srgbClr val="E08A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서버 상태 점검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대시보드 10개+ 순회 (~15분)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서버 클릭 1번 통합 뷰 (~2분)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~2.2시간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장애 초동 분석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알림→대시보드→IPMI 별도 접속 (~30분)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한 화면에서 센서·전원까지 (~10분)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~0.7시간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장비 입고 등록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엑셀+스펙 조사, 24대=반나절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CSV 일괄+자동탐지+BMC 수집 = ~30분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~0.9시간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자산 조회·갱신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엑셀 최신본 찾기 (~10분)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DB 즉시 검색+이력 자동 (~1분)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~1.5시간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원격 전원 제어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서버별 IPMI 접속 (~10분/대)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웹 클릭 (~1분)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~0.75시간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분기 용량 보고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수동 집계+작성 = 반나절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예측 대시보드+PDF 자동 = ~5분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~0.3시간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이상 감시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사람이 봐야 발견 (감시 공백)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알림 엔진 5분 주기 24×7 자동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(정성: 무인화)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만료 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체계적 추적 부재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D-day 자동 추적+알림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(정성: 누락 제거)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백업·로그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수동/부재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매일 자동 백업+로그로테이션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~0.5시간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5916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※ 절감 = 빈도 × 건당 시간차. 빈도는 운영 경험 기반 보수적 가정(실측 아님). 정성 효과(24×7 감시·감사 추적)는 시간 환산 제외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자동화·생산성 — 종합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반복 운영업무 절감: 주 약 8~10시간 → 연 400시간 이상 (약 0.2 FTE, 하한 추정)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+ 시간으로 환산하지 않은 것: 24×7 무인 감시(감시 공백 제로화), 만료 누락 리스크 제거, 전 변경의 감사 추적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기억할 세 가지 수치 (문서에 기록된 실사용 비교):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장비 24대 입고 등록: 반나절 → 30분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분기 용량 보고서: 반나절 → 5분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1인 단독 개발이라면: 2.5~3년 → (AI와) 4.5개월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개발 생산성: 1인이 39화면·74 API·135기능 — 문서·발표자료(매뉴얼 805줄, PPT 56슬라이드)까지 AI가 코드를 읽고 직접 생성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자동화 사례 — 장비 라이프사이클 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6E"/>
                </a:solidFill>
                <a:latin typeface="맑은 고딕"/>
              </a:defRPr>
            </a:pPr>
            <a:r>
              <a:t>엑셀 수기 대장 → 시스템이 상태 전이를 관리. 모든 변경은 감사 로그(누가·언제·왜)에 자동 기록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1853123" cy="146304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등록</a:t>
            </a:r>
            <a:br/>
            <a:r>
              <a:t>(PLANNED·입고)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1763" y="32004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C8C9A"/>
                </a:solidFill>
                <a:latin typeface="맑은 고딕"/>
              </a:defRPr>
            </a:pPr>
            <a:r>
              <a:t>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8963" y="2743200"/>
            <a:ext cx="1853123" cy="1463040"/>
          </a:xfrm>
          <a:prstGeom prst="round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설치</a:t>
            </a:r>
            <a:br/>
            <a:r>
              <a:t>(INSTALLED)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12086" y="32004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C8C9A"/>
                </a:solidFill>
                <a:latin typeface="맑은 고딕"/>
              </a:defRPr>
            </a:pPr>
            <a: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9286" y="2743200"/>
            <a:ext cx="1853123" cy="1463040"/>
          </a:xfrm>
          <a:prstGeom prst="round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운영</a:t>
            </a:r>
            <a:br/>
            <a:r>
              <a:t>(ACTIVE)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2409" y="32004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C8C9A"/>
                </a:solidFill>
                <a:latin typeface="맑은 고딕"/>
              </a:defRPr>
            </a:pPr>
            <a: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79609" y="2743200"/>
            <a:ext cx="1853123" cy="1463040"/>
          </a:xfrm>
          <a:prstGeom prst="round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유지보수·수리</a:t>
            </a:r>
            <a:br/>
            <a:r>
              <a:t>(MAINT·REPAIR)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2732" y="32004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C8C9A"/>
                </a:solidFill>
                <a:latin typeface="맑은 고딕"/>
              </a:defRPr>
            </a:pPr>
            <a: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9932" y="2743200"/>
            <a:ext cx="1853123" cy="1463040"/>
          </a:xfrm>
          <a:prstGeom prst="roundRect">
            <a:avLst/>
          </a:prstGeom>
          <a:solidFill>
            <a:srgbClr val="D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퇴역·폐기</a:t>
            </a:r>
            <a:br/>
            <a:r>
              <a:t>(DECOMM·DISPOSED)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7200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6E"/>
                </a:solidFill>
                <a:latin typeface="맑은 고딕"/>
              </a:defRPr>
            </a:pPr>
            <a:r>
              <a:t>※ 실제 상태는 9단계(PLANNED·RECEIVING·INSTALLED·ACTIVE·MAINTENANCE·REPAIR·FAILED·DECOMMISSIONED·DISPOSED)이며, 위는 발표용 5단계 요약. 각 전이 시 알림·감사 자동 처리.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1097280" cy="1097280"/>
          </a:xfrm>
          <a:prstGeom prst="ellipse">
            <a:avLst/>
          </a:prstGeom>
          <a:solidFill>
            <a:srgbClr val="D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1F1F"/>
                </a:solidFill>
                <a:latin typeface="맑은 고딕"/>
              </a:defRPr>
            </a:pPr>
            <a:r>
              <a:t>에러 감소·품질 개선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A5A6E"/>
                </a:solidFill>
                <a:latin typeface="맑은 고딕"/>
              </a:defRPr>
            </a:pPr>
            <a:r>
              <a:t>결함이 사용자에게 닿기 전에 잡는 다층 방어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657600"/>
            <a:ext cx="3657600" cy="36576"/>
          </a:xfrm>
          <a:prstGeom prst="rect">
            <a:avLst/>
          </a:prstGeom>
          <a:solidFill>
            <a:srgbClr val="D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D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품질 체계 — 3층 방어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D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핵심 프레임: “에러가 없었다”가 아니라 — “결함이 사용자에게 닿기 전에 잡히는 체계를 AI로 구축했다”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1층 — 규칙: CLAUDE.md 6대 규칙 (전부 실제 실패에서 탄생한 재발 방지책)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팀A/B 토론 · 중복확인 · 변경영향분석 · 검증루틴 · Data-First · 폐쇄망 제약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2층 — 자동 게이트: 매 작업마다 기계적으로 실행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typecheck + lint + 62개 테스트 (verify) · 빌드 검증 (verify:full) · 스키마 수정 즉시 자동 검증(훅)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3층 — AI 다중 관점 감사: 릴리즈·난제 앞에서 에이전트 4~8명이 레이어를 나눠 교차 검증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8-에이전트 소스 감사 · 적대적 검증 · UML 설계 추적 감사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실증 ① — 릴리즈 전에 잡은 결함 65건+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D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8-에이전트 사전 코드리뷰: 서버 실행 전 버그 6건 일괄 발견 — 단독 리뷰였으면 1~2건 수준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8-에이전트 종합 감사: 40여 이슈 — 최고 심각도는 권한 우회(비소속 운영자가 서버 전원 리셋·메모리 정보 변조 가능) → 전 라우트 정책 통일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UML 설계 추적 감사: 다이어그램을 그리려 코드를 역추적하는 과정 자체가 설계 허점 19건을 드러냄 → 보안 5건 당일 수정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“UML은 그림이 아니라 감사 도구였다”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합계: 이슈 65건+ 선제 발견, 그중 보안·권한 우회 7건 수정 — 전부 파일:라인 근거와 함께 문서화 (검증 가능한 기록)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운영 장애 대응: 운영 DB 중단 사고 → 8-에이전트 진단으로 데이터 손실 0 복구 + 재발 방지 명문화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실증 ② — 월별 수정(fix) 커밋 비율 추이 (git 실측)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D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34440"/>
          <a:ext cx="109728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280160"/>
                <a:gridCol w="1463040"/>
                <a:gridCol w="54864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월</a:t>
                      </a:r>
                    </a:p>
                  </a:txBody>
                  <a:tcPr>
                    <a:solidFill>
                      <a:srgbClr val="DC2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전체 커밋</a:t>
                      </a:r>
                    </a:p>
                  </a:txBody>
                  <a:tcPr>
                    <a:solidFill>
                      <a:srgbClr val="DC2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fix</a:t>
                      </a:r>
                    </a:p>
                  </a:txBody>
                  <a:tcPr>
                    <a:solidFill>
                      <a:srgbClr val="DC2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비율</a:t>
                      </a:r>
                    </a:p>
                  </a:txBody>
                  <a:tcPr>
                    <a:solidFill>
                      <a:srgbClr val="DC2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해석</a:t>
                      </a:r>
                    </a:p>
                  </a:txBody>
                  <a:tcPr>
                    <a:solidFill>
                      <a:srgbClr val="DC2E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4월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102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38.2%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추측 코딩의 대가 — 실데이터 고통기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5월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165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17.6%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Data-First 규칙 정착 → 절반 이하로 감소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6월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303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21.1%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반등은 퇴보가 아니라 릴리즈 전 의도된 버그 사냥 (감사 배치 수정)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7월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릴리즈 후 안정화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38587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※ 스토리: 규칙 도입으로 fix 반토막(38→18%) → 6월 반등은 자체 감사가 선제 발견한 수정 (커밋명 'Fix audit findings batch 1~5'가 증거) → 7월 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월별 수정(fix) 커밋 비율 추이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D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6E"/>
                </a:solidFill>
                <a:latin typeface="맑은 고딕"/>
              </a:defRPr>
            </a:pPr>
            <a:r>
              <a:t>Data-First 규칙 도입 후 반토막(4→5월). 6월 반등은 릴리즈 전 '의도된 버그 사냥'. 단위: %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417320"/>
          <a:ext cx="1088136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※ git 실측(전체 586커밋 중 fix 133건=약 23%). 6월 반등분 상당수는 사용자 신고가 아닌 자체 감사가 선제 발견·수정한 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커밋 유형 구성비 — '만들고 → 고치는' 리듬 (git 실측)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D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6E"/>
                </a:solidFill>
                <a:latin typeface="맑은 고딕"/>
              </a:defRPr>
            </a:pPr>
            <a:r>
              <a:t>fix가 약 23% — '빠르게 만들고 실환경에서 고친다'는 바이브 코딩의 정직한 현실. 숨기지 않고 공개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377440" y="1463040"/>
          <a:ext cx="74066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※ 커밋 제목 접두사 기준 분류. 리팩터링(refactor)은 3건뿐 → 향후 테스트·리팩터링 투자 필요(정직한 한계).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정직한 한계 — API 테스트 커버리지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D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6E"/>
                </a:solidFill>
                <a:latin typeface="맑은 고딕"/>
              </a:defRPr>
            </a:pPr>
            <a:r>
              <a:t>API 라우트 74개 중 테스트 1개(약 1.4%) · 화면 렌더링 테스트 0 · E2E 1스펙 — v1.0 최우선 투자 대상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377440" y="1463040"/>
          <a:ext cx="74066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※ 단위 테스트 11파일/72케이스는 존재하나 유틸·쿼리 중심. 위험도 순 보강: ①RBAC ②알림 엔진 ③전원 제어.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정직한 한계와 다음 투자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D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E2E"/>
                </a:solidFill>
                <a:latin typeface="맑은 고딕"/>
              </a:defRPr>
            </a:pPr>
            <a:r>
              <a:t>한계 (스스로 계량해 공개)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t>API 라우트 74개 중 테스트 1개 (1.4%)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t>화면 렌더링 테스트 0개, E2E 1스펙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t>권한 우회 결함도 이 무테스트 공백에서 발생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t>리팩터링 3건 — 기능 속도 우선의 대가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t>발표 팁: 한계를 먼저 말하면 질의응답에서 방어할 필요가 없다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E2E"/>
                </a:solidFill>
                <a:latin typeface="맑은 고딕"/>
              </a:defRPr>
            </a:pPr>
            <a:r>
              <a:t>v1.0 투자 계획 (위험도순)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t>① RBAC 권한 게이트 테스트 (보안 직결)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t>② 알림 엔진 상태 전이 테스트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t>③ 전원 제어 흐름 테스트 (장비 오정지 방지)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t>이월 보안 항목: 알림 조직 필터(S3) 등 — 사유까지 문서화 완료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t>실패→규칙→도구 선순환 지속 (예: DB 사고 → 위험 명령 차단 훅)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1097280" cy="109728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1F1F"/>
                </a:solidFill>
                <a:latin typeface="맑은 고딕"/>
              </a:defRPr>
            </a:pPr>
            <a:r>
              <a:t>향후 운영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A5A6E"/>
                </a:solidFill>
                <a:latin typeface="맑은 고딕"/>
              </a:defRPr>
            </a:pPr>
            <a:r>
              <a:t>이미 갖춰진 체계 + 신규 과제 7건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657600"/>
            <a:ext cx="365760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운영 체계 — 대부분 이미 문서·스크립트로 구축됨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34440"/>
          <a:ext cx="1097280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486400"/>
                <a:gridCol w="3840480"/>
              </a:tblGrid>
              <a:tr h="65836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영역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현행 (구축 완료)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신규 과제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정기 점검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일/주/월 체크리스트 문서화 (헬스·백업·디스크·타겟·커넥션)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원커맨드 일일점검 스크립트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장애 대응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시나리오 20종+엣지 6종 매뉴얼, P0~P3 등급(15분~당일), 대화형 복구 도구, 에스컬레이션 4단계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장애 기록 대장, 절차 일부 현행화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백업·복구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매일 03:00 자동 백업(7일 보관)+사전백업 복원 절차+로그로테이션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2차 위치(NFS)·장기 보관·분기 복원 리허설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릴리즈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v0.9 확정(PR 머지+현장 검증) → v1.0(보안 이월+알려진 이슈 3건+테스트 보강)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사용자 지원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매뉴얼 PPT 56슬라이드·사용 가이드 문서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앱 내 피드백 접수(버그/요청/정정 3분류)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1인 운영 리스크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인수인계 문서 체계(핸드오버·문서지도·장애 매뉴얼)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백업 담당자 1명 지정+30분 교육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릴리즈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즉시 — v0.9 확정: PR 머지 + 보안 수정분 현장 검증 + 알림 cron 등록 확인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v1.0 (다음 단계): 보안 이월(알림 조직 필터, PromQL 화이트리스트) + 권한 정합성·알림 엔진 관측성 개선(S6~S19)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+ 알려진 이슈 3건 (차트 다중 시계열 · 랙 위치 충돌 검증 · 알림 지속시간 조건)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+ 테스트 보강 (RBAC → 알림 → 전원 순, 위험도 기준)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운영 원칙: 폐쇄망 특성상 모든 복구 절차는 로컬 완결형 유지, 배포는 파일 복사 방식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상세: docs/operations-plan.md (공청회 배포용 전문)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장애 대응 체계 — 등급별 목표 복구 시간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6E"/>
                </a:solidFill>
                <a:latin typeface="맑은 고딕"/>
              </a:defRPr>
            </a:pPr>
            <a:r>
              <a:t>장애 시나리오 20종 + 대화형 복구 도구 이미 구축 · 단위: 분(P3는 당일 기준 예시)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417320"/>
          <a:ext cx="1088136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※ operations-plan.md ② 복구 우선순위 매트릭스. P0는 15분 내 대응(강조).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1097280" cy="109728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1F1F"/>
                </a:solidFill>
                <a:latin typeface="맑은 고딕"/>
              </a:defRPr>
            </a:pPr>
            <a:r>
              <a:t>AI 기반 업무 혁신 방향성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A5A6E"/>
                </a:solidFill>
                <a:latin typeface="맑은 고딕"/>
              </a:defRPr>
            </a:pPr>
            <a:r>
              <a:t>한 사람의 사례에서 조직의 역량으로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657600"/>
            <a:ext cx="3657600" cy="3657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이 사례가 증명한 것 — 타 업무 적용 시사점 3가지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① 규칙 문서(CLAUDE.md)는 “팀의 실패 로그 압축판”으로 시작하라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6개 규칙 전부가 실제 사고에서 탄생 — 템플릿 복사로 시작하면 시행착오 비용이 사라진다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② 세 번 반복한 프롬프트는 파일(에이전트·스킬·훅)로 만들어라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규칙은 잊히지만 도구는 잊지 않는다 — 말로 못 막은 사고를 훅은 100% 차단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“바이브 코딩의 다음 단계는 프롬프트 엔지니어링이 아니라 워크플로 엔지니어링”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③ AI 산출물은 AI 병렬 감사로 검증하되, 방향 판단은 사람이 하라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단독 리뷰 1~2건 vs 8-에이전트 레이어 분담 6~40건 — 단, “막다른 길” 판단은 사람만 가능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조직 확산 제안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맑은 고딕"/>
              </a:defRPr>
            </a:pPr>
            <a:r>
              <a:t>적용 영역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t>적합: 내부 관리 도구, 대시보드, PoC, 반복 문서 작업 — 도메인 전문가가 직접 만드는 경우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t>부적합: 고객 대면 서비스, 고가용성 프로덕션, 보안 최상위 시스템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t>필수 조건 4가지: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규칙 체계(CLAUDE.md) · Data-First 원칙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도메인 지식 감독자 · 단일 진실 공급원 문서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맑은 고딕"/>
              </a:defRPr>
            </a:pPr>
            <a:r>
              <a:t>확산 로드맵 (제안)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t>1단계: 본 사례 템플릿 패키지화 — 규칙·에이전트·스킬·훅을 복사 가능한 형태로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t>2단계: 파일럿 1~2개 부서 적용 (내부 도구·자동화부터)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t>3단계: 사내 가이드·교육 (반나절 과정: 규칙 작성법 + 검증 루틴 + 병렬 감사)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>
                <a:solidFill>
                  <a:srgbClr val="1F1F1F"/>
                </a:solidFill>
                <a:latin typeface="맑은 고딕"/>
              </a:defRPr>
            </a:pPr>
            <a:r>
              <a:t>다음 프로젝트 개선안은 이미 문서화 완료 — 훅 강제·브라우저 검증·플랜 모드·MCP 연동 (docs/next-project-ai-workflow.md)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확산 로드맵 — 단계별 실행안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6E"/>
                </a:solidFill>
                <a:latin typeface="맑은 고딕"/>
              </a:defRPr>
            </a:pPr>
            <a:r>
              <a:t>한 사람의 사례를 조직의 재사용 자산으로 — 검증된 규칙·도구를 복사해 시작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3393338" cy="146304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1단계: 템플릿 패키지화</a:t>
            </a:r>
            <a:br/>
            <a:r>
              <a:t>(규칙·에이전트·스킬·훅)</a:t>
            </a:r>
            <a:br/>
            <a:r>
              <a:t>~1개월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41978" y="32004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C8C9A"/>
                </a:solidFill>
                <a:latin typeface="맑은 고딕"/>
              </a:defRPr>
            </a:pPr>
            <a:r>
              <a:t>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9178" y="2743200"/>
            <a:ext cx="3393338" cy="1463040"/>
          </a:xfrm>
          <a:prstGeom prst="round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2단계: 파일럿 1~2개 부서</a:t>
            </a:r>
            <a:br/>
            <a:r>
              <a:t>(내부 도구·자동화부터)</a:t>
            </a:r>
            <a:br/>
            <a:r>
              <a:t>~2~3개월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92516" y="32004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C8C9A"/>
                </a:solidFill>
                <a:latin typeface="맑은 고딕"/>
              </a:defRPr>
            </a:pPr>
            <a: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49716" y="2743200"/>
            <a:ext cx="3393338" cy="1463040"/>
          </a:xfrm>
          <a:prstGeom prst="round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3단계: 사내 가이드·교육</a:t>
            </a:r>
            <a:br/>
            <a:r>
              <a:t>확산 (반나절 과정)</a:t>
            </a:r>
            <a:br/>
            <a:r>
              <a:t>지속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7200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6E"/>
                </a:solidFill>
                <a:latin typeface="맑은 고딕"/>
              </a:defRPr>
            </a:pPr>
            <a:r>
              <a:t>※ 적합: 내부 관리도구·대시보드·PoC·반복 문서작업(도메인 전문가 직접 제작). 부적합: 고객대면·고가용성·보안 최상위. 필수 조건: 규칙 체계 + Data-First + 도메인 감독자 + 단일 진실 공급원.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06B6D4"/>
                </a:solidFill>
                <a:latin typeface="맑은 고딕"/>
              </a:defRPr>
            </a:pPr>
            <a: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103120"/>
            <a:ext cx="8686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F1F1F"/>
                </a:solidFill>
                <a:latin typeface="맑은 고딕"/>
              </a:defRPr>
            </a:pPr>
            <a:r>
              <a:t>버그가 없는 소프트웨어는 없습니다. 차이는 ‘누가 먼저 찾느냐’입니다. 우리는 AI에게 먼저 찾게 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A5A6E"/>
                </a:solidFill>
                <a:latin typeface="맑은 고딕"/>
              </a:defRPr>
            </a:pPr>
            <a:r>
              <a:t>— DC Express 프로젝트, 그리고 다음 프로젝트를 향해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예상 질의응답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Q. AI가 99%를 짰다면, 아무나 할 수 있는 것 아닌가?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A. 요건 정의·도메인 판단·검증·의사결정은 사람의 몫. 'AI ≠ 자동', 역량 있는 운전자가 전제.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Q. 품질·유지보수는 괜찮은가? (테스트가 부족하다던데)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A. 한계 인정 — API 테스트 1.4%. 단, AI 병렬 감사로 릴리즈 전 65건+ 선제 발견. v1.0에서 테스트 최우선 투자.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Q. 1인 개발이면 그 사람이 없으면 어떻게 되나? (버스팩터)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A. 인수인계 문서 체계 완비 + 백업 담당자 지정·교육 계획(운영 계획안 반영).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Q. 보안은 신뢰할 수 있나?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A. RBAC·조직격리·감사로그 기본 탑재. 발견된 권한 우회 즉시 수정 + 회귀 테스트로 재발 방지.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1F1F1F"/>
                </a:solidFill>
                <a:latin typeface="맑은 고딕"/>
              </a:defRPr>
            </a:pPr>
            <a:r>
              <a:t>Q. 다른 부서에도 적용 가능한가?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A. 내부 도구·대시보드에 적합. 규칙·도구 템플릿화로 파일럿부터 단계적 확산 가능.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70C0"/>
                </a:solidFill>
                <a:latin typeface="맑은 고딕"/>
              </a:defRPr>
            </a:pPr>
            <a:r>
              <a:t>감사합니다 —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A5A6E"/>
                </a:solidFill>
                <a:latin typeface="맑은 고딕"/>
              </a:defRPr>
            </a:pPr>
            <a:r>
              <a:t>상세 산출물: 결과보고서 · 비용 비교 · UML/ERD · 운영 계획 · 다음 프로젝트 개선안 (docs/INDEX.md)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