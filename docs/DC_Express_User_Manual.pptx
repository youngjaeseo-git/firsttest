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70C0"/>
                </a:solidFill>
                <a:latin typeface="맑은 고딕"/>
              </a:defRPr>
            </a:pPr>
            <a:r>
              <a:t>DC Express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A5A6E"/>
                </a:solidFill>
                <a:latin typeface="맑은 고딕"/>
              </a:defRPr>
            </a:pPr>
            <a:r>
              <a:t>Data Center Infrastructure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474720"/>
            <a:ext cx="2743200" cy="36576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1F1F"/>
                </a:solidFill>
                <a:latin typeface="맑은 고딕"/>
              </a:defRPr>
            </a:pPr>
            <a:r>
              <a:t>사용자 매뉴얼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5A6E"/>
                </a:solidFill>
                <a:latin typeface="맑은 고딕"/>
              </a:defRPr>
            </a:pPr>
            <a:r>
              <a:t>전체 기능 안내서  |  2026년 6월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1F1F"/>
                </a:solidFill>
                <a:latin typeface="맑은 고딕"/>
              </a:defRPr>
            </a:pPr>
            <a:r>
              <a:t>목차 (Table of Contents)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4864" cy="4572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1. 대시보드 (Dashboard)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54864" cy="457200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2. 서버 모니터링 (Server Monitoring)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54864" cy="45720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3. 랙 뷰 (Rack View)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4. 디지털 트윈 (Digital Twin)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89120"/>
            <a:ext cx="54864" cy="45720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5. BMC/Redfish 제어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20640"/>
            <a:ext cx="54864" cy="4572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6. 쿠버네티스(K8s) 연동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54864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7. 워크로드 관리 (Workload Management)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194560"/>
            <a:ext cx="54864" cy="4572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8. 인프라 관리 (Infrastructure)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926080"/>
            <a:ext cx="54864" cy="457200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926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9. 알림 관리 (Alert Management)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657600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10. 설정 (Settings)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389120"/>
            <a:ext cx="54864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11. 용량 계획 / 리포트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5120640"/>
            <a:ext cx="54864" cy="4572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12. 기타 기능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대시보드 (Dashboard)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인프라 전체 현황을 한눈에 파악하는 통합 모니터링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대시보드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브라우저에서 DC Express 주소(http://서버IP:3000)로 접속하면 대시보드가 기본 화면으로 표시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좌측 사이드바 메뉴의 Dashboard 항목을 클릭해서도 이동 가능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화면 구성: 클러스터 필터 탭 + 실시간 메트릭 카드(8개) + Fleet Top 5 + 서버 상태 차트 + 사이드바 위젯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Prometheus 데이터를 30초 간격으로 자동 갱신하여 실시간 현황 반영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Prometheus 연결 장애 시에도 에러 바운더리로 UI 깨짐 방지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클러스터 필터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대시보드 상단에 All / Lab-1 / Lab-3 세 개의 탭 버튼 제공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All — 전체 장비 통합 현황 (기본값)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Lab-1 — 10.144.38.x 대역 장비만 표시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Lab-3 — 10.144.131.x 대역 장비만 표시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탭 전환 시 모든 메트릭 카드, 차트, Fleet Top 5가 해당 클러스터 기준으로 즉시 갱신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실시간 메트릭 카드 (1/2) — 상단 4개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0C0"/>
                </a:solidFill>
                <a:latin typeface="맑은 고딕"/>
              </a:defRPr>
            </a:pPr>
            <a:r>
              <a:t>좌측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Average CPU — 전체 서버 평균 CPU 사용률(%)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스파크라인(30분 추이 그래프) 포함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Average Memory — 전체 서버 평균 메모리 사용률(%)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스파크라인 포함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0C0"/>
                </a:solidFill>
                <a:latin typeface="맑은 고딕"/>
              </a:defRPr>
            </a:pPr>
            <a:r>
              <a:t>우측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Temperature — CPU 온도 + DIMM 온도(°C)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두 값 병렬 표시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Total Power — 전체 소비 전력(W/kW)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Intel PCM Package_Joules 합산, 자동 단위 변환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실시간 메트릭 카드 (2/2) — 하단 4개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0C0"/>
                </a:solidFill>
                <a:latin typeface="맑은 고딕"/>
              </a:defRPr>
            </a:pPr>
            <a:r>
              <a:t>좌측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Nodes — 정상(UP) / 비정상(DOWN) 노드 수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전체 정상: 초록 아이콘 / 비정상 존재: 빨강 아이콘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Average Uptime — 평균 서버 가동 시간(일)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0C0"/>
                </a:solidFill>
                <a:latin typeface="맑은 고딕"/>
              </a:defRPr>
            </a:pPr>
            <a:r>
              <a:t>우측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Network In — 수신(RX) 트래픽 + TX 값 병기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스파크라인 포함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PUE — 전력 효율 지수 (아크 게이지)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1.4 미만 Good / 1.4~1.6 Average / 1.6 이상 Poor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Fleet Top 5 + 서버 상태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0C0"/>
                </a:solidFill>
                <a:latin typeface="맑은 고딕"/>
              </a:defRPr>
            </a:pPr>
            <a:r>
              <a:t>Fleet 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Fleet Top 5 — CPU: 사용률 상위 5대 막대 그래프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80% 초과 빨강 / 60% 초과 주황 / 이하 시안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Fleet Top 5 — Memory: 사용률 상위 5대 막대 그래프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80% 초과 빨강 / 60% 초과 주황 / 이하 초록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서버 이름 클릭 시 해당 서버 상세 페이지로 즉시 이동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0C0"/>
                </a:solidFill>
                <a:latin typeface="맑은 고딕"/>
              </a:defRPr>
            </a:pPr>
            <a:r>
              <a:t>서버 상태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Server Status 도넛 차트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Active(초록) / Maintenance(주황) / Failed(빨강)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중앙에 총 서버 수 표시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Platform Status — 플랫폼별 카드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SPR, GNR-AP, GNR-SP, SRF, Ampere, EMR 등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플랫폼별 가동률과 오프라인 수 표시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사이드바 위젯 + 요약 카드 + Quick Links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Active Alerts — 현재 발생 중인 알림 상위 5건 (심각도별 색상: 빨강/주황/파랑)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History 클릭 시 알림 관리 페이지(/alerts)로 이동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Expiring Soon — 30일 이내 만료 예정 자산, D-day 카운트다운 표시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Total Equipment 카드 — Active/Maintenance/Failed 장비 수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마우스 오버 시 해당 장비 목록(최대 10개) 팝오버 표시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Infrastructure 카드 — 총 랙 수와 룸 수 표시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Quick Links — Servers, Infrastructure, Alerts, Discovery 바로가기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서버 모니터링 (Server Monitoring)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개별 서버의 상세 메트릭과 비교 분석 기능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서버 목록 — 리스트 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사이드바 Servers 메뉴 또는 /servers 경로로 접속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통합 검색 — hostname, IP, BMC IP, 모델명, 제조사, CPU 정보, Room/Rack 이름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5개 필터 — Model / Status / Room / Power / 초기화 버튼(활성 필터 수 표시)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정렬 가능 컬럼: Hostname, IP, Status, System Model (헤더 클릭으로 전환)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테이블 컬럼: Hostname, IP, BMC IP, Status, Power, CPU, System Model, Room, Rack/U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서버 목록 — Power State + 트윈 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585"/>
                </a:solidFill>
                <a:latin typeface="맑은 고딕"/>
              </a:defRPr>
            </a:pPr>
            <a:r>
              <a:t>Power State 배지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Running (초록, 점 깜빡임)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CPU 사용률 5% 초과 — 워크로드 실행 중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Idle (노랑)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node-exporter 응답 중이나 CPU 5% 이하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OFF (회색)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node-exporter 무응답 — 서버 꺼짐/네트워크 단절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30초마다 자동 갱신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585"/>
                </a:solidFill>
                <a:latin typeface="맑은 고딕"/>
              </a:defRPr>
            </a:pPr>
            <a:r>
              <a:t>트윈 뷰 (Twin View)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List / Twin 토글로 뷰 전환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3단계 드릴다운 구조: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데이터센터 레벨 — SVG 평면도, 오버레이 지원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Room 레벨 — 랙 배치도, 사용률 바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Rack 레벨 — U별 장비, 클릭→상세 이동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서버 상세 — 개요 및 시간 범위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585"/>
                </a:solidFill>
                <a:latin typeface="맑은 고딕"/>
              </a:defRPr>
            </a:pPr>
            <a:r>
              <a:t>상단 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IP, BMC IP, Status, Model, Location(Room/Rack/U)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CPUs — 개수 x 모델 + 아키텍처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OS 정보 / Memory 총 용량 + DIMM 현황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BMC 서버: Refresh HW + Power Console 표시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585"/>
                </a:solidFill>
                <a:latin typeface="맑은 고딕"/>
              </a:defRPr>
            </a:pPr>
            <a:r>
              <a:t>시간 범위 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15m (15초 간격)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1h (30초 간격) — 기본값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6h (2분 간격)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24h (5분 간격)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7d (30분 간격)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변경 시 모든 차트 동시 갱신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서버 상세 — CPU 메트릭 (7개 차트)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585"/>
                </a:solidFill>
                <a:latin typeface="맑은 고딕"/>
              </a:defRPr>
            </a:pPr>
            <a:r>
              <a:t>기본 CPU 차트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CPU Usage — 전체 사용률 추이(%)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CPU Load Average — 1m/5m/15m + 코어 수 기준선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CPU Mode Breakdown — user/system/iowait/steal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CFS Throttled — 컨테이너 스로틀링(sec/s)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585"/>
                </a:solidFill>
                <a:latin typeface="맑은 고딕"/>
              </a:defRPr>
            </a:pPr>
            <a:r>
              <a:t>고급 CPU 차트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PCM IPC — 코어당 명령어 처리량 (Intel PCM 전용)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PCM Cache Hit Rate — L2/L3 캐시 히트율(%)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Core Heatmap — 코어별 사용률 격자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초록(낮음) ~ 빨강(높음) 색상 변화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Pod별 CPU 바 차트 대체 모드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서버 상세 — Memory / Disk / Network / Hardware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585"/>
                </a:solidFill>
                <a:latin typeface="맑은 고딕"/>
              </a:defRPr>
            </a:pPr>
            <a:r>
              <a:t>Memory + Disk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Memory Usage (%) + Swap 추이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Memory Absolute — Used / Cache+Buffer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PCM Memory Bandwidth — 읽기/쓰기 대역폭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Disk I/O — Throughput, IOPS, Latency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Disk Usage (%) + Filesystem Breakdown 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585"/>
                </a:solidFill>
                <a:latin typeface="맑은 고딕"/>
              </a:defRPr>
            </a:pPr>
            <a:r>
              <a:t>Network + 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Bandwidth (RX/TX), Errors, TCP Connections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TCP Retransmits, NIC Inventory(UP/DOWN)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Temperature — hwmon + Inlet/Exhaust/Socket 통합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Power — RAPL: Package/DRAM/PP0 (Watts)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Fan Speed — RPM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서버 비교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서버 목록 우측 상단 Compare 버튼 → /servers/compare 이동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hostname, IP, Room, Rack으로 검색 후 클릭하여 선택 (최대 4대)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선택 서버별 색상 점 표시 (파랑, 초록, 주황, 보라 순서)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최소 2대 선택 시 6개 오버레이 차트가 2열 격자로 표시: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CPU Usage(%) / Memory Usage(%) / Load Average 1m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Disk I/O Read(Bytes/s) / Network RX(Bytes/s) / Temperature(°C)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시간 범위(15m/1h/6h/24h/7d) 변경 시 6개 차트 동시 갱신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랙 뷰 (Rack 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물리적 랙 배치와 장비 구성을 한눈에 파악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랙 페이지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사이드바 Racks 메뉴 또는 /racks 경로로 접속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페이지 상단에 4개의 요약 카드 표시: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Total Racks — 등록된 전체 랙 수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Rooms — 방(Room) 수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Equipment — 랙에 배치된 전체 장비 수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U Utilization — 전체 U 공간 사용률 (사용 중 U / 전체 U)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요약 카드 아래에 Room별로 그룹화된 랙 목록이 표시됨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Room별 랙 그룹 + 랙 카드 정보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랙은 소속 Room 단위로 그룹화 — Room 이름 옆에 랙 수 배지 표시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각 랙 카드 요약 정보: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랙 이름 및 Row 라벨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U 사용률 프로그레스 바 (85% 초과: 빨강, 60% 초과: 주황, 이하: 초록)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장비 수, 활성(Active) 장비 수, 장애(Failed) 장비 수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최대 전력 용량 (설정된 경우 표시)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랙 카드 클릭 시 Rack Elevation이 펼쳐짐 (아코디언 패턴)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Rack Elevation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2ED6"/>
                </a:solidFill>
                <a:latin typeface="맑은 고딕"/>
              </a:defRPr>
            </a:pPr>
            <a:r>
              <a:t>인터랙티브 Rack Elevation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U1부터 최상단까지 세로 슬롯 다이어그램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장비 배치 슬롯은 상태별 색상으로 표시: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ACTIVE:초록 / MAINTENANCE:보라 / REPAIR:주황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FAILED:빨강 / PLANNED:파랑 / INSTALLED:청록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장비 호버 시 팝오버(U 위치, 모델, IP)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빈 슬롯은 'empty' 표시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2ED6"/>
                </a:solidFill>
                <a:latin typeface="맑은 고딕"/>
              </a:defRPr>
            </a:pPr>
            <a:r>
              <a:t>장비 테이블 + 조작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U 위치, Hostname, IP, 상태, 타입, 모델 표시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Hostname 클릭 → 서버 상세 페이지 이동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위/아래 화살표로 장비 1U씩 이동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X 버튼으로 랙에서 장비 제거(배치 해제)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한 번에 하나의 랙만 펼칠 수 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온도 히트맵 + 드래그앤드롭 배치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2ED6"/>
                </a:solidFill>
                <a:latin typeface="맑은 고딕"/>
              </a:defRPr>
            </a:pPr>
            <a:r>
              <a:t>온도 히트맵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'온도 ON/OFF' 버튼으로 히트맵 모드 토글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온도 색상 6단계: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&lt;35°C 하늘색 → 35~45 초록 → 45~55 노랑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55~65 주황 → 65~75 오렌지 → 75°C+ 빨강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장비 우측에 실시간 온도 수치 표시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Prometheus에서 30초 갱신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2ED6"/>
                </a:solidFill>
                <a:latin typeface="맑은 고딕"/>
              </a:defRPr>
            </a:pPr>
            <a:r>
              <a:t>드래그앤드롭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장비 좌측 그립 → 원하는 빈 슬롯에 드롭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'여기에 놓기' 파란색 안내 표시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U 충돌 방지 내장 — 중복 배치 불가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미배치 장비 추가 패널: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하단 '장비 추가' 버튼 → 장비 선택 → U 지정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미지정 시 첫 번째 빈 슬롯 자동 배치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랙 관리 페이지 (/racks/manage)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랙 페이지 상단 '관리' 버튼 → Admin/Operator 권한 필요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[Room/Rack 관리 탭]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Room CRUD — 이름, 설명, 정렬 순서(sortOrder)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Rack CRUD — 이름, Row, 전체 U 수(기본 42U), 최대 전력(W), 평면도 좌표(X/Y)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장비가 배치된 랙은 삭제 전 장비 이동/해제 필요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[일괄 배치 탭]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다수의 장비를 한 번에 특정 랙에 일괄 배치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디지털 트윈 (Digital Twin)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데이터센터 물리 구조를 SVG 기반 평면도로 시각화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데이터센터 평면도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건물 전체를 1400x650 크기의 SVG 캔버스로 표현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Lab-3 (상단) — 보라색 강조, 서버 랙 + 스위치, 냉각기, PDU, K8s 마스터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Lab-2 (하단 좌측) — 녹색 강조, 확장 예정 공간 (AVAILABLE SPACE)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Lab-1 (하단 우측) — 파란색 강조, 서버 랙 + 인프라 요소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각 방 요약: 랙 수, 서버 수, Active 수, U 사용률 바, 상태 배지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방과 방 사이에 문(DOOR) 마커로 동선 표시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오버레이 모드 (3가지)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평면도 상단 3개 토글 버튼 — 한 번에 하나만 활성화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[온도 Temp] Prometheus hwmon 데이터 30초 갱신, 랙별 평균 온도 색상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30°C 이하 초록 → 45 라임 → 55 노랑 → 65 주황 → 75+ 빨강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[용량 Capacity] 랙별 U 사용률 색상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60% 미만 초록 / 60~85% 주황 / 85% 초과 빨강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[에어플로우 Airflow] 냉기 흐름 방향 화살표 + COLD→HOT 라벨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줌/팬: 마우스 드래그=팬, +/-/리셋 버튼, 0.5x~4x 범위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랙 호버 팝오버 + 클릭 이동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랙에 마우스 호버 시 HTML 오버레이 팝오버 표시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랙 이름 + '클릭하여 이동' 안내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서버 수: 활성/전체 (장애 시 빨간 배지)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U 사용률: 퍼센트 + 사용/전체 U + 프로그레스 바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평균 온도: 색상 구간 표시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서버 호스트명 목록: 최대 6개, 초과 시 '+N' 배지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랙 클릭 → /racks?highlight=랙ID → 해당 랙 자동 펼침 + 스크롤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편집 모드 (관리자용)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맑은 고딕"/>
              </a:defRPr>
            </a:pPr>
            <a:r>
              <a:t>기본 조작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연필 아이콘 → 편집 모드 진입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좌클릭 드래그 → 크기 조절 (W/H)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우클릭 드래그 → 위치 이동 (방 경계 내)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+ 버튼 → 요소 추가 (COOLING/PDU/SWITCH 등)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x 버튼 → 요소 삭제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변경 사항 API로 즉시 저장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맑은 고딕"/>
              </a:defRPr>
            </a:pPr>
            <a:r>
              <a:t>고급 기능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크기 통일: 우클릭 메뉴 → 동일 타입 일괄 적용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방향 전환: 냉각기(상/우/하/좌), 문(가로/세로)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다중 선택: 좌클릭으로 2개+ 선택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가로 정렬: Y 좌표 평균값 통일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세로 정렬: X 좌표 평균값 통일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방 이동/크기 조절 (최소 100x80)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BMC/Redfish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제조사 독립적 서버 원격 관리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BMC 개요 — Redfish 표준 기반 원격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BMC(Baseboard Management Controller): 서버 메인보드 내장 독립 관리 프로세서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OS와 별개 동작 — 서버 꺼진 상태에서도 전원 제어, 센서 읽기 가능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Redfish: DMTF 정의 RESTful 서버 관리 표준 API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Intel, Dell, HPE, Supermicro 등 제조사 독립적 통합 제어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DC Express는 Redfish API를 통해 BMC와 직접 통신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자체 서명 인증서 환경 지원 (내부 네트워크 기본 설정)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BMC IP 설정 — 3가지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방법 1: 장비 등록/수정 시 직접 입력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/infrastructure/new 또는 /infrastructure/장비ID/edit의 BMC IP 필드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방법 2: BMC 관리 페이지에서 인라인 편집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설정 &gt; BMC 관리 &gt; BMC IP 매핑 탭 — 연필 아이콘 클릭 → 즉석 편집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필터: 전체 / BMC 설정됨 / BMC 미설정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방법 3: 자동 유도 (일괄 자동 설정)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Host IP 마지막 옥텟 → 192.168.10.{옥텟} 자동 생성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'미설정 서버 자동 설정' 버튼으로 일괄 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BMC 자격증명 + 프록시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8A00"/>
                </a:solidFill>
                <a:latin typeface="맑은 고딕"/>
              </a:defRPr>
            </a:pPr>
            <a:r>
              <a:t>기본 자격증명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환경 변수 설정: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BMC_USERNAME / BMC_PASSWORD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.env 파일에 설정, 모든 서버 공통 적용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미설정 시 BMC 기능 전체 비활성화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장비별 계정 오버라이드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8A00"/>
                </a:solidFill>
                <a:latin typeface="맑은 고딕"/>
              </a:defRPr>
            </a:pPr>
            <a:r>
              <a:t>BMC 프록시 (원격 사이트)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네트워크 분리된 원격 사이트(Lab-3 등) BMC 접근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Room 설정에서 BMC 프록시 URL 지정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예: http://10.144.131.100:8443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Room 단위 설정 → 같은 방 모든 장비 자동 적용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직접 접근 대신 프록시 서버 경유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BMC 센서 모니터링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서버 상세 페이지에 BMC Sensors (Thermal &amp; Power) 카드 자동 표시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전력 소비: 현재 소비 전력(W) + 전체 용량 대비 비율 프로그레스바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전원 공급 장치(PSU): PSU별 이름, 모델, 용량(W), 상태 — 카드 그리드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온도 센서: 현재 온도(°C) + 임계값 대비 바 차트 (녹/황/적)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임계값(Critical) 85% 이상 황색, 초과 시 적색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팬 센서: 팬별 회전 속도(RPM) 숫자 그리드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Refresh 버튼으로 최신 데이터 재조회 + 조회 시각 표시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전원 제어 (Power Control) — 5가지 액션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서버 상세 Power &amp; Console 카드에서 전원 상태 확인 및 제어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Graceful Restart — OS 정상 재부팅 (위험도: 보통)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Force Restart — BMC 강제 재시작, 데이터 유실 가능 (위험도: 주의)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Graceful Shutdown — OS 정상 종료 (위험도: 주의)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Force Off — 전원 즉시 차단 = 전원 코드 제거와 동일 (위험도: 위험)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Power On — 시스템 전원 켜기 (위험도: 보통)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전원 제어 — 안전 장치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호스트명 직접 타이핑: 대상 서버 호스트명을 정확히 입력해야 실행 (실수 방지)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사유 입력 필수: 최소 3자 이상의 전원 제어 사유 기록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티켓 참조 (선택): 관련 작업 티켓 번호 연결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역할 기반 접근 제어: ADMIN/OPERATOR만 제어, VIEWER는 조회만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감사 로그 자동 기록: 모든 전원 제어 이력 자동 저장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일괄 전원 제어: 설정&gt;BMC 관리&gt;일괄 작업 탭에서 다수 서버 동시 제어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하드웨어 자동 수집 (Refresh HW)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Redfish API로 BMC에서 HW 정보 자동 수집 → DB 저장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수집 항목: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CPU — 소켓별 모델, 코어/스레드, TDP, 아키텍처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Memory — 슬롯별 용량, 타입(DDR4/DDR5), 제조사, 시리얼, 속도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NIC — 포트명, MAC, 링크 속도, IPv4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시스템 — 제조사, 모델명, S/N, BIOS 버전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일괄 HW 갱신: 다수 서버 동시 수집 → 수동 입력 없이 자동 완성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쿠버네티스(K8s)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Prometheus 기반 K8s 메트릭 통합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K8s 메트릭 수집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별도 K8s API 직접 연결 없이 기존 Prometheus 인프라 활용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kube-state-metrics (1대): 노드/파드 상태, 용량 정보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kube_pod_info, kube_node_status_capacity, kube_pod_status_phase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kubernetes-cadvisor (24대): 컨테이너별 CPU/메모리/디스크/네트워크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kubelet (각 노드): 파드 실행 현황 — kubelet_running_pods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데이터 흐름: K8s 클러스터 → Prometheus → DC Express API → 웹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Prometheus Discovery + 서버 K8s 정보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4CC16"/>
                </a:solidFill>
                <a:latin typeface="맑은 고딕"/>
              </a:defRPr>
            </a:pPr>
            <a:r>
              <a:t>Prometheus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설정 &gt; Prometheus Discovery에서 접근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동기화 실행: /api/v1/targets 호출 → 자동 수집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필터: Job별 / UP·DOWN / 연결·미연결 / 텍스트 검색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미연결 타겟 '등록' → 장비 자동 생성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CPU 코어 수, 메모리 용량 자동 감지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4CC16"/>
                </a:solidFill>
                <a:latin typeface="맑은 고딕"/>
              </a:defRPr>
            </a:pPr>
            <a:r>
              <a:t>Node Resources 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서버 상세 페이지에 자동 표시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CPU/Memory/Disk/Pods 게이지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70% 이상 노란색, 90% 이상 빨간색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Running Pods 목록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namespace/pod이름 형식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kube_pod_info 메트릭 기반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워크로드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Workload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Active 탭 — 실시간 워크로드 모니터링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Prometheus에서 실시간 파드 상태 조회 → 네임스페이스별 카드 표시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각 카드: Health 상태 표시등, 파드/노드 수, 시작일/경과 시간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Health 상태 5종류: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Running(녹) — 정상 / Pending(노랑) — 대기 / Warning(주황) — 경고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Error(빨강) — CrashLoopBackOff 등 / Completed(회색) — 완료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시스템 NS(kube-system, monitoring 등) 자동 제외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카드 클릭 → 상세 페이지 (파드 목록, 프로젝트, 테스트, 태스크, 메모)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History 탭 — 달력 타임라인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달력 타임라인 형태로 모든 워크로드 이력 시각화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네임스페이스 필터: 체크박스 선택, LIVE 표시, 고유 색상 구분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월 단위 달력에 프로젝트 기간을 색상 바로 표시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프로젝트 상세 팝업 (바 클릭): Overview, Phases, Test Results, Tasks, Notes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전체 워크로드 리스트: 상태 5종 (IN_PROGRESS/COMPLETED/CANCELLED/ON_HOLD/PLANNED)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대시보드 연동 — Active Workloads 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메인 대시보드에 Active Workloads 카드 — 워크로드 실시간 요약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NS별 Health 상태, 파드/노드 수, 시작일, 경과 시간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Warning 파드 시 사유(예: CrashLoopBackOff)와 파드명 표시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노드 온도 바: 50°C↓ 녹 / 65°C↑ 주황 / 80°C↑ 빨강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클러스터 필터 연동: All / Lab-1 / Lab-3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카드 클릭 → /workloads/NS명 상세 이동, 30초 자동 갱신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인프라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Infrastructure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장비 목록 및 검색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전체 장비 테이블 뷰: hostname, IP, 모델, 상태, 위치, 메모리, CPU 컬럼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플랫폼별 필터 칩: GNR-AP, GNR-SP, SPR, SRF, Ampere 등 자동 매핑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텍스트 검색: hostname, IP, 모델명으로 실시간 필터링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상태 요약 카드: ACTIVE, MAINTENANCE, RETIRED 등 상태별 장비 수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장비 클릭 시 상세 이동, ADMIN/OPERATOR에게 등록/Bulk Import 버튼 노출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장비 등록 / 수정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맑은 고딕"/>
              </a:defRPr>
            </a:pPr>
            <a:r>
              <a:t>개별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장비 타입 9종: SERVER, SWITCH, ROUTER 등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필수 입력: hostname, IP, 모델, 타입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CPU 소켓별 상세 (코어/스레드/TDP/아키텍처)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메모리 슬롯별 입력 (DDR3~HBM3)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랙 위치: Room/Rack/U position 선택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맑은 고딕"/>
              </a:defRPr>
            </a:pPr>
            <a:r>
              <a:t>대량 등록 + 라이프사이클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CSV 대량 등록: 업로드 → 미리보기 → Zod 검증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라이프사이클 관리: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REGISTERED → ACTIVE → MAINTENANCE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→ RETIRED → DECOMMISSIONED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상태 변경 이력 자동 기록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장비 상세 + 부가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기본 정보: hostname, IP, 모델, S/N, 상태, Power State 실시간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CPU/Memory/NIC 사양 상세, DIMM 슬롯 시각화 (/memory 별도 페이지)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BMC 연동: HW 정보 갱신 + 콘솔 링크 + 원격 전원 제어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변경 이력 타임라인: 수정/전원/상태/유지보수 이력 시간순 표시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사용자 할당: 장비별 담당자 할당/반납 및 이력 추적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펌웨어 관리: 모델별 BIOS/펌웨어 버전 비교, 오래된 버전 자동 식별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알림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Alert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알림 규칙 + 이력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PromQL 기반 알림 규칙 CRUD (Zod 유효성 검증)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심각도 3단계: CRITICAL(빨강), WARNING(주황), INFO(파랑)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카테고리: temperature, cpu, memory, disk, network, power, hardware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프리셋 5종: High CPU(&gt;90%), High Memory(&gt;90%), Disk Low(&lt;10%), High Temp(&gt;80°C), Node Down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알림 이력: 상태 카드(Firing/Acknowledged/Resolved), 날짜별 Accordion, 카테고리 필터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워크플로우: FIRING → ACKNOWLEDGED → RESOLVED (역할 기반 권한)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알림 고급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알림 수신 채널: Email, Slack, Teams, Webhook 4종 지원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채널별 최소 심각도 설정 + 테스트 발송 + 활성/비활성 토글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에스컬레이션 정책: 심각도별 N분 미확인 시 자동 통지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예: CRITICAL 15분 미확인 → Ops Slack 전송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유지보수 창 (Maintenance Windows):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기간 + 범위별 알림 음소거 — muted 배지 표시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해결 완료 알림 일괄 삭제 (ADMIN 전용)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Settings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설정 페이지 + 사용자/역할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맑은 고딕"/>
              </a:defRPr>
            </a:pPr>
            <a:r>
              <a:t>설정 메뉴 (6개)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사용자 관리 — 계정 CRUD, 역할 변경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Prometheus Discovery — 타겟 동기화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BMC 관리 — 일괄 HW 갱신, 전원 제어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Prometheus 진단 — IP-only, 중복, 고아 탐지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만기 관리 — 인증서/라이선스/보증 D-day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시스템 정보 — 앱 버전, 환경, Prometheus URL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맑은 고딕"/>
              </a:defRPr>
            </a:pPr>
            <a:r>
              <a:t>역할 기반 접근 제어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Admin — 모든 기능 + 사용자/설정 관리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Operator — 장비 CRUD + 알림 처리 + 전원 제어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Viewer — 읽기 전용 (대시보드/모니터링)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감사 로그 (/history):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액션/엔티티/사용자/날짜별 필터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변경 전후 diff + CSV 내보내기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용량 계획 /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Capacity Planning &amp;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용량 계획 + 리포트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맑은 고딕"/>
              </a:defRPr>
            </a:pPr>
            <a:r>
              <a:t>Capacity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요약 카드: 장비 수, Rack Space, 총 메모리, TDP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Room별 사용률 프로그레스 바 (4단계 색상)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Rack별 상세 테이블 (장비, U 사용률, 전력)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용량 예측: 월별 성장 추이 AreaChart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선형회귀 12개월 전망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랙 공간/전력 소진 예상일 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맑은 고딕"/>
              </a:defRPr>
            </a:pPr>
            <a:r>
              <a:t>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Executive Summary: 장비, 메모리, Room/Rack, 알림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Equipment Breakdown: 상태/타입/제조사별 분포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Alert Statistics (30d): 카테고리별, Top Rules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Recent Alerts: 최근 30일 알림 목록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내보내기: PDF (A4, 한글 지원) + CSV + 브라우저 인쇄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기타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글로벌 검색, 다국어, 인증, 운영 자동화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검색 + UX + 인증 + 운영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7280"/>
                </a:solidFill>
                <a:latin typeface="맑은 고딕"/>
              </a:defRPr>
            </a:pPr>
            <a:r>
              <a:t>글로벌 검색 + 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Cmd+K 커맨드 팔레트 — 서버/Room/Rack/알림 통합 검색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키보드 탐색 (화살표 + Enter)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다국어 (한/영) — i18n 실시간 전환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다크/라이트 모드 — CSS 변수 반전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localStorage 저장 + 무플래시 초기화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7280"/>
                </a:solidFill>
                <a:latin typeface="맑은 고딕"/>
              </a:defRPr>
            </a:pPr>
            <a:r>
              <a:t>인증 + 운영 자동화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NextAuth.js + JWT 전략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역할 기반 접근 제어 (Admin/Operator/Viewer)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API 20+ 라우트 Zod 입력 검증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systemd 서비스 + Docker 배포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DB 백업(매일) + 로그 로테이션 + 장애 복구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70C0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C8C9A"/>
                </a:solidFill>
                <a:latin typeface="맑은 고딕"/>
              </a:defRPr>
            </a:pPr>
            <a:r>
              <a:t>DC Express — Data Center Infrastructure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931920"/>
            <a:ext cx="2743200" cy="36576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5A6E"/>
                </a:solidFill>
                <a:latin typeface="맑은 고딕"/>
              </a:defRPr>
            </a:pPr>
            <a:r>
              <a:t>문의사항이 있으시면 언제든지 연락 주세요.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