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4864"/>
            <a:ext cx="12191695" cy="27432"/>
          </a:xfrm>
          <a:prstGeom prst="rect">
            <a:avLst/>
          </a:prstGeom>
          <a:solidFill>
            <a:srgbClr val="00A5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3716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>
                <a:solidFill>
                  <a:srgbClr val="0070C0"/>
                </a:solidFill>
                <a:latin typeface="맑은 고딕"/>
              </a:defRPr>
            </a:pPr>
            <a:r>
              <a:t>DC Express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2860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0">
                <a:solidFill>
                  <a:srgbClr val="5A5A6E"/>
                </a:solidFill>
                <a:latin typeface="맑은 고딕"/>
              </a:defRPr>
            </a:pPr>
            <a:r>
              <a:t>프로젝트 회고: 바이브 코딩 4.5개월의 기록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3200400"/>
            <a:ext cx="2743200" cy="36576"/>
          </a:xfrm>
          <a:prstGeom prst="rect">
            <a:avLst/>
          </a:prstGeom>
          <a:solidFill>
            <a:srgbClr val="00A5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3657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F1F1F"/>
                </a:solidFill>
                <a:latin typeface="맑은 고딕"/>
              </a:defRPr>
            </a:pPr>
            <a:r>
              <a:t>인프라 엔지니어 1명 + AI가 만든 DCIM 시스템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4389120"/>
            <a:ext cx="9144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5A5A6E"/>
                </a:solidFill>
                <a:latin typeface="맑은 고딕"/>
              </a:defRPr>
            </a:pPr>
            <a:r>
              <a:t>576 커밋  |  44,211줄  |  135개 기능  |  AI 99%+ 작성</a:t>
            </a:r>
          </a:p>
          <a:p>
            <a:pPr>
              <a:lnSpc>
                <a:spcPct val="13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5A5A6E"/>
                </a:solidFill>
                <a:latin typeface="맑은 고딕"/>
              </a:defRPr>
            </a:pPr>
            <a:r>
              <a:t>2026-02 ~ 06  |  서영재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48272"/>
            <a:ext cx="12191695" cy="54864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00A5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F1F1F"/>
                </a:solidFill>
                <a:latin typeface="맑은 고딕"/>
              </a:defRPr>
            </a:pPr>
            <a:r>
              <a:t>목차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2286000" cy="36576"/>
          </a:xfrm>
          <a:prstGeom prst="rect">
            <a:avLst/>
          </a:prstGeom>
          <a:solidFill>
            <a:srgbClr val="00A5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54864" cy="4572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5087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F1F1F"/>
                </a:solidFill>
                <a:latin typeface="맑은 고딕"/>
              </a:defRPr>
            </a:pPr>
            <a:r>
              <a:t>1.  프로젝트 개요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240280"/>
            <a:ext cx="54864" cy="457200"/>
          </a:xfrm>
          <a:prstGeom prst="rect">
            <a:avLst/>
          </a:prstGeom>
          <a:solidFill>
            <a:srgbClr val="00A5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2860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F1F1F"/>
                </a:solidFill>
                <a:latin typeface="맑은 고딕"/>
              </a:defRPr>
            </a:pPr>
            <a:r>
              <a:t>2.  왜 만들었나 (Before/After)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017520"/>
            <a:ext cx="54864" cy="457200"/>
          </a:xfrm>
          <a:prstGeom prst="rect">
            <a:avLst/>
          </a:prstGeom>
          <a:solidFill>
            <a:srgbClr val="6C2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063239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F1F1F"/>
                </a:solidFill>
                <a:latin typeface="맑은 고딕"/>
              </a:defRPr>
            </a:pPr>
            <a:r>
              <a:t>3.  8단계 진화 타임라인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794760"/>
            <a:ext cx="54864" cy="457200"/>
          </a:xfrm>
          <a:prstGeom prst="rect">
            <a:avLst/>
          </a:prstGeom>
          <a:solidFill>
            <a:srgbClr val="E0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8404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F1F1F"/>
                </a:solidFill>
                <a:latin typeface="맑은 고딕"/>
              </a:defRPr>
            </a:pPr>
            <a:r>
              <a:t>4.  바이브 코딩의 현실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572000"/>
            <a:ext cx="54864" cy="457200"/>
          </a:xfrm>
          <a:prstGeom prst="rect">
            <a:avLst/>
          </a:prstGeom>
          <a:solidFill>
            <a:srgbClr val="DC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6177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F1F1F"/>
                </a:solidFill>
                <a:latin typeface="맑은 고딕"/>
              </a:defRPr>
            </a:pPr>
            <a:r>
              <a:t>5.  CLAUDE.md: 실패가 만든 규칙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1463040"/>
            <a:ext cx="54864" cy="4572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5120" y="15087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F1F1F"/>
                </a:solidFill>
                <a:latin typeface="맑은 고딕"/>
              </a:defRPr>
            </a:pPr>
            <a:r>
              <a:t>6.  주요 피벗 사례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0" y="2240280"/>
            <a:ext cx="54864" cy="4572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0" y="22860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F1F1F"/>
                </a:solidFill>
                <a:latin typeface="맑은 고딕"/>
              </a:defRPr>
            </a:pPr>
            <a:r>
              <a:t>7.  가장 큰 깨달음: 프롬프트에서 도구로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3017520"/>
            <a:ext cx="54864" cy="4572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5120" y="3063239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F1F1F"/>
                </a:solidFill>
                <a:latin typeface="맑은 고딕"/>
              </a:defRPr>
            </a:pPr>
            <a:r>
              <a:t>8.  미로찾기와 AI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0" y="3794760"/>
            <a:ext cx="54864" cy="457200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75120" y="38404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F1F1F"/>
                </a:solidFill>
                <a:latin typeface="맑은 고딕"/>
              </a:defRPr>
            </a:pPr>
            <a:r>
              <a:t>9.  잘한 것 / 아쉬운 것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0" y="4572000"/>
            <a:ext cx="54864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0" y="46177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F1F1F"/>
                </a:solidFill>
                <a:latin typeface="맑은 고딕"/>
              </a:defRPr>
            </a:pPr>
            <a:r>
              <a:t>10.  조직 적용 제안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371600" y="2011680"/>
            <a:ext cx="1097280" cy="1097280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1200"/>
              </a:spcBef>
              <a:defRPr sz="3600" b="1">
                <a:solidFill>
                  <a:srgbClr val="FFFFFF"/>
                </a:solidFill>
                <a:latin typeface="맑은 고딕"/>
              </a:defRPr>
            </a:pPr>
            <a: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0" y="18288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1F1F1F"/>
                </a:solidFill>
                <a:latin typeface="맑은 고딕"/>
              </a:defRPr>
            </a:pPr>
            <a:r>
              <a:t>프로젝트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29260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5A5A6E"/>
                </a:solidFill>
                <a:latin typeface="맑은 고딕"/>
              </a:defRPr>
            </a:pPr>
            <a:r>
              <a:t>숫자로 보는 DC Express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0" y="3657600"/>
            <a:ext cx="3657600" cy="3657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695" cy="54864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1F1F"/>
                </a:solidFill>
                <a:latin typeface="맑은 고딕"/>
              </a:defRPr>
            </a:pPr>
            <a:r>
              <a:t>프로젝트 핵심 수치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4360" y="1280160"/>
          <a:ext cx="10972800" cy="5532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731520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항목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수치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개발 기간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4.5개월 (실질 2.5개월)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개발 인원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1명 (인프라 엔지니어, 웹 개발 비전공)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총 커밋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576개 (AI 99%+ 작성)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소스 코드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44,211줄 / 218개 파일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API 엔드포인트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74개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페이지/뷰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39개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DB 모델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29개 (Prisma)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구현 기능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135개 (features.md 기준)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데이터 검증 스크립트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116개 작성, 31개 결과 기록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다국어 번역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511개 키 (한/영)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A5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371600" y="2011680"/>
            <a:ext cx="1097280" cy="1097280"/>
          </a:xfrm>
          <a:prstGeom prst="ellipse">
            <a:avLst/>
          </a:prstGeom>
          <a:solidFill>
            <a:srgbClr val="00A5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1200"/>
              </a:spcBef>
              <a:defRPr sz="3600" b="1">
                <a:solidFill>
                  <a:srgbClr val="FFFFFF"/>
                </a:solidFill>
                <a:latin typeface="맑은 고딕"/>
              </a:defRPr>
            </a:pPr>
            <a: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0" y="18288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1F1F1F"/>
                </a:solidFill>
                <a:latin typeface="맑은 고딕"/>
              </a:defRPr>
            </a:pPr>
            <a:r>
              <a:t>왜 만들었나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29260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5A5A6E"/>
                </a:solidFill>
                <a:latin typeface="맑은 고딕"/>
              </a:defRPr>
            </a:pPr>
            <a:r>
              <a:t>기존 환경의 문제와 변화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0" y="3657600"/>
            <a:ext cx="3657600" cy="36576"/>
          </a:xfrm>
          <a:prstGeom prst="rect">
            <a:avLst/>
          </a:prstGeom>
          <a:solidFill>
            <a:srgbClr val="00A5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695" cy="54864"/>
          </a:xfrm>
          <a:prstGeom prst="rect">
            <a:avLst/>
          </a:prstGeom>
          <a:solidFill>
            <a:srgbClr val="00A5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0A5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1F1F"/>
                </a:solidFill>
                <a:latin typeface="맑은 고딕"/>
              </a:defRPr>
            </a:pPr>
            <a:r>
              <a:t>Before / After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00A5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5394960" cy="5212080"/>
          </a:xfrm>
          <a:prstGeom prst="roundRect">
            <a:avLst/>
          </a:prstGeom>
          <a:solidFill>
            <a:srgbClr val="F8F9FB"/>
          </a:solidFill>
          <a:ln w="12700">
            <a:solidFill>
              <a:srgbClr val="E0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A585"/>
                </a:solidFill>
                <a:latin typeface="맑은 고딕"/>
              </a:defRPr>
            </a:pPr>
            <a:r>
              <a:t>Before (기존 환경)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73736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  <a:r>
              <a:t>Grafana 대시보드 10개 이상 산재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8C8C9A"/>
                </a:solidFill>
                <a:latin typeface="맑은 고딕"/>
              </a:defRPr>
            </a:pPr>
            <a:r>
              <a:t>서버 하나 확인에 3~4개 대시보드 이동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  <a:r>
              <a:t>엑셀 파일 수기 자산관리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8C8C9A"/>
                </a:solidFill>
                <a:latin typeface="맑은 고딕"/>
              </a:defRPr>
            </a:pPr>
            <a:r>
              <a:t>버전 혼란, 보증 만료 추적 불가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  <a:r>
              <a:t>물리 배치를 담당자 기억에 의존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8C8C9A"/>
                </a:solidFill>
                <a:latin typeface="맑은 고딕"/>
              </a:defRPr>
            </a:pPr>
            <a:r>
              <a:t>종이 배치도, 최신 상태 미반영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  <a:r>
              <a:t>BMC/IPMI 서버별 개별 접속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  <a:r>
              <a:t>용량 계획은 감에 의존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188720"/>
            <a:ext cx="5394960" cy="5212080"/>
          </a:xfrm>
          <a:prstGeom prst="roundRect">
            <a:avLst/>
          </a:prstGeom>
          <a:solidFill>
            <a:srgbClr val="F8F9FB"/>
          </a:solidFill>
          <a:ln w="12700">
            <a:solidFill>
              <a:srgbClr val="E0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28016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A585"/>
                </a:solidFill>
                <a:latin typeface="맑은 고딕"/>
              </a:defRPr>
            </a:pPr>
            <a:r>
              <a:t>After (DC Express)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73736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  <a:r>
              <a:t>통합 39페이지 + 74개 API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8C8C9A"/>
                </a:solidFill>
                <a:latin typeface="맑은 고딕"/>
              </a:defRPr>
            </a:pPr>
            <a:r>
              <a:t>서버 클릭 한 번으로 전체 메트릭 확인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  <a:r>
              <a:t>DB 기반 CRUD + 라이프사이클 관리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8C8C9A"/>
                </a:solidFill>
                <a:latin typeface="맑은 고딕"/>
              </a:defRPr>
            </a:pPr>
            <a:r>
              <a:t>등록 &gt; 운영 &gt; 수리 &gt; 퇴역 &gt; 폐기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  <a:r>
              <a:t>Digital Twin + 랙 다이어그램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8C8C9A"/>
                </a:solidFill>
                <a:latin typeface="맑은 고딕"/>
              </a:defRPr>
            </a:pPr>
            <a:r>
              <a:t>드래그&amp;드롭 배치, 온도 히트맵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  <a:r>
              <a:t>웹에서 원격 전원 제어 (BMC 프록시)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  <a:r>
              <a:t>12개월 예측 + PDF 리포트 자동 생성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6C2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371600" y="2011680"/>
            <a:ext cx="1097280" cy="1097280"/>
          </a:xfrm>
          <a:prstGeom prst="ellipse">
            <a:avLst/>
          </a:prstGeom>
          <a:solidFill>
            <a:srgbClr val="6C2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1200"/>
              </a:spcBef>
              <a:defRPr sz="3600" b="1">
                <a:solidFill>
                  <a:srgbClr val="FFFFFF"/>
                </a:solidFill>
                <a:latin typeface="맑은 고딕"/>
              </a:defRPr>
            </a:pPr>
            <a: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0" y="18288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1F1F1F"/>
                </a:solidFill>
                <a:latin typeface="맑은 고딕"/>
              </a:defRPr>
            </a:pPr>
            <a:r>
              <a:t>8단계 진화 타임라인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29260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5A5A6E"/>
                </a:solidFill>
                <a:latin typeface="맑은 고딕"/>
              </a:defRPr>
            </a:pPr>
            <a:r>
              <a:t>스캐폴딩부터 품질 감사까지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0" y="3657600"/>
            <a:ext cx="3657600" cy="36576"/>
          </a:xfrm>
          <a:prstGeom prst="rect">
            <a:avLst/>
          </a:prstGeom>
          <a:solidFill>
            <a:srgbClr val="6C2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695" cy="54864"/>
          </a:xfrm>
          <a:prstGeom prst="rect">
            <a:avLst/>
          </a:prstGeom>
          <a:solidFill>
            <a:srgbClr val="6C2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6C2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1F1F"/>
                </a:solidFill>
                <a:latin typeface="맑은 고딕"/>
              </a:defRPr>
            </a:pPr>
            <a:r>
              <a:t>Phase 1~4: 구축기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6C2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4360" y="1280160"/>
          <a:ext cx="1097280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4114800"/>
                <a:gridCol w="320040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Phase</a:t>
                      </a:r>
                    </a:p>
                  </a:txBody>
                  <a:tcPr>
                    <a:solidFill>
                      <a:srgbClr val="6C2ED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시기</a:t>
                      </a:r>
                    </a:p>
                  </a:txBody>
                  <a:tcPr>
                    <a:solidFill>
                      <a:srgbClr val="6C2ED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내용</a:t>
                      </a:r>
                    </a:p>
                  </a:txBody>
                  <a:tcPr>
                    <a:solidFill>
                      <a:srgbClr val="6C2ED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교훈</a:t>
                      </a:r>
                    </a:p>
                  </a:txBody>
                  <a:tcPr>
                    <a:solidFill>
                      <a:srgbClr val="6C2ED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1. 스캐폴딩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4/8 (1일)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프로젝트 구조, 스키마, 핵심 페이지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며칠 걸릴 뼈대를 몇 시간에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2. Docker 삽질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4/9 (1일)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Alpine &gt; Debian (Prisma 호환)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AI도 환경 차이는 부딪혀봐야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3. 기능 폭발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4/10~20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Prometheus, RBAC, CSV, SSE, i18n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속도는 압도적. 단, 실데이터에서 깨짐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4. 실데이터 고통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4말~5중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node-exporter 39커밋, BMC 39커밋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추측 코드의 대가. Data-First 탄생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6C2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1F1F"/>
                </a:solidFill>
                <a:latin typeface="맑은 고딕"/>
              </a:defRPr>
            </a:pPr>
            <a:r>
              <a:t>Phase 5~8: 성숙기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6C2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4360" y="1280160"/>
          <a:ext cx="1097280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4114800"/>
                <a:gridCol w="320040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Phase</a:t>
                      </a:r>
                    </a:p>
                  </a:txBody>
                  <a:tcPr>
                    <a:solidFill>
                      <a:srgbClr val="6C2ED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시기</a:t>
                      </a:r>
                    </a:p>
                  </a:txBody>
                  <a:tcPr>
                    <a:solidFill>
                      <a:srgbClr val="6C2ED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내용</a:t>
                      </a:r>
                    </a:p>
                  </a:txBody>
                  <a:tcPr>
                    <a:solidFill>
                      <a:srgbClr val="6C2ED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교훈</a:t>
                      </a:r>
                    </a:p>
                  </a:txBody>
                  <a:tcPr>
                    <a:solidFill>
                      <a:srgbClr val="6C2ED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5. 규칙 정립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5월 중~말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CLAUDE.md 필수 규칙 축적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규칙 = 실패의 압축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6. 고도화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6월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Digital Twin, BMC 프록시, PUE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규칙 덕에 실수 감소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7. 문서화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6/16~17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매뉴얼, PPT 56슬라이드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문서화도 AI가 코드를 읽고 작성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8. 품질 감사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6/22~25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8명 에이전트 병렬 감사 + 도구화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프롬프트에서 도구로의 전환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0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371600" y="2011680"/>
            <a:ext cx="1097280" cy="1097280"/>
          </a:xfrm>
          <a:prstGeom prst="ellipse">
            <a:avLst/>
          </a:prstGeom>
          <a:solidFill>
            <a:srgbClr val="E0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1200"/>
              </a:spcBef>
              <a:defRPr sz="3600" b="1">
                <a:solidFill>
                  <a:srgbClr val="FFFFFF"/>
                </a:solidFill>
                <a:latin typeface="맑은 고딕"/>
              </a:defRPr>
            </a:pPr>
            <a: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0" y="18288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1F1F1F"/>
                </a:solidFill>
                <a:latin typeface="맑은 고딕"/>
              </a:defRPr>
            </a:pPr>
            <a:r>
              <a:t>바이브 코딩의 현실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29260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5A5A6E"/>
                </a:solidFill>
                <a:latin typeface="맑은 고딕"/>
              </a:defRPr>
            </a:pPr>
            <a:r>
              <a:t>빠르게 만들고, 깨지고, 고치고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0" y="3657600"/>
            <a:ext cx="3657600" cy="36576"/>
          </a:xfrm>
          <a:prstGeom prst="rect">
            <a:avLst/>
          </a:prstGeom>
          <a:solidFill>
            <a:srgbClr val="E0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695" cy="54864"/>
          </a:xfrm>
          <a:prstGeom prst="rect">
            <a:avLst/>
          </a:prstGeom>
          <a:solidFill>
            <a:srgbClr val="E0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E0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1F1F"/>
                </a:solidFill>
                <a:latin typeface="맑은 고딕"/>
              </a:defRPr>
            </a:pPr>
            <a:r>
              <a:t>커밋 유형 분석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E0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5394960" cy="5212080"/>
          </a:xfrm>
          <a:prstGeom prst="roundRect">
            <a:avLst/>
          </a:prstGeom>
          <a:solidFill>
            <a:srgbClr val="F8F9FB"/>
          </a:solidFill>
          <a:ln w="12700">
            <a:solidFill>
              <a:srgbClr val="E0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08A00"/>
                </a:solidFill>
                <a:latin typeface="맑은 고딕"/>
              </a:defRPr>
            </a:pPr>
            <a:r>
              <a:t>커밋 분포 (576건)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73736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  <a:r>
              <a:t>feat/add (새 기능): ~229건 (45%)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  <a:r>
              <a:t>fix (수정): ~120건 (23%)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  <a:r>
              <a:t>docs (문서): ~46건 (9%)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  <a:r>
              <a:t>refactor: 3건 (0.6%)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  <a:r>
              <a:t>기타 (update/check/sync): ~116건 (23%)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188720"/>
            <a:ext cx="5394960" cy="5212080"/>
          </a:xfrm>
          <a:prstGeom prst="roundRect">
            <a:avLst/>
          </a:prstGeom>
          <a:solidFill>
            <a:srgbClr val="F8F9FB"/>
          </a:solidFill>
          <a:ln w="12700">
            <a:solidFill>
              <a:srgbClr val="E0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28016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08A00"/>
                </a:solidFill>
                <a:latin typeface="맑은 고딕"/>
              </a:defRPr>
            </a:pPr>
            <a:r>
              <a:t>핵심 인사이트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73736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  <a:r>
              <a:t>fix가 전체의 23% — 바이브 코딩의 자연스러운 리듬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8C8C9A"/>
                </a:solidFill>
                <a:latin typeface="맑은 고딕"/>
              </a:defRPr>
            </a:pPr>
            <a:r>
              <a:t>"빠르게 만들고 &gt; 실환경에서 깨지고 &gt; 고치고"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  <a:r>
              <a:t>Phase 4(실데이터 고통기)에 fix 집중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8C8C9A"/>
                </a:solidFill>
                <a:latin typeface="맑은 고딕"/>
              </a:defRPr>
            </a:pPr>
            <a:r>
              <a:t>Prometheus/BMC 연동만 78+ fix 커밋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  <a:r>
              <a:t>AI는 추측으로 코드를 짠다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8C8C9A"/>
                </a:solidFill>
                <a:latin typeface="맑은 고딕"/>
              </a:defRPr>
            </a:pPr>
            <a:r>
              <a:t>실 데이터를 모르면 틀린 코드가 나옴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  <a:r>
              <a:t>리팩터링은 3건뿐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8C8C9A"/>
                </a:solidFill>
                <a:latin typeface="맑은 고딕"/>
              </a:defRPr>
            </a:pPr>
            <a:r>
              <a:t>기능 추가에만 집중한 대가 = 기술 부채 축적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DC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371600" y="2011680"/>
            <a:ext cx="1097280" cy="1097280"/>
          </a:xfrm>
          <a:prstGeom prst="ellipse">
            <a:avLst/>
          </a:prstGeom>
          <a:solidFill>
            <a:srgbClr val="DC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1200"/>
              </a:spcBef>
              <a:defRPr sz="3600" b="1">
                <a:solidFill>
                  <a:srgbClr val="FFFFFF"/>
                </a:solidFill>
                <a:latin typeface="맑은 고딕"/>
              </a:defRPr>
            </a:pPr>
            <a: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0" y="18288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1F1F1F"/>
                </a:solidFill>
                <a:latin typeface="맑은 고딕"/>
              </a:defRPr>
            </a:pPr>
            <a:r>
              <a:t>CLAUDE.md: 실패가 만든 규칙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29260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5A5A6E"/>
                </a:solidFill>
                <a:latin typeface="맑은 고딕"/>
              </a:defRPr>
            </a:pPr>
            <a:r>
              <a:t>6개 필수 규칙의 탄생 배경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0" y="3657600"/>
            <a:ext cx="3657600" cy="36576"/>
          </a:xfrm>
          <a:prstGeom prst="rect">
            <a:avLst/>
          </a:prstGeom>
          <a:solidFill>
            <a:srgbClr val="DC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695" cy="54864"/>
          </a:xfrm>
          <a:prstGeom prst="rect">
            <a:avLst/>
          </a:prstGeom>
          <a:solidFill>
            <a:srgbClr val="DC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DC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1F1F"/>
                </a:solidFill>
                <a:latin typeface="맑은 고딕"/>
              </a:defRPr>
            </a:pPr>
            <a:r>
              <a:t>실패에서 태어난 규칙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DC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4360" y="1280160"/>
          <a:ext cx="10972800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822960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규칙</a:t>
                      </a:r>
                    </a:p>
                  </a:txBody>
                  <a:tcPr>
                    <a:solidFill>
                      <a:srgbClr val="DC2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어떤 실패에서 탄생했나</a:t>
                      </a:r>
                    </a:p>
                  </a:txBody>
                  <a:tcPr>
                    <a:solidFill>
                      <a:srgbClr val="DC2E2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Data-First 개발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Prometheus 쿼리를 추측으로 작성 &gt; 실데이터에서 전부 실패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폐쇄망 제약 기록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"파일로 push하세요" &gt; "여기는 폐쇄망입니다" 답변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중복 구현 방지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세션 요약으로 넘어오면서 AI가 이미 만든 기능을 다시 만듦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변경 영향 분석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API 응답 구조 변경 &gt; 프론트엔드 3곳 깨짐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팀A/팀B 토론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AI 단독 설계 판단 &gt; 나중에 후회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검증 루틴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1F1F1F"/>
                          </a:solidFill>
                          <a:latin typeface="맑은 고딕"/>
                        </a:defRPr>
                      </a:pPr>
                      <a:r>
                        <a:t>tsc + test 통과 &gt; 런타임 에러 발생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371600" y="2011680"/>
            <a:ext cx="1097280" cy="1097280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1200"/>
              </a:spcBef>
              <a:defRPr sz="3600" b="1">
                <a:solidFill>
                  <a:srgbClr val="FFFFFF"/>
                </a:solidFill>
                <a:latin typeface="맑은 고딕"/>
              </a:defRPr>
            </a:pPr>
            <a: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0" y="18288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1F1F1F"/>
                </a:solidFill>
                <a:latin typeface="맑은 고딕"/>
              </a:defRPr>
            </a:pPr>
            <a:r>
              <a:t>주요 피벗 사례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29260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5A5A6E"/>
                </a:solidFill>
                <a:latin typeface="맑은 고딕"/>
              </a:defRPr>
            </a:pPr>
            <a:r>
              <a:t>부딪혀봐야 아는 것들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0" y="3657600"/>
            <a:ext cx="3657600" cy="36576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695" cy="5486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1F1F"/>
                </a:solidFill>
                <a:latin typeface="맑은 고딕"/>
              </a:defRPr>
            </a:pPr>
            <a:r>
              <a:t>기술적 피벗 3가지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247120" cy="5212080"/>
          </a:xfrm>
          <a:prstGeom prst="roundRect">
            <a:avLst/>
          </a:prstGeom>
          <a:solidFill>
            <a:srgbClr val="F8F9FB"/>
          </a:solidFill>
          <a:ln w="12700">
            <a:solidFill>
              <a:srgbClr val="E0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1F1F1F"/>
                </a:solidFill>
                <a:latin typeface="맑은 고딕"/>
              </a:defRPr>
            </a:pPr>
            <a:r>
              <a:t>Docker Alpine &gt; Debian Slim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8C8C9A"/>
                </a:solidFill>
                <a:latin typeface="맑은 고딕"/>
              </a:defRPr>
            </a:pPr>
            <a:r>
              <a:t>Prisma의 OpenSSL 의존성이 Alpine musl과 호환 불가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8C8C9A"/>
                </a:solidFill>
                <a:latin typeface="맑은 고딕"/>
              </a:defRPr>
            </a:pPr>
            <a:r>
              <a:t>fix 3번 시도 후 베이스 이미지 자체 교체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1F1F1F"/>
                </a:solidFill>
                <a:latin typeface="맑은 고딕"/>
              </a:defRPr>
            </a:pP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1F1F1F"/>
                </a:solidFill>
                <a:latin typeface="맑은 고딕"/>
              </a:defRPr>
            </a:pPr>
            <a:r>
              <a:t>cAdvisor 전용 &gt; node-exporter 우선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8C8C9A"/>
                </a:solidFill>
                <a:latin typeface="맑은 고딕"/>
              </a:defRPr>
            </a:pPr>
            <a:r>
              <a:t>cAdvisor는 hostname 형식, node-exporter는 IP:port 형식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8C8C9A"/>
                </a:solidFill>
                <a:latin typeface="맑은 고딕"/>
              </a:defRPr>
            </a:pPr>
            <a:r>
              <a:t>실측 후 node-exporter가 DB 매핑에 안정적 &gt; PromQL or 폴백 전략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1F1F1F"/>
                </a:solidFill>
                <a:latin typeface="맑은 고딕"/>
              </a:defRPr>
            </a:pP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1F1F1F"/>
                </a:solidFill>
                <a:latin typeface="맑은 고딕"/>
              </a:defRPr>
            </a:pPr>
            <a:r>
              <a:t>hostname/IP 매핑 3곳 분산 &gt; 통합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8C8C9A"/>
                </a:solidFill>
                <a:latin typeface="맑은 고딕"/>
              </a:defRPr>
            </a:pPr>
            <a:r>
              <a:t>같은 매핑 로직이 3곳에 흩어져 불일치 발생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8C8C9A"/>
                </a:solidFill>
                <a:latin typeface="맑은 고딕"/>
              </a:defRPr>
            </a:pPr>
            <a:r>
              <a:t>hostname-resolver.ts 단일 모듈로 리팩터링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1F1F1F"/>
                </a:solidFill>
                <a:latin typeface="맑은 고딕"/>
              </a:defRPr>
            </a:pP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1F1F1F"/>
                </a:solidFill>
                <a:latin typeface="맑은 고딕"/>
              </a:defRPr>
            </a:pPr>
            <a:r>
              <a:t>프로덕션 빌드 전환 삽질 (4번 시도, 에이전트 12명)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8C8C9A"/>
                </a:solidFill>
                <a:latin typeface="맑은 고딕"/>
              </a:defRPr>
            </a:pPr>
            <a:r>
              <a:t>ISR 프리렌더링 + pako 타입 문제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8C8C9A"/>
                </a:solidFill>
                <a:latin typeface="맑은 고딕"/>
              </a:defRPr>
            </a:pPr>
            <a:r>
              <a:t>"이 에러를 어떻게 고치지?" 대신 "성공 전제 조건은?"을 물어야 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371600" y="2011680"/>
            <a:ext cx="1097280" cy="109728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1200"/>
              </a:spcBef>
              <a:defRPr sz="3600" b="1">
                <a:solidFill>
                  <a:srgbClr val="FFFFFF"/>
                </a:solidFill>
                <a:latin typeface="맑은 고딕"/>
              </a:defRPr>
            </a:pPr>
            <a: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0" y="18288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1F1F1F"/>
                </a:solidFill>
                <a:latin typeface="맑은 고딕"/>
              </a:defRPr>
            </a:pPr>
            <a:r>
              <a:t>가장 큰 깨달음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29260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5A5A6E"/>
                </a:solidFill>
                <a:latin typeface="맑은 고딕"/>
              </a:defRPr>
            </a:pPr>
            <a:r>
              <a:t>프롬프트로 버텼지만, 도구로 박았어야 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0" y="3657600"/>
            <a:ext cx="3657600" cy="36576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695" cy="54864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371600"/>
            <a:ext cx="914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0" b="1">
                <a:solidFill>
                  <a:srgbClr val="06B6D4"/>
                </a:solidFill>
                <a:latin typeface="맑은 고딕"/>
              </a:defRPr>
            </a:pPr>
            <a:r>
              <a:t>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2103120"/>
            <a:ext cx="8686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1F1F1F"/>
                </a:solidFill>
                <a:latin typeface="맑은 고딕"/>
              </a:defRPr>
            </a:pPr>
            <a:r>
              <a:t>나는 모든 규칙을 "말(프롬프트)"로 유지해왔다.</a:t>
            </a:r>
            <a:br/>
            <a:r>
              <a:t>말은 매번 다시 해야 하고, 세션이 바뀌면 사라지고,</a:t>
            </a:r>
            <a:br/>
            <a:r>
              <a:t>조금씩 변형된다.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457200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5A5A6E"/>
                </a:solidFill>
                <a:latin typeface="맑은 고딕"/>
              </a:defRPr>
            </a:pPr>
            <a:r>
              <a:t>세 번 반복한 프롬프트는 자산화(도구화) 신호다.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48272"/>
            <a:ext cx="12191695" cy="54864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1F1F"/>
                </a:solidFill>
                <a:latin typeface="맑은 고딕"/>
              </a:defRPr>
            </a:pPr>
            <a:r>
              <a:t>도구화 3종 — 회고 후 실제 구현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5394960" cy="5212080"/>
          </a:xfrm>
          <a:prstGeom prst="roundRect">
            <a:avLst/>
          </a:prstGeom>
          <a:solidFill>
            <a:srgbClr val="F8F9FB"/>
          </a:solidFill>
          <a:ln w="12700">
            <a:solidFill>
              <a:srgbClr val="E0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6B6D4"/>
                </a:solidFill>
                <a:latin typeface="맑은 고딕"/>
              </a:defRPr>
            </a:pPr>
            <a:r>
              <a:t>증거 (도구화 전)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73736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  <a:r>
              <a:t>CLAUDE.md를 25번 수정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8C8C9A"/>
                </a:solidFill>
                <a:latin typeface="맑은 고딕"/>
              </a:defRPr>
            </a:pPr>
            <a:r>
              <a:t>자동화되지 않은 규칙을 손으로 다듬어왔다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  <a:r>
              <a:t>팀A/팀B를 매번 프롬프트로 호출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8C8C9A"/>
                </a:solidFill>
                <a:latin typeface="맑은 고딕"/>
              </a:defRPr>
            </a:pPr>
            <a:r>
              <a:t>가장 자주 쓰는 프로세스인데 매번 새로 생성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  <a:r>
              <a:t>fix 커밋이 전체의 23%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8C8C9A"/>
                </a:solidFill>
                <a:latin typeface="맑은 고딕"/>
              </a:defRPr>
            </a:pPr>
            <a:r>
              <a:t>검증을 매번 수동으로 &gt; 빠뜨림 &gt; 깨짐 &gt; 고침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  <a:r>
              <a:t>폐쇄망 확인 스크립트 매번 수작업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8C8C9A"/>
                </a:solidFill>
                <a:latin typeface="맑은 고딕"/>
              </a:defRPr>
            </a:pPr>
            <a:r>
              <a:t>Data-First 규칙이 텍스트로만 존재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188720"/>
            <a:ext cx="5394960" cy="5212080"/>
          </a:xfrm>
          <a:prstGeom prst="roundRect">
            <a:avLst/>
          </a:prstGeom>
          <a:solidFill>
            <a:srgbClr val="F8F9FB"/>
          </a:solidFill>
          <a:ln w="12700">
            <a:solidFill>
              <a:srgbClr val="E0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28016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6B6D4"/>
                </a:solidFill>
                <a:latin typeface="맑은 고딕"/>
              </a:defRPr>
            </a:pPr>
            <a:r>
              <a:t>구현 완료 (도구화 후)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73736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  <a:r>
              <a:t>서브에이전트 (.claude/agents/)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8C8C9A"/>
                </a:solidFill>
                <a:latin typeface="맑은 고딕"/>
              </a:defRPr>
            </a:pPr>
            <a:r>
              <a:t>team-a.md, team-b.md, impact-analyzer.md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8C8C9A"/>
                </a:solidFill>
                <a:latin typeface="맑은 고딕"/>
              </a:defRPr>
            </a:pPr>
            <a:r>
              <a:t>이름만 호출하면 동일한 관점으로 분석 시작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  <a:r>
              <a:t>훅 (SessionStart)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8C8C9A"/>
                </a:solidFill>
                <a:latin typeface="맑은 고딕"/>
              </a:defRPr>
            </a:pPr>
            <a:r>
              <a:t>세션 시작 시 prisma generate 자동 실행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8C8C9A"/>
                </a:solidFill>
                <a:latin typeface="맑은 고딕"/>
              </a:defRPr>
            </a:pPr>
            <a:r>
              <a:t>스키마 변경 후 불일치 오류 원천 차단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  <a:r>
              <a:t>스킬 (/data-first-check, /feature-sync)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8C8C9A"/>
                </a:solidFill>
                <a:latin typeface="맑은 고딕"/>
              </a:defRPr>
            </a:pPr>
            <a:r>
              <a:t>슬래시 커맨드 한 줄로 규칙 실행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8C8C9A"/>
                </a:solidFill>
                <a:latin typeface="맑은 고딕"/>
              </a:defRPr>
            </a:pPr>
            <a:r>
              <a:t>폐쇄망 출력 최소화 규칙이 스킬 안에 하드코딩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371600" y="2011680"/>
            <a:ext cx="1097280" cy="1097280"/>
          </a:xfrm>
          <a:prstGeom prst="ellipse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1200"/>
              </a:spcBef>
              <a:defRPr sz="3600" b="1">
                <a:solidFill>
                  <a:srgbClr val="FFFFFF"/>
                </a:solidFill>
                <a:latin typeface="맑은 고딕"/>
              </a:defRPr>
            </a:pPr>
            <a: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0" y="18288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1F1F1F"/>
                </a:solidFill>
                <a:latin typeface="맑은 고딕"/>
              </a:defRPr>
            </a:pPr>
            <a:r>
              <a:t>미로찾기와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29260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5A5A6E"/>
                </a:solidFill>
                <a:latin typeface="맑은 고딕"/>
              </a:defRPr>
            </a:pPr>
            <a:r>
              <a:t>막다른 길을 인지하는 능력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0" y="3657600"/>
            <a:ext cx="3657600" cy="36576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695" cy="5486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1F1F"/>
                </a:solidFill>
                <a:latin typeface="맑은 고딕"/>
              </a:defRPr>
            </a:pPr>
            <a:r>
              <a:t>신문 미로 vs 현실 미로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5394960" cy="5212080"/>
          </a:xfrm>
          <a:prstGeom prst="roundRect">
            <a:avLst/>
          </a:prstGeom>
          <a:solidFill>
            <a:srgbClr val="F8F9FB"/>
          </a:solidFill>
          <a:ln w="12700">
            <a:solidFill>
              <a:srgbClr val="E0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8B5CF6"/>
                </a:solidFill>
                <a:latin typeface="맑은 고딕"/>
              </a:defRPr>
            </a:pPr>
            <a:r>
              <a:t>신문 미로 (쉬운 문제)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73736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  <a:r>
              <a:t>시작점과 목표점이 한눈에 보인다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  <a:r>
              <a:t>목표에서 거꾸로 올라가며 경로를 찾는다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  <a:r>
              <a:t>갈림길에서 어디로 가야 하는지 이미 안다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  <a:r>
              <a:t>틀릴 일이 거의 없다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188720"/>
            <a:ext cx="5394960" cy="5212080"/>
          </a:xfrm>
          <a:prstGeom prst="roundRect">
            <a:avLst/>
          </a:prstGeom>
          <a:solidFill>
            <a:srgbClr val="F8F9FB"/>
          </a:solidFill>
          <a:ln w="12700">
            <a:solidFill>
              <a:srgbClr val="E0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28016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8B5CF6"/>
                </a:solidFill>
                <a:latin typeface="맑은 고딕"/>
              </a:defRPr>
            </a:pPr>
            <a:r>
              <a:t>현실 미로 (AI와의 개발)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73736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  <a:r>
              <a:t>목표점이 안개 속에 있다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8C8C9A"/>
                </a:solidFill>
                <a:latin typeface="맑은 고딕"/>
              </a:defRPr>
            </a:pPr>
            <a:r>
              <a:t>대략적인 방향만 있을 뿐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  <a:r>
              <a:t>지금 서 있는 곳 주변만 보인다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8C8C9A"/>
                </a:solidFill>
                <a:latin typeface="맑은 고딕"/>
              </a:defRPr>
            </a:pPr>
            <a:r>
              <a:t>전체 지도가 없다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  <a:r>
              <a:t>갈림길에서 확률적으로 선택해야 한다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  <a:r>
              <a:t>잘못된 방향으로 깊이 들어가면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8C8C9A"/>
                </a:solidFill>
                <a:latin typeface="맑은 고딕"/>
              </a:defRPr>
            </a:pPr>
            <a:r>
              <a:t>그 안에서 아무리 발버둥쳐도 해결 안 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1F1F"/>
                </a:solidFill>
                <a:latin typeface="맑은 고딕"/>
              </a:defRPr>
            </a:pPr>
            <a:r>
              <a:t>AI를 잘 쓰는 4가지 원칙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247120" cy="5212080"/>
          </a:xfrm>
          <a:prstGeom prst="roundRect">
            <a:avLst/>
          </a:prstGeom>
          <a:solidFill>
            <a:srgbClr val="F8F9FB"/>
          </a:solidFill>
          <a:ln w="12700">
            <a:solidFill>
              <a:srgbClr val="E0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1F1F1F"/>
                </a:solidFill>
                <a:latin typeface="맑은 고딕"/>
              </a:defRPr>
            </a:pPr>
            <a:r>
              <a:t>원칙 1: 같은 자리를 3번 맴돌면 멈춰라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8C8C9A"/>
                </a:solidFill>
                <a:latin typeface="맑은 고딕"/>
              </a:defRPr>
            </a:pPr>
            <a:r>
              <a:t>같은 에러가 3번 반복되면 더 시도하지 말고 멈춘다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8C8C9A"/>
                </a:solidFill>
                <a:latin typeface="맑은 고딕"/>
              </a:defRPr>
            </a:pPr>
            <a:r>
              <a:t>= 같은 막다른 길 안에서 벽을 더 세게 치는 것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1F1F1F"/>
                </a:solidFill>
                <a:latin typeface="맑은 고딕"/>
              </a:defRPr>
            </a:pP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1F1F1F"/>
                </a:solidFill>
                <a:latin typeface="맑은 고딕"/>
              </a:defRPr>
            </a:pPr>
            <a:r>
              <a:t>원칙 2: AI를 바꾸지 말고, 질문을 바꿔라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8C8C9A"/>
                </a:solidFill>
                <a:latin typeface="맑은 고딕"/>
              </a:defRPr>
            </a:pPr>
            <a:r>
              <a:t>나쁜 질문: "이 에러를 어떻게 고치지?" (증상)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8C8C9A"/>
                </a:solidFill>
                <a:latin typeface="맑은 고딕"/>
              </a:defRPr>
            </a:pPr>
            <a:r>
              <a:t>좋은 질문: "성공 전제 조건이 뭐지?" (구조)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8C8C9A"/>
                </a:solidFill>
                <a:latin typeface="맑은 고딕"/>
              </a:defRPr>
            </a:pPr>
            <a:r>
              <a:t>더 좋은 질문: "이 접근 자체가 맞는지 검증해줘" (방향)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1F1F1F"/>
                </a:solidFill>
                <a:latin typeface="맑은 고딕"/>
              </a:defRPr>
            </a:pP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1F1F1F"/>
                </a:solidFill>
                <a:latin typeface="맑은 고딕"/>
              </a:defRPr>
            </a:pPr>
            <a:r>
              <a:t>원칙 3: 사람이 방향을 잡고, AI가 실행한다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8C8C9A"/>
                </a:solidFill>
                <a:latin typeface="맑은 고딕"/>
              </a:defRPr>
            </a:pPr>
            <a:r>
              <a:t>"지금 우리가 잘못된 길에 있다"는 판단은 사람의 몫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1F1F1F"/>
                </a:solidFill>
                <a:latin typeface="맑은 고딕"/>
              </a:defRPr>
            </a:pP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1F1F1F"/>
                </a:solidFill>
                <a:latin typeface="맑은 고딕"/>
              </a:defRPr>
            </a:pPr>
            <a:r>
              <a:t>원칙 4: 새 세션이 때로는 최고의 해결책이다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8C8C9A"/>
                </a:solidFill>
                <a:latin typeface="맑은 고딕"/>
              </a:defRPr>
            </a:pPr>
            <a:r>
              <a:t>긴 대화에서 AI도 맥락에 갇힌다. 처음부터 다시 설명하면 다른 접근이 나온다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371600" y="2011680"/>
            <a:ext cx="1097280" cy="1097280"/>
          </a:xfrm>
          <a:prstGeom prst="ellipse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1200"/>
              </a:spcBef>
              <a:defRPr sz="3600" b="1">
                <a:solidFill>
                  <a:srgbClr val="FFFFFF"/>
                </a:solidFill>
                <a:latin typeface="맑은 고딕"/>
              </a:defRPr>
            </a:pPr>
            <a: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0" y="18288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1F1F1F"/>
                </a:solidFill>
                <a:latin typeface="맑은 고딕"/>
              </a:defRPr>
            </a:pPr>
            <a:r>
              <a:t>잘한 것 / 아쉬운 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29260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5A5A6E"/>
                </a:solidFill>
                <a:latin typeface="맑은 고딕"/>
              </a:defRPr>
            </a:pPr>
            <a:r>
              <a:t>Keep &amp; Improve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0" y="3657600"/>
            <a:ext cx="3657600" cy="36576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695" cy="54864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1F1F"/>
                </a:solidFill>
                <a:latin typeface="맑은 고딕"/>
              </a:defRPr>
            </a:pPr>
            <a:r>
              <a:t>KPT 회고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5394960" cy="5212080"/>
          </a:xfrm>
          <a:prstGeom prst="roundRect">
            <a:avLst/>
          </a:prstGeom>
          <a:solidFill>
            <a:srgbClr val="F8F9FB"/>
          </a:solidFill>
          <a:ln w="12700">
            <a:solidFill>
              <a:srgbClr val="E0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C4899"/>
                </a:solidFill>
                <a:latin typeface="맑은 고딕"/>
              </a:defRPr>
            </a:pPr>
            <a:r>
              <a:t>잘한 것 (Keep)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73736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  <a:r>
              <a:t>Data-First 개발 규칙 도입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8C8C9A"/>
                </a:solidFill>
                <a:latin typeface="맑은 고딕"/>
              </a:defRPr>
            </a:pPr>
            <a:r>
              <a:t>116개 확인 스크립트 + 31개 결과 기록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8C8C9A"/>
                </a:solidFill>
                <a:latin typeface="맑은 고딕"/>
              </a:defRPr>
            </a:pPr>
            <a:r>
              <a:t>추측 코드 &gt; 실패 사이클을 단축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  <a:r>
              <a:t>CLAUDE.md를 "실패 로그의 압축판"으로 활용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8C8C9A"/>
                </a:solidFill>
                <a:latin typeface="맑은 고딕"/>
              </a:defRPr>
            </a:pPr>
            <a:r>
              <a:t>6개 필수 규칙이 같은 실수 반복 방지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  <a:r>
              <a:t>features.md를 Single Source of Truth로 지정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8C8C9A"/>
                </a:solidFill>
                <a:latin typeface="맑은 고딕"/>
              </a:defRPr>
            </a:pPr>
            <a:r>
              <a:t>세션 넘어갈 때 중복 구현 방지에 결정적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  <a:r>
              <a:t>팀A/팀B 토론 프로세스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8C8C9A"/>
                </a:solidFill>
                <a:latin typeface="맑은 고딕"/>
              </a:defRPr>
            </a:pPr>
            <a:r>
              <a:t>설계 판단의 편향 방지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  <a:r>
              <a:t>병렬 에이전트 활용 (4~8명 동시 투입)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188720"/>
            <a:ext cx="5394960" cy="5212080"/>
          </a:xfrm>
          <a:prstGeom prst="roundRect">
            <a:avLst/>
          </a:prstGeom>
          <a:solidFill>
            <a:srgbClr val="F8F9FB"/>
          </a:solidFill>
          <a:ln w="12700">
            <a:solidFill>
              <a:srgbClr val="E0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28016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C4899"/>
                </a:solidFill>
                <a:latin typeface="맑은 고딕"/>
              </a:defRPr>
            </a:pPr>
            <a:r>
              <a:t>아쉬운 것 (Improve)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73736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  <a:r>
              <a:t>초기 기획이 더 구체적이었으면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8C8C9A"/>
                </a:solidFill>
                <a:latin typeface="맑은 고딕"/>
              </a:defRPr>
            </a:pPr>
            <a:r>
              <a:t>DB 스키마, API 설계를 먼저 정의했으면 Phase 4 수정 감소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  <a:r>
              <a:t>리팩터링을 미루지 말았어야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8C8C9A"/>
                </a:solidFill>
                <a:latin typeface="맑은 고딕"/>
              </a:defRPr>
            </a:pPr>
            <a:r>
              <a:t>576커밋 중 refactor 3건뿐 &gt; 기술 부채 축적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  <a:r>
              <a:t>테스트 커버리지 부족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8C8C9A"/>
                </a:solidFill>
                <a:latin typeface="맑은 고딕"/>
              </a:defRPr>
            </a:pPr>
            <a:r>
              <a:t>8개 테스트 파일로 44,211줄은 부족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8C8C9A"/>
                </a:solidFill>
                <a:latin typeface="맑은 고딕"/>
              </a:defRPr>
            </a:pPr>
            <a:r>
              <a:t>핵심 경로 테스트는 초기부터 잡았어야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  <a:r>
              <a:t>폐쇄망 제약을 처음부터 기록했어야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8C8C9A"/>
                </a:solidFill>
                <a:latin typeface="맑은 고딕"/>
              </a:defRPr>
            </a:pPr>
            <a:r>
              <a:t>초기 장황한 출력 &gt; 사용자 부담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  <a:r>
              <a:t>커밋 메시지 규칙이 느슨했음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371600" y="2011680"/>
            <a:ext cx="1097280" cy="1097280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1200"/>
              </a:spcBef>
              <a:defRPr sz="3600" b="1">
                <a:solidFill>
                  <a:srgbClr val="FFFFFF"/>
                </a:solidFill>
                <a:latin typeface="맑은 고딕"/>
              </a:defRPr>
            </a:pPr>
            <a: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0" y="18288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1F1F1F"/>
                </a:solidFill>
                <a:latin typeface="맑은 고딕"/>
              </a:defRPr>
            </a:pPr>
            <a:r>
              <a:t>조직 적용 제안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29260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5A5A6E"/>
                </a:solidFill>
                <a:latin typeface="맑은 고딕"/>
              </a:defRPr>
            </a:pPr>
            <a:r>
              <a:t>바이브 코딩, 어디에 쓸 수 있나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0" y="3657600"/>
            <a:ext cx="3657600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695" cy="5486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1F1F"/>
                </a:solidFill>
                <a:latin typeface="맑은 고딕"/>
              </a:defRPr>
            </a:pPr>
            <a:r>
              <a:t>적합 영역 vs 부적합 영역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5394960" cy="5212080"/>
          </a:xfrm>
          <a:prstGeom prst="roundRect">
            <a:avLst/>
          </a:prstGeom>
          <a:solidFill>
            <a:srgbClr val="F8F9FB"/>
          </a:solidFill>
          <a:ln w="12700">
            <a:solidFill>
              <a:srgbClr val="E0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4B8A6"/>
                </a:solidFill>
                <a:latin typeface="맑은 고딕"/>
              </a:defRPr>
            </a:pPr>
            <a:r>
              <a:t>적합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73736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  <a:r>
              <a:t>내부 관리 도구, 대시보드, PoC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  <a:r>
              <a:t>도메인 전문가가 직접 자신의 도구를 만드는 경우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  <a:r>
              <a:t>외부 노출이 없는 시스템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  <a:r>
              <a:t>비용 효율성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8C8C9A"/>
                </a:solidFill>
                <a:latin typeface="맑은 고딕"/>
              </a:defRPr>
            </a:pPr>
            <a:r>
              <a:t>1인+AI 4.5개월·~4,500만 원 vs 외주 6~9개월·3.5~5.5억 원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8C8C9A"/>
                </a:solidFill>
                <a:latin typeface="맑은 고딕"/>
              </a:defRPr>
            </a:pPr>
            <a:r>
              <a:t>비용 ~8~11배 절감 (상세: 다음 슬라이드)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188720"/>
            <a:ext cx="5394960" cy="5212080"/>
          </a:xfrm>
          <a:prstGeom prst="roundRect">
            <a:avLst/>
          </a:prstGeom>
          <a:solidFill>
            <a:srgbClr val="F8F9FB"/>
          </a:solidFill>
          <a:ln w="12700">
            <a:solidFill>
              <a:srgbClr val="E0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28016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4B8A6"/>
                </a:solidFill>
                <a:latin typeface="맑은 고딕"/>
              </a:defRPr>
            </a:pPr>
            <a:r>
              <a:t>부적합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73736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  <a:r>
              <a:t>고객 대면 서비스 (UI 품질, 접근성, 성능)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  <a:r>
              <a:t>보안 민감 시스템 (인증/결제/개인정보)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  <a:r>
              <a:t>높은 가용성이 필요한 프로덕션 서비스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1F1F1F"/>
                </a:solidFill>
                <a:latin typeface="맑은 고딕"/>
              </a:defRPr>
            </a:pPr>
            <a:r>
              <a:t>적용 시 필수 조건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8C8C9A"/>
                </a:solidFill>
                <a:latin typeface="맑은 고딕"/>
              </a:defRPr>
            </a:pPr>
            <a:r>
              <a:t>CLAUDE.md 규칙 체계 (프로젝트 헌법)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8C8C9A"/>
                </a:solidFill>
                <a:latin typeface="맑은 고딕"/>
              </a:defRPr>
            </a:pPr>
            <a:r>
              <a:t>Data-First 원칙 (추측 금지)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8C8C9A"/>
                </a:solidFill>
                <a:latin typeface="맑은 고딕"/>
              </a:defRPr>
            </a:pPr>
            <a:r>
              <a:t>도메인 지식을 가진 감독자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8C8C9A"/>
                </a:solidFill>
                <a:latin typeface="맑은 고딕"/>
              </a:defRPr>
            </a:pPr>
            <a:r>
              <a:t>features.md 같은 단일 진실 공급원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1F1F"/>
                </a:solidFill>
                <a:latin typeface="맑은 고딕"/>
              </a:defRPr>
            </a:pPr>
            <a:r>
              <a:t>경제성 — 1인+AI vs 외주 개발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247120" cy="5212080"/>
          </a:xfrm>
          <a:prstGeom prst="roundRect">
            <a:avLst/>
          </a:prstGeom>
          <a:solidFill>
            <a:srgbClr val="F8F9FB"/>
          </a:solidFill>
          <a:ln w="12700">
            <a:solidFill>
              <a:srgbClr val="E0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1F1F1F"/>
                </a:solidFill>
                <a:latin typeface="맑은 고딕"/>
              </a:defRPr>
            </a:pPr>
            <a:r>
              <a:t>규모: 기능점수 ~700 FP · 44,211 LOC · API 74 · 화면 39 · DB 29모델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1F1F1F"/>
                </a:solidFill>
                <a:latin typeface="맑은 고딕"/>
              </a:defRPr>
            </a:pP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1F1F1F"/>
                </a:solidFill>
                <a:latin typeface="맑은 고딕"/>
              </a:defRPr>
            </a:pPr>
            <a:r>
              <a:t>외주 예상 (팀 3~4명: PL·백엔드·프론트·QA)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8C8C9A"/>
                </a:solidFill>
                <a:latin typeface="맑은 고딕"/>
              </a:defRPr>
            </a:pPr>
            <a:r>
              <a:t>기간 6~9개월 · 투입 25~35 맨먼스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8C8C9A"/>
                </a:solidFill>
                <a:latin typeface="맑은 고딕"/>
              </a:defRPr>
            </a:pPr>
            <a:r>
              <a:t>비용 3.5~5.5억 원 (SI 대가 기준)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1F1F1F"/>
                </a:solidFill>
                <a:latin typeface="맑은 고딕"/>
              </a:defRPr>
            </a:pP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1F1F1F"/>
                </a:solidFill>
                <a:latin typeface="맑은 고딕"/>
              </a:defRPr>
            </a:pPr>
            <a:r>
              <a:t>1인 + AI (실제)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8C8C9A"/>
                </a:solidFill>
                <a:latin typeface="맑은 고딕"/>
              </a:defRPr>
            </a:pPr>
            <a:r>
              <a:t>기간 4.5개월 · 투입 4.5 맨먼스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8C8C9A"/>
                </a:solidFill>
                <a:latin typeface="맑은 고딕"/>
              </a:defRPr>
            </a:pPr>
            <a:r>
              <a:t>비용 ~4,500만 원 (인건비 ~4천만 + AI 구독 ~100만)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1F1F1F"/>
                </a:solidFill>
                <a:latin typeface="맑은 고딕"/>
              </a:defRPr>
            </a:pP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1F1F1F"/>
                </a:solidFill>
                <a:latin typeface="맑은 고딕"/>
              </a:defRPr>
            </a:pPr>
            <a:r>
              <a:t>효과: 비용 ~8~11배 절감 · 인당 생산성 ~155 FP/MM (외주 ~7~8배)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1F1F1F"/>
                </a:solidFill>
                <a:latin typeface="맑은 고딕"/>
              </a:defRPr>
            </a:pPr>
            <a:r>
              <a:t>1인 기준(AI 없이)이면 ~2.5~3년 → AI로 4.5개월 (약 6~8배 단축)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3716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70C0"/>
                </a:solidFill>
                <a:latin typeface="맑은 고딕"/>
              </a:defRPr>
            </a:pPr>
            <a:r>
              <a:t>핵심 메시지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2286000"/>
            <a:ext cx="2743200" cy="36576"/>
          </a:xfrm>
          <a:prstGeom prst="rect">
            <a:avLst/>
          </a:prstGeom>
          <a:solidFill>
            <a:srgbClr val="00A5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274320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1F1F1F"/>
                </a:solidFill>
                <a:latin typeface="맑은 고딕"/>
              </a:defRPr>
            </a:pPr>
            <a:r>
              <a:t>규칙을 말로 유지하지 말고, 파일로 만들어라.</a:t>
            </a:r>
            <a:br/>
            <a:r>
              <a:t>세 번 반복한 프롬프트는 자산화(도구화) 신호다.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3891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5A5A6E"/>
                </a:solidFill>
                <a:latin typeface="맑은 고딕"/>
              </a:defRPr>
            </a:pPr>
            <a:r>
              <a:t>미로의 막다른 길을 인지하는 것은 AI가 아니라 사람의 몫이다.</a:t>
            </a:r>
            <a:br/>
            <a:r>
              <a:t>그리고 되돌아가는 용기가 있을 때, 가장 빠르게 목표에 도달한다.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0" y="5486400"/>
            <a:ext cx="2743200" cy="36576"/>
          </a:xfrm>
          <a:prstGeom prst="rect">
            <a:avLst/>
          </a:prstGeom>
          <a:solidFill>
            <a:srgbClr val="00A5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57607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70C0"/>
                </a:solidFill>
                <a:latin typeface="맑은 고딕"/>
              </a:defRPr>
            </a:pPr>
            <a:r>
              <a:t>Q &amp; A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48272"/>
            <a:ext cx="12191695" cy="54864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00A5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371600" y="2011680"/>
            <a:ext cx="1097280" cy="1097280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1200"/>
              </a:spcBef>
              <a:defRPr sz="3600" b="1">
                <a:solidFill>
                  <a:srgbClr val="FFFFFF"/>
                </a:solidFill>
                <a:latin typeface="맑은 고딕"/>
              </a:defRPr>
            </a:pPr>
            <a: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0" y="18288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1F1F1F"/>
                </a:solidFill>
                <a:latin typeface="맑은 고딕"/>
              </a:defRPr>
            </a:pPr>
            <a:r>
              <a:t>부록. 화면 스크린샷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29260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5A5A6E"/>
                </a:solidFill>
                <a:latin typeface="맑은 고딕"/>
              </a:defRPr>
            </a:pPr>
            <a:r>
              <a:t>실제 운영 화면 (DC Express)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0" y="3657600"/>
            <a:ext cx="3657600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695" cy="5486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256032"/>
            <a:ext cx="685800" cy="457200"/>
          </a:xfrm>
          <a:prstGeom prst="round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맑은 고딕"/>
              </a:defRPr>
            </a:pPr>
            <a:r>
              <a:t>A01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7432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F1F1F"/>
                </a:solidFill>
                <a:latin typeface="맑은 고딕"/>
              </a:defRPr>
            </a:pPr>
            <a:r>
              <a:t>로그인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41248"/>
            <a:ext cx="1828800" cy="27432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08792" cy="4892040"/>
          </a:xfrm>
          <a:prstGeom prst="roundRect">
            <a:avLst/>
          </a:prstGeom>
          <a:solidFill>
            <a:srgbClr val="F8F9FB"/>
          </a:solidFill>
          <a:ln w="1524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834640"/>
            <a:ext cx="109087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8C8C9A"/>
                </a:solidFill>
                <a:latin typeface="맑은 고딕"/>
              </a:defRPr>
            </a:pPr>
            <a:r>
              <a:t>🖼  화면 캡처 위치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474720"/>
            <a:ext cx="109087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0070C0"/>
                </a:solidFill>
                <a:latin typeface="Consolas"/>
              </a:defRPr>
            </a:pPr>
            <a:r>
              <a:t>docs/images/login.png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977640"/>
            <a:ext cx="109087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8C8C9A"/>
                </a:solidFill>
                <a:latin typeface="맑은 고딕"/>
              </a:defRPr>
            </a:pPr>
            <a:r>
              <a:t>이 파일명으로 저장 후 스크립트를 다시 실행하면 자동 삽입됩니다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144768"/>
            <a:ext cx="1090879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A5A6E"/>
                </a:solidFill>
                <a:latin typeface="맑은 고딕"/>
              </a:defRPr>
            </a:pPr>
            <a:r>
              <a:t>자체 인증(NextAuth) 로그인 화면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256032"/>
            <a:ext cx="685800" cy="457200"/>
          </a:xfrm>
          <a:prstGeom prst="round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맑은 고딕"/>
              </a:defRPr>
            </a:pPr>
            <a:r>
              <a:t>A02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7432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F1F1F"/>
                </a:solidFill>
                <a:latin typeface="맑은 고딕"/>
              </a:defRPr>
            </a:pPr>
            <a:r>
              <a:t>대시보드 — 전체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41248"/>
            <a:ext cx="1828800" cy="27432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08792" cy="4892040"/>
          </a:xfrm>
          <a:prstGeom prst="roundRect">
            <a:avLst/>
          </a:prstGeom>
          <a:solidFill>
            <a:srgbClr val="F8F9FB"/>
          </a:solidFill>
          <a:ln w="1524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834640"/>
            <a:ext cx="109087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8C8C9A"/>
                </a:solidFill>
                <a:latin typeface="맑은 고딕"/>
              </a:defRPr>
            </a:pPr>
            <a:r>
              <a:t>🖼  화면 캡처 위치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474720"/>
            <a:ext cx="109087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0070C0"/>
                </a:solidFill>
                <a:latin typeface="Consolas"/>
              </a:defRPr>
            </a:pPr>
            <a:r>
              <a:t>docs/images/dashboard-overview.png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977640"/>
            <a:ext cx="109087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8C8C9A"/>
                </a:solidFill>
                <a:latin typeface="맑은 고딕"/>
              </a:defRPr>
            </a:pPr>
            <a:r>
              <a:t>이 파일명으로 저장 후 스크립트를 다시 실행하면 자동 삽입됩니다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144768"/>
            <a:ext cx="1090879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A5A6E"/>
                </a:solidFill>
                <a:latin typeface="맑은 고딕"/>
              </a:defRPr>
            </a:pPr>
            <a:r>
              <a:t>서버 현황·전력/PUE·알림·파일시스템 경고를 한 화면에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256032"/>
            <a:ext cx="685800" cy="457200"/>
          </a:xfrm>
          <a:prstGeom prst="round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맑은 고딕"/>
              </a:defRPr>
            </a:pPr>
            <a:r>
              <a:t>A03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7432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F1F1F"/>
                </a:solidFill>
                <a:latin typeface="맑은 고딕"/>
              </a:defRPr>
            </a:pPr>
            <a:r>
              <a:t>대시보드 — 파일시스템 경고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41248"/>
            <a:ext cx="1828800" cy="27432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08792" cy="4892040"/>
          </a:xfrm>
          <a:prstGeom prst="roundRect">
            <a:avLst/>
          </a:prstGeom>
          <a:solidFill>
            <a:srgbClr val="F8F9FB"/>
          </a:solidFill>
          <a:ln w="1524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834640"/>
            <a:ext cx="109087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8C8C9A"/>
                </a:solidFill>
                <a:latin typeface="맑은 고딕"/>
              </a:defRPr>
            </a:pPr>
            <a:r>
              <a:t>🖼  화면 캡처 위치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474720"/>
            <a:ext cx="109087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0070C0"/>
                </a:solidFill>
                <a:latin typeface="Consolas"/>
              </a:defRPr>
            </a:pPr>
            <a:r>
              <a:t>docs/images/dashboard-filesystem-warning.png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977640"/>
            <a:ext cx="109087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8C8C9A"/>
                </a:solidFill>
                <a:latin typeface="맑은 고딕"/>
              </a:defRPr>
            </a:pPr>
            <a:r>
              <a:t>이 파일명으로 저장 후 스크립트를 다시 실행하면 자동 삽입됩니다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144768"/>
            <a:ext cx="1090879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A5A6E"/>
                </a:solidFill>
                <a:latin typeface="맑은 고딕"/>
              </a:defRPr>
            </a:pPr>
            <a:r>
              <a:t>사용률 70%+ 서버를 서버 단위로 집계·표시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256032"/>
            <a:ext cx="685800" cy="457200"/>
          </a:xfrm>
          <a:prstGeom prst="round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맑은 고딕"/>
              </a:defRPr>
            </a:pPr>
            <a:r>
              <a:t>A04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7432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F1F1F"/>
                </a:solidFill>
                <a:latin typeface="맑은 고딕"/>
              </a:defRPr>
            </a:pPr>
            <a:r>
              <a:t>서버 모니터링 — 목록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41248"/>
            <a:ext cx="1828800" cy="27432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08792" cy="4892040"/>
          </a:xfrm>
          <a:prstGeom prst="roundRect">
            <a:avLst/>
          </a:prstGeom>
          <a:solidFill>
            <a:srgbClr val="F8F9FB"/>
          </a:solidFill>
          <a:ln w="1524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834640"/>
            <a:ext cx="109087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8C8C9A"/>
                </a:solidFill>
                <a:latin typeface="맑은 고딕"/>
              </a:defRPr>
            </a:pPr>
            <a:r>
              <a:t>🖼  화면 캡처 위치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474720"/>
            <a:ext cx="109087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0070C0"/>
                </a:solidFill>
                <a:latin typeface="Consolas"/>
              </a:defRPr>
            </a:pPr>
            <a:r>
              <a:t>docs/images/servers-list.png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977640"/>
            <a:ext cx="109087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8C8C9A"/>
                </a:solidFill>
                <a:latin typeface="맑은 고딕"/>
              </a:defRPr>
            </a:pPr>
            <a:r>
              <a:t>이 파일명으로 저장 후 스크립트를 다시 실행하면 자동 삽입됩니다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144768"/>
            <a:ext cx="1090879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A5A6E"/>
                </a:solidFill>
                <a:latin typeface="맑은 고딕"/>
              </a:defRPr>
            </a:pPr>
            <a:r>
              <a:t>전체 서버 목록과 상태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256032"/>
            <a:ext cx="685800" cy="457200"/>
          </a:xfrm>
          <a:prstGeom prst="round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맑은 고딕"/>
              </a:defRPr>
            </a:pPr>
            <a:r>
              <a:t>A05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7432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F1F1F"/>
                </a:solidFill>
                <a:latin typeface="맑은 고딕"/>
              </a:defRPr>
            </a:pPr>
            <a:r>
              <a:t>서버 상세 — 상단 지표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41248"/>
            <a:ext cx="1828800" cy="27432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08792" cy="4892040"/>
          </a:xfrm>
          <a:prstGeom prst="roundRect">
            <a:avLst/>
          </a:prstGeom>
          <a:solidFill>
            <a:srgbClr val="F8F9FB"/>
          </a:solidFill>
          <a:ln w="1524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834640"/>
            <a:ext cx="109087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8C8C9A"/>
                </a:solidFill>
                <a:latin typeface="맑은 고딕"/>
              </a:defRPr>
            </a:pPr>
            <a:r>
              <a:t>🖼  화면 캡처 위치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474720"/>
            <a:ext cx="109087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0070C0"/>
                </a:solidFill>
                <a:latin typeface="Consolas"/>
              </a:defRPr>
            </a:pPr>
            <a:r>
              <a:t>docs/images/server-detail-top.png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977640"/>
            <a:ext cx="109087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8C8C9A"/>
                </a:solidFill>
                <a:latin typeface="맑은 고딕"/>
              </a:defRPr>
            </a:pPr>
            <a:r>
              <a:t>이 파일명으로 저장 후 스크립트를 다시 실행하면 자동 삽입됩니다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144768"/>
            <a:ext cx="1090879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A5A6E"/>
                </a:solidFill>
                <a:latin typeface="맑은 고딕"/>
              </a:defRPr>
            </a:pPr>
            <a:r>
              <a:t>CPU·메모리·디스크·네트워크 실시간 차트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256032"/>
            <a:ext cx="685800" cy="457200"/>
          </a:xfrm>
          <a:prstGeom prst="round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맑은 고딕"/>
              </a:defRPr>
            </a:pPr>
            <a:r>
              <a:t>A06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7432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F1F1F"/>
                </a:solidFill>
                <a:latin typeface="맑은 고딕"/>
              </a:defRPr>
            </a:pPr>
            <a:r>
              <a:t>서버 상세 — 파일시스템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41248"/>
            <a:ext cx="1828800" cy="27432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08792" cy="4892040"/>
          </a:xfrm>
          <a:prstGeom prst="roundRect">
            <a:avLst/>
          </a:prstGeom>
          <a:solidFill>
            <a:srgbClr val="F8F9FB"/>
          </a:solidFill>
          <a:ln w="1524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834640"/>
            <a:ext cx="109087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8C8C9A"/>
                </a:solidFill>
                <a:latin typeface="맑은 고딕"/>
              </a:defRPr>
            </a:pPr>
            <a:r>
              <a:t>🖼  화면 캡처 위치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474720"/>
            <a:ext cx="109087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0070C0"/>
                </a:solidFill>
                <a:latin typeface="Consolas"/>
              </a:defRPr>
            </a:pPr>
            <a:r>
              <a:t>docs/images/server-detail-filesystem.png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977640"/>
            <a:ext cx="109087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8C8C9A"/>
                </a:solidFill>
                <a:latin typeface="맑은 고딕"/>
              </a:defRPr>
            </a:pPr>
            <a:r>
              <a:t>이 파일명으로 저장 후 스크립트를 다시 실행하면 자동 삽입됩니다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144768"/>
            <a:ext cx="1090879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A5A6E"/>
                </a:solidFill>
                <a:latin typeface="맑은 고딕"/>
              </a:defRPr>
            </a:pPr>
            <a:r>
              <a:t>마운트별 사용량(NFS 포함)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256032"/>
            <a:ext cx="685800" cy="457200"/>
          </a:xfrm>
          <a:prstGeom prst="round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맑은 고딕"/>
              </a:defRPr>
            </a:pPr>
            <a:r>
              <a:t>A07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7432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F1F1F"/>
                </a:solidFill>
                <a:latin typeface="맑은 고딕"/>
              </a:defRPr>
            </a:pPr>
            <a:r>
              <a:t>서버 상세 — BMC 센서/전원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41248"/>
            <a:ext cx="1828800" cy="27432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08792" cy="4892040"/>
          </a:xfrm>
          <a:prstGeom prst="roundRect">
            <a:avLst/>
          </a:prstGeom>
          <a:solidFill>
            <a:srgbClr val="F8F9FB"/>
          </a:solidFill>
          <a:ln w="1524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834640"/>
            <a:ext cx="109087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8C8C9A"/>
                </a:solidFill>
                <a:latin typeface="맑은 고딕"/>
              </a:defRPr>
            </a:pPr>
            <a:r>
              <a:t>🖼  화면 캡처 위치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474720"/>
            <a:ext cx="109087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0070C0"/>
                </a:solidFill>
                <a:latin typeface="Consolas"/>
              </a:defRPr>
            </a:pPr>
            <a:r>
              <a:t>docs/images/server-detail-bmc.png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977640"/>
            <a:ext cx="109087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8C8C9A"/>
                </a:solidFill>
                <a:latin typeface="맑은 고딕"/>
              </a:defRPr>
            </a:pPr>
            <a:r>
              <a:t>이 파일명으로 저장 후 스크립트를 다시 실행하면 자동 삽입됩니다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144768"/>
            <a:ext cx="1090879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A5A6E"/>
                </a:solidFill>
                <a:latin typeface="맑은 고딕"/>
              </a:defRPr>
            </a:pPr>
            <a:r>
              <a:t>BMC 센서 + 웹 원격 전원 제어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256032"/>
            <a:ext cx="685800" cy="457200"/>
          </a:xfrm>
          <a:prstGeom prst="round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맑은 고딕"/>
              </a:defRPr>
            </a:pPr>
            <a:r>
              <a:t>A08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7432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F1F1F"/>
                </a:solidFill>
                <a:latin typeface="맑은 고딕"/>
              </a:defRPr>
            </a:pPr>
            <a:r>
              <a:t>메모리 상세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41248"/>
            <a:ext cx="1828800" cy="27432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08792" cy="4892040"/>
          </a:xfrm>
          <a:prstGeom prst="roundRect">
            <a:avLst/>
          </a:prstGeom>
          <a:solidFill>
            <a:srgbClr val="F8F9FB"/>
          </a:solidFill>
          <a:ln w="1524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834640"/>
            <a:ext cx="109087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8C8C9A"/>
                </a:solidFill>
                <a:latin typeface="맑은 고딕"/>
              </a:defRPr>
            </a:pPr>
            <a:r>
              <a:t>🖼  화면 캡처 위치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474720"/>
            <a:ext cx="109087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0070C0"/>
                </a:solidFill>
                <a:latin typeface="Consolas"/>
              </a:defRPr>
            </a:pPr>
            <a:r>
              <a:t>docs/images/memory-detail.png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977640"/>
            <a:ext cx="109087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8C8C9A"/>
                </a:solidFill>
                <a:latin typeface="맑은 고딕"/>
              </a:defRPr>
            </a:pPr>
            <a:r>
              <a:t>이 파일명으로 저장 후 스크립트를 다시 실행하면 자동 삽입됩니다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144768"/>
            <a:ext cx="1090879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A5A6E"/>
                </a:solidFill>
                <a:latin typeface="맑은 고딕"/>
              </a:defRPr>
            </a:pPr>
            <a:r>
              <a:t>DIMM 슬롯별 상세 + 채널 다이어그램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256032"/>
            <a:ext cx="685800" cy="457200"/>
          </a:xfrm>
          <a:prstGeom prst="round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맑은 고딕"/>
              </a:defRPr>
            </a:pPr>
            <a:r>
              <a:t>A09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7432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F1F1F"/>
                </a:solidFill>
                <a:latin typeface="맑은 고딕"/>
              </a:defRPr>
            </a:pPr>
            <a:r>
              <a:t>인프라 관리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41248"/>
            <a:ext cx="1828800" cy="27432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08792" cy="4892040"/>
          </a:xfrm>
          <a:prstGeom prst="roundRect">
            <a:avLst/>
          </a:prstGeom>
          <a:solidFill>
            <a:srgbClr val="F8F9FB"/>
          </a:solidFill>
          <a:ln w="1524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834640"/>
            <a:ext cx="109087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8C8C9A"/>
                </a:solidFill>
                <a:latin typeface="맑은 고딕"/>
              </a:defRPr>
            </a:pPr>
            <a:r>
              <a:t>🖼  화면 캡처 위치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474720"/>
            <a:ext cx="109087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0070C0"/>
                </a:solidFill>
                <a:latin typeface="Consolas"/>
              </a:defRPr>
            </a:pPr>
            <a:r>
              <a:t>docs/images/infrastructure.png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977640"/>
            <a:ext cx="109087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8C8C9A"/>
                </a:solidFill>
                <a:latin typeface="맑은 고딕"/>
              </a:defRPr>
            </a:pPr>
            <a:r>
              <a:t>이 파일명으로 저장 후 스크립트를 다시 실행하면 자동 삽입됩니다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144768"/>
            <a:ext cx="1090879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A5A6E"/>
                </a:solidFill>
                <a:latin typeface="맑은 고딕"/>
              </a:defRPr>
            </a:pPr>
            <a:r>
              <a:t>장비 CRUD + 라이프사이클 관리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256032"/>
            <a:ext cx="685800" cy="457200"/>
          </a:xfrm>
          <a:prstGeom prst="round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맑은 고딕"/>
              </a:defRPr>
            </a:pPr>
            <a:r>
              <a:t>A10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7432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F1F1F"/>
                </a:solidFill>
                <a:latin typeface="맑은 고딕"/>
              </a:defRPr>
            </a:pPr>
            <a:r>
              <a:t>인프라 — CSV 일괄 등록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41248"/>
            <a:ext cx="1828800" cy="27432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08792" cy="4892040"/>
          </a:xfrm>
          <a:prstGeom prst="roundRect">
            <a:avLst/>
          </a:prstGeom>
          <a:solidFill>
            <a:srgbClr val="F8F9FB"/>
          </a:solidFill>
          <a:ln w="1524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834640"/>
            <a:ext cx="109087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8C8C9A"/>
                </a:solidFill>
                <a:latin typeface="맑은 고딕"/>
              </a:defRPr>
            </a:pPr>
            <a:r>
              <a:t>🖼  화면 캡처 위치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474720"/>
            <a:ext cx="109087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0070C0"/>
                </a:solidFill>
                <a:latin typeface="Consolas"/>
              </a:defRPr>
            </a:pPr>
            <a:r>
              <a:t>docs/images/infrastructure-csv.png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977640"/>
            <a:ext cx="109087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8C8C9A"/>
                </a:solidFill>
                <a:latin typeface="맑은 고딕"/>
              </a:defRPr>
            </a:pPr>
            <a:r>
              <a:t>이 파일명으로 저장 후 스크립트를 다시 실행하면 자동 삽입됩니다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144768"/>
            <a:ext cx="1090879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A5A6E"/>
                </a:solidFill>
                <a:latin typeface="맑은 고딕"/>
              </a:defRPr>
            </a:pPr>
            <a:r>
              <a:t>CSV 업로드로 장비 일괄 등록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256032"/>
            <a:ext cx="685800" cy="457200"/>
          </a:xfrm>
          <a:prstGeom prst="round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맑은 고딕"/>
              </a:defRPr>
            </a:pPr>
            <a:r>
              <a:t>A11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7432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F1F1F"/>
                </a:solidFill>
                <a:latin typeface="맑은 고딕"/>
              </a:defRPr>
            </a:pPr>
            <a:r>
              <a:t>Digital Twin — 평면도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41248"/>
            <a:ext cx="1828800" cy="27432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08792" cy="4892040"/>
          </a:xfrm>
          <a:prstGeom prst="roundRect">
            <a:avLst/>
          </a:prstGeom>
          <a:solidFill>
            <a:srgbClr val="F8F9FB"/>
          </a:solidFill>
          <a:ln w="1524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834640"/>
            <a:ext cx="109087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8C8C9A"/>
                </a:solidFill>
                <a:latin typeface="맑은 고딕"/>
              </a:defRPr>
            </a:pPr>
            <a:r>
              <a:t>🖼  화면 캡처 위치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474720"/>
            <a:ext cx="109087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0070C0"/>
                </a:solidFill>
                <a:latin typeface="Consolas"/>
              </a:defRPr>
            </a:pPr>
            <a:r>
              <a:t>docs/images/digital-twin.png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977640"/>
            <a:ext cx="109087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8C8C9A"/>
                </a:solidFill>
                <a:latin typeface="맑은 고딕"/>
              </a:defRPr>
            </a:pPr>
            <a:r>
              <a:t>이 파일명으로 저장 후 스크립트를 다시 실행하면 자동 삽입됩니다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144768"/>
            <a:ext cx="1090879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A5A6E"/>
                </a:solidFill>
                <a:latin typeface="맑은 고딕"/>
              </a:defRPr>
            </a:pPr>
            <a:r>
              <a:t>룸·랙 물리 배치(SVG)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256032"/>
            <a:ext cx="685800" cy="457200"/>
          </a:xfrm>
          <a:prstGeom prst="round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맑은 고딕"/>
              </a:defRPr>
            </a:pPr>
            <a:r>
              <a:t>A12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7432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F1F1F"/>
                </a:solidFill>
                <a:latin typeface="맑은 고딕"/>
              </a:defRPr>
            </a:pPr>
            <a:r>
              <a:t>Digital Twin — 랙/열지도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41248"/>
            <a:ext cx="1828800" cy="27432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08792" cy="4892040"/>
          </a:xfrm>
          <a:prstGeom prst="roundRect">
            <a:avLst/>
          </a:prstGeom>
          <a:solidFill>
            <a:srgbClr val="F8F9FB"/>
          </a:solidFill>
          <a:ln w="1524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834640"/>
            <a:ext cx="109087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8C8C9A"/>
                </a:solidFill>
                <a:latin typeface="맑은 고딕"/>
              </a:defRPr>
            </a:pPr>
            <a:r>
              <a:t>🖼  화면 캡처 위치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474720"/>
            <a:ext cx="109087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0070C0"/>
                </a:solidFill>
                <a:latin typeface="Consolas"/>
              </a:defRPr>
            </a:pPr>
            <a:r>
              <a:t>docs/images/digital-twin-rack.png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977640"/>
            <a:ext cx="109087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8C8C9A"/>
                </a:solidFill>
                <a:latin typeface="맑은 고딕"/>
              </a:defRPr>
            </a:pPr>
            <a:r>
              <a:t>이 파일명으로 저장 후 스크립트를 다시 실행하면 자동 삽입됩니다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144768"/>
            <a:ext cx="1090879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A5A6E"/>
                </a:solidFill>
                <a:latin typeface="맑은 고딕"/>
              </a:defRPr>
            </a:pPr>
            <a:r>
              <a:t>랙 배치도 + 온도 히트맵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256032"/>
            <a:ext cx="685800" cy="457200"/>
          </a:xfrm>
          <a:prstGeom prst="round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맑은 고딕"/>
              </a:defRPr>
            </a:pPr>
            <a:r>
              <a:t>A13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7432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F1F1F"/>
                </a:solidFill>
                <a:latin typeface="맑은 고딕"/>
              </a:defRPr>
            </a:pPr>
            <a:r>
              <a:t>랙 관리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41248"/>
            <a:ext cx="1828800" cy="27432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08792" cy="4892040"/>
          </a:xfrm>
          <a:prstGeom prst="roundRect">
            <a:avLst/>
          </a:prstGeom>
          <a:solidFill>
            <a:srgbClr val="F8F9FB"/>
          </a:solidFill>
          <a:ln w="1524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834640"/>
            <a:ext cx="109087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8C8C9A"/>
                </a:solidFill>
                <a:latin typeface="맑은 고딕"/>
              </a:defRPr>
            </a:pPr>
            <a:r>
              <a:t>🖼  화면 캡처 위치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474720"/>
            <a:ext cx="109087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0070C0"/>
                </a:solidFill>
                <a:latin typeface="Consolas"/>
              </a:defRPr>
            </a:pPr>
            <a:r>
              <a:t>docs/images/rack-management.png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977640"/>
            <a:ext cx="109087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8C8C9A"/>
                </a:solidFill>
                <a:latin typeface="맑은 고딕"/>
              </a:defRPr>
            </a:pPr>
            <a:r>
              <a:t>이 파일명으로 저장 후 스크립트를 다시 실행하면 자동 삽입됩니다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144768"/>
            <a:ext cx="1090879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A5A6E"/>
                </a:solidFill>
                <a:latin typeface="맑은 고딕"/>
              </a:defRPr>
            </a:pPr>
            <a:r>
              <a:t>랙 배치·드래그&amp;드롭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256032"/>
            <a:ext cx="685800" cy="457200"/>
          </a:xfrm>
          <a:prstGeom prst="round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맑은 고딕"/>
              </a:defRPr>
            </a:pPr>
            <a:r>
              <a:t>A14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7432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F1F1F"/>
                </a:solidFill>
                <a:latin typeface="맑은 고딕"/>
              </a:defRPr>
            </a:pPr>
            <a:r>
              <a:t>펌웨어 관리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41248"/>
            <a:ext cx="1828800" cy="27432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08792" cy="4892040"/>
          </a:xfrm>
          <a:prstGeom prst="roundRect">
            <a:avLst/>
          </a:prstGeom>
          <a:solidFill>
            <a:srgbClr val="F8F9FB"/>
          </a:solidFill>
          <a:ln w="1524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834640"/>
            <a:ext cx="109087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8C8C9A"/>
                </a:solidFill>
                <a:latin typeface="맑은 고딕"/>
              </a:defRPr>
            </a:pPr>
            <a:r>
              <a:t>🖼  화면 캡처 위치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474720"/>
            <a:ext cx="109087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0070C0"/>
                </a:solidFill>
                <a:latin typeface="Consolas"/>
              </a:defRPr>
            </a:pPr>
            <a:r>
              <a:t>docs/images/firmware.png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977640"/>
            <a:ext cx="109087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8C8C9A"/>
                </a:solidFill>
                <a:latin typeface="맑은 고딕"/>
              </a:defRPr>
            </a:pPr>
            <a:r>
              <a:t>이 파일명으로 저장 후 스크립트를 다시 실행하면 자동 삽입됩니다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144768"/>
            <a:ext cx="1090879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A5A6E"/>
                </a:solidFill>
                <a:latin typeface="맑은 고딕"/>
              </a:defRPr>
            </a:pPr>
            <a:r>
              <a:t>모델별 BIOS/펌웨어 버전 비교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256032"/>
            <a:ext cx="685800" cy="457200"/>
          </a:xfrm>
          <a:prstGeom prst="round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맑은 고딕"/>
              </a:defRPr>
            </a:pPr>
            <a:r>
              <a:t>A15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7432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F1F1F"/>
                </a:solidFill>
                <a:latin typeface="맑은 고딕"/>
              </a:defRPr>
            </a:pPr>
            <a:r>
              <a:t>워크로드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41248"/>
            <a:ext cx="1828800" cy="27432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08792" cy="4892040"/>
          </a:xfrm>
          <a:prstGeom prst="roundRect">
            <a:avLst/>
          </a:prstGeom>
          <a:solidFill>
            <a:srgbClr val="F8F9FB"/>
          </a:solidFill>
          <a:ln w="1524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834640"/>
            <a:ext cx="109087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8C8C9A"/>
                </a:solidFill>
                <a:latin typeface="맑은 고딕"/>
              </a:defRPr>
            </a:pPr>
            <a:r>
              <a:t>🖼  화면 캡처 위치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474720"/>
            <a:ext cx="109087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0070C0"/>
                </a:solidFill>
                <a:latin typeface="Consolas"/>
              </a:defRPr>
            </a:pPr>
            <a:r>
              <a:t>docs/images/workloads.png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977640"/>
            <a:ext cx="109087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8C8C9A"/>
                </a:solidFill>
                <a:latin typeface="맑은 고딕"/>
              </a:defRPr>
            </a:pPr>
            <a:r>
              <a:t>이 파일명으로 저장 후 스크립트를 다시 실행하면 자동 삽입됩니다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144768"/>
            <a:ext cx="1090879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A5A6E"/>
                </a:solidFill>
                <a:latin typeface="맑은 고딕"/>
              </a:defRPr>
            </a:pPr>
            <a:r>
              <a:t>K8s Pod / 평가(Evaluation)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256032"/>
            <a:ext cx="685800" cy="457200"/>
          </a:xfrm>
          <a:prstGeom prst="round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맑은 고딕"/>
              </a:defRPr>
            </a:pPr>
            <a:r>
              <a:t>A16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7432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F1F1F"/>
                </a:solidFill>
                <a:latin typeface="맑은 고딕"/>
              </a:defRPr>
            </a:pPr>
            <a:r>
              <a:t>알림 — 규칙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41248"/>
            <a:ext cx="1828800" cy="27432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08792" cy="4892040"/>
          </a:xfrm>
          <a:prstGeom prst="roundRect">
            <a:avLst/>
          </a:prstGeom>
          <a:solidFill>
            <a:srgbClr val="F8F9FB"/>
          </a:solidFill>
          <a:ln w="1524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834640"/>
            <a:ext cx="109087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8C8C9A"/>
                </a:solidFill>
                <a:latin typeface="맑은 고딕"/>
              </a:defRPr>
            </a:pPr>
            <a:r>
              <a:t>🖼  화면 캡처 위치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474720"/>
            <a:ext cx="109087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0070C0"/>
                </a:solidFill>
                <a:latin typeface="Consolas"/>
              </a:defRPr>
            </a:pPr>
            <a:r>
              <a:t>docs/images/alerts-rules.png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977640"/>
            <a:ext cx="109087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8C8C9A"/>
                </a:solidFill>
                <a:latin typeface="맑은 고딕"/>
              </a:defRPr>
            </a:pPr>
            <a:r>
              <a:t>이 파일명으로 저장 후 스크립트를 다시 실행하면 자동 삽입됩니다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144768"/>
            <a:ext cx="1090879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A5A6E"/>
                </a:solidFill>
                <a:latin typeface="맑은 고딕"/>
              </a:defRPr>
            </a:pPr>
            <a:r>
              <a:t>알림 규칙 목록·생성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256032"/>
            <a:ext cx="685800" cy="457200"/>
          </a:xfrm>
          <a:prstGeom prst="round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맑은 고딕"/>
              </a:defRPr>
            </a:pPr>
            <a:r>
              <a:t>A17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7432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F1F1F"/>
                </a:solidFill>
                <a:latin typeface="맑은 고딕"/>
              </a:defRPr>
            </a:pPr>
            <a:r>
              <a:t>알림 — 이력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41248"/>
            <a:ext cx="1828800" cy="27432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08792" cy="4892040"/>
          </a:xfrm>
          <a:prstGeom prst="roundRect">
            <a:avLst/>
          </a:prstGeom>
          <a:solidFill>
            <a:srgbClr val="F8F9FB"/>
          </a:solidFill>
          <a:ln w="1524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834640"/>
            <a:ext cx="109087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8C8C9A"/>
                </a:solidFill>
                <a:latin typeface="맑은 고딕"/>
              </a:defRPr>
            </a:pPr>
            <a:r>
              <a:t>🖼  화면 캡처 위치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474720"/>
            <a:ext cx="109087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0070C0"/>
                </a:solidFill>
                <a:latin typeface="Consolas"/>
              </a:defRPr>
            </a:pPr>
            <a:r>
              <a:t>docs/images/alerts-history.png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977640"/>
            <a:ext cx="109087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8C8C9A"/>
                </a:solidFill>
                <a:latin typeface="맑은 고딕"/>
              </a:defRPr>
            </a:pPr>
            <a:r>
              <a:t>이 파일명으로 저장 후 스크립트를 다시 실행하면 자동 삽입됩니다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144768"/>
            <a:ext cx="1090879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A5A6E"/>
                </a:solidFill>
                <a:latin typeface="맑은 고딕"/>
              </a:defRPr>
            </a:pPr>
            <a:r>
              <a:t>발생/해결 알림 이력(날짜 필터)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256032"/>
            <a:ext cx="685800" cy="457200"/>
          </a:xfrm>
          <a:prstGeom prst="round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맑은 고딕"/>
              </a:defRPr>
            </a:pPr>
            <a:r>
              <a:t>A18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7432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F1F1F"/>
                </a:solidFill>
                <a:latin typeface="맑은 고딕"/>
              </a:defRPr>
            </a:pPr>
            <a:r>
              <a:t>용량 계획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41248"/>
            <a:ext cx="1828800" cy="27432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08792" cy="4892040"/>
          </a:xfrm>
          <a:prstGeom prst="roundRect">
            <a:avLst/>
          </a:prstGeom>
          <a:solidFill>
            <a:srgbClr val="F8F9FB"/>
          </a:solidFill>
          <a:ln w="1524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834640"/>
            <a:ext cx="109087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8C8C9A"/>
                </a:solidFill>
                <a:latin typeface="맑은 고딕"/>
              </a:defRPr>
            </a:pPr>
            <a:r>
              <a:t>🖼  화면 캡처 위치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474720"/>
            <a:ext cx="109087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0070C0"/>
                </a:solidFill>
                <a:latin typeface="Consolas"/>
              </a:defRPr>
            </a:pPr>
            <a:r>
              <a:t>docs/images/capacity.png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977640"/>
            <a:ext cx="109087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8C8C9A"/>
                </a:solidFill>
                <a:latin typeface="맑은 고딕"/>
              </a:defRPr>
            </a:pPr>
            <a:r>
              <a:t>이 파일명으로 저장 후 스크립트를 다시 실행하면 자동 삽입됩니다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144768"/>
            <a:ext cx="1090879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A5A6E"/>
                </a:solidFill>
                <a:latin typeface="맑은 고딕"/>
              </a:defRPr>
            </a:pPr>
            <a:r>
              <a:t>전력·공간·냉각 + 12개월 예측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256032"/>
            <a:ext cx="685800" cy="457200"/>
          </a:xfrm>
          <a:prstGeom prst="round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맑은 고딕"/>
              </a:defRPr>
            </a:pPr>
            <a:r>
              <a:t>A19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7432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F1F1F"/>
                </a:solidFill>
                <a:latin typeface="맑은 고딕"/>
              </a:defRPr>
            </a:pPr>
            <a:r>
              <a:t>리포트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41248"/>
            <a:ext cx="1828800" cy="27432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08792" cy="4892040"/>
          </a:xfrm>
          <a:prstGeom prst="roundRect">
            <a:avLst/>
          </a:prstGeom>
          <a:solidFill>
            <a:srgbClr val="F8F9FB"/>
          </a:solidFill>
          <a:ln w="1524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834640"/>
            <a:ext cx="109087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8C8C9A"/>
                </a:solidFill>
                <a:latin typeface="맑은 고딕"/>
              </a:defRPr>
            </a:pPr>
            <a:r>
              <a:t>🖼  화면 캡처 위치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474720"/>
            <a:ext cx="109087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0070C0"/>
                </a:solidFill>
                <a:latin typeface="Consolas"/>
              </a:defRPr>
            </a:pPr>
            <a:r>
              <a:t>docs/images/reports.png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977640"/>
            <a:ext cx="109087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8C8C9A"/>
                </a:solidFill>
                <a:latin typeface="맑은 고딕"/>
              </a:defRPr>
            </a:pPr>
            <a:r>
              <a:t>이 파일명으로 저장 후 스크립트를 다시 실행하면 자동 삽입됩니다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144768"/>
            <a:ext cx="1090879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A5A6E"/>
                </a:solidFill>
                <a:latin typeface="맑은 고딕"/>
              </a:defRPr>
            </a:pPr>
            <a:r>
              <a:t>리포트 생성 및 출력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256032"/>
            <a:ext cx="685800" cy="457200"/>
          </a:xfrm>
          <a:prstGeom prst="round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맑은 고딕"/>
              </a:defRPr>
            </a:pPr>
            <a:r>
              <a:t>A20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7432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F1F1F"/>
                </a:solidFill>
                <a:latin typeface="맑은 고딕"/>
              </a:defRPr>
            </a:pPr>
            <a:r>
              <a:t>설정 — RBAC/조직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41248"/>
            <a:ext cx="1828800" cy="27432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08792" cy="4892040"/>
          </a:xfrm>
          <a:prstGeom prst="roundRect">
            <a:avLst/>
          </a:prstGeom>
          <a:solidFill>
            <a:srgbClr val="F8F9FB"/>
          </a:solidFill>
          <a:ln w="1524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834640"/>
            <a:ext cx="109087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8C8C9A"/>
                </a:solidFill>
                <a:latin typeface="맑은 고딕"/>
              </a:defRPr>
            </a:pPr>
            <a:r>
              <a:t>🖼  화면 캡처 위치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474720"/>
            <a:ext cx="109087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0070C0"/>
                </a:solidFill>
                <a:latin typeface="Consolas"/>
              </a:defRPr>
            </a:pPr>
            <a:r>
              <a:t>docs/images/settings-rbac.png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977640"/>
            <a:ext cx="109087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8C8C9A"/>
                </a:solidFill>
                <a:latin typeface="맑은 고딕"/>
              </a:defRPr>
            </a:pPr>
            <a:r>
              <a:t>이 파일명으로 저장 후 스크립트를 다시 실행하면 자동 삽입됩니다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144768"/>
            <a:ext cx="1090879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A5A6E"/>
                </a:solidFill>
                <a:latin typeface="맑은 고딕"/>
              </a:defRPr>
            </a:pPr>
            <a:r>
              <a:t>사용자·역할·조직별 접근 제어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256032"/>
            <a:ext cx="685800" cy="457200"/>
          </a:xfrm>
          <a:prstGeom prst="round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맑은 고딕"/>
              </a:defRPr>
            </a:pPr>
            <a:r>
              <a:t>A21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7432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F1F1F"/>
                </a:solidFill>
                <a:latin typeface="맑은 고딕"/>
              </a:defRPr>
            </a:pPr>
            <a:r>
              <a:t>설정 — 감사 로그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41248"/>
            <a:ext cx="1828800" cy="27432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08792" cy="4892040"/>
          </a:xfrm>
          <a:prstGeom prst="roundRect">
            <a:avLst/>
          </a:prstGeom>
          <a:solidFill>
            <a:srgbClr val="F8F9FB"/>
          </a:solidFill>
          <a:ln w="1524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834640"/>
            <a:ext cx="109087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8C8C9A"/>
                </a:solidFill>
                <a:latin typeface="맑은 고딕"/>
              </a:defRPr>
            </a:pPr>
            <a:r>
              <a:t>🖼  화면 캡처 위치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474720"/>
            <a:ext cx="109087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0070C0"/>
                </a:solidFill>
                <a:latin typeface="Consolas"/>
              </a:defRPr>
            </a:pPr>
            <a:r>
              <a:t>docs/images/settings-audit.png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977640"/>
            <a:ext cx="109087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8C8C9A"/>
                </a:solidFill>
                <a:latin typeface="맑은 고딕"/>
              </a:defRPr>
            </a:pPr>
            <a:r>
              <a:t>이 파일명으로 저장 후 스크립트를 다시 실행하면 자동 삽입됩니다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144768"/>
            <a:ext cx="1090879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A5A6E"/>
                </a:solidFill>
                <a:latin typeface="맑은 고딕"/>
              </a:defRPr>
            </a:pPr>
            <a:r>
              <a:t>변경/작업 감사 로그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256032"/>
            <a:ext cx="685800" cy="457200"/>
          </a:xfrm>
          <a:prstGeom prst="round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맑은 고딕"/>
              </a:defRPr>
            </a:pPr>
            <a:r>
              <a:t>A22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7432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F1F1F"/>
                </a:solidFill>
                <a:latin typeface="맑은 고딕"/>
              </a:defRPr>
            </a:pPr>
            <a:r>
              <a:t>전역 검색 (Cmd+K)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41248"/>
            <a:ext cx="1828800" cy="27432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097280"/>
            <a:ext cx="10908792" cy="4892040"/>
          </a:xfrm>
          <a:prstGeom prst="roundRect">
            <a:avLst/>
          </a:prstGeom>
          <a:solidFill>
            <a:srgbClr val="F8F9FB"/>
          </a:solidFill>
          <a:ln w="1524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834640"/>
            <a:ext cx="109087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8C8C9A"/>
                </a:solidFill>
                <a:latin typeface="맑은 고딕"/>
              </a:defRPr>
            </a:pPr>
            <a:r>
              <a:t>🖼  화면 캡처 위치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474720"/>
            <a:ext cx="109087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0070C0"/>
                </a:solidFill>
                <a:latin typeface="Consolas"/>
              </a:defRPr>
            </a:pPr>
            <a:r>
              <a:t>docs/images/search-cmdk.png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977640"/>
            <a:ext cx="109087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8C8C9A"/>
                </a:solidFill>
                <a:latin typeface="맑은 고딕"/>
              </a:defRPr>
            </a:pPr>
            <a:r>
              <a:t>이 파일명으로 저장 후 스크립트를 다시 실행하면 자동 삽입됩니다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144768"/>
            <a:ext cx="1090879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A5A6E"/>
                </a:solidFill>
                <a:latin typeface="맑은 고딕"/>
              </a:defRPr>
            </a:pPr>
            <a:r>
              <a:t>서버·랙·알림 통합 검색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C8C9A"/>
                </a:solidFill>
                <a:latin typeface="맑은 고딕"/>
              </a:defRPr>
            </a:pPr>
            <a:r>
              <a:t>50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